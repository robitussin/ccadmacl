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7" r:id="rId2"/>
    <p:sldId id="263" r:id="rId3"/>
    <p:sldId id="538" r:id="rId4"/>
    <p:sldId id="540" r:id="rId5"/>
    <p:sldId id="541" r:id="rId6"/>
    <p:sldId id="542" r:id="rId7"/>
    <p:sldId id="543" r:id="rId8"/>
    <p:sldId id="544" r:id="rId9"/>
    <p:sldId id="545" r:id="rId10"/>
    <p:sldId id="546" r:id="rId11"/>
    <p:sldId id="547" r:id="rId12"/>
    <p:sldId id="548" r:id="rId13"/>
    <p:sldId id="549" r:id="rId14"/>
    <p:sldId id="534" r:id="rId15"/>
    <p:sldId id="550" r:id="rId16"/>
    <p:sldId id="536" r:id="rId17"/>
    <p:sldId id="537" r:id="rId18"/>
    <p:sldId id="551" r:id="rId19"/>
    <p:sldId id="552" r:id="rId20"/>
    <p:sldId id="535" r:id="rId21"/>
    <p:sldId id="553" r:id="rId22"/>
    <p:sldId id="554" r:id="rId23"/>
    <p:sldId id="555" r:id="rId24"/>
    <p:sldId id="556" r:id="rId25"/>
    <p:sldId id="557" r:id="rId26"/>
    <p:sldId id="558" r:id="rId27"/>
    <p:sldId id="559" r:id="rId28"/>
    <p:sldId id="560" r:id="rId29"/>
    <p:sldId id="561" r:id="rId30"/>
    <p:sldId id="564" r:id="rId31"/>
    <p:sldId id="532" r:id="rId32"/>
    <p:sldId id="562" r:id="rId33"/>
    <p:sldId id="563" r:id="rId34"/>
    <p:sldId id="565" r:id="rId35"/>
    <p:sldId id="568" r:id="rId36"/>
    <p:sldId id="567" r:id="rId37"/>
    <p:sldId id="569" r:id="rId38"/>
    <p:sldId id="570" r:id="rId39"/>
    <p:sldId id="571" r:id="rId40"/>
    <p:sldId id="572" r:id="rId41"/>
    <p:sldId id="573" r:id="rId42"/>
    <p:sldId id="574" r:id="rId43"/>
    <p:sldId id="575" r:id="rId44"/>
    <p:sldId id="576" r:id="rId45"/>
    <p:sldId id="577" r:id="rId46"/>
    <p:sldId id="578" r:id="rId47"/>
    <p:sldId id="579" r:id="rId48"/>
    <p:sldId id="580" r:id="rId49"/>
    <p:sldId id="581" r:id="rId50"/>
    <p:sldId id="531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D947"/>
    <a:srgbClr val="FF40FF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0" autoAdjust="0"/>
    <p:restoredTop sz="94422"/>
  </p:normalViewPr>
  <p:slideViewPr>
    <p:cSldViewPr snapToGrid="0">
      <p:cViewPr>
        <p:scale>
          <a:sx n="75" d="100"/>
          <a:sy n="75" d="100"/>
        </p:scale>
        <p:origin x="3774" y="20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707096109391466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94E-AE4D-9B9C-B4C99DA2F437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94E-AE4D-9B9C-B4C99DA2F437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94E-AE4D-9B9C-B4C99DA2F437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D94E-AE4D-9B9C-B4C99DA2F437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2</c:v>
                </c:pt>
                <c:pt idx="1">
                  <c:v>2.4</c:v>
                </c:pt>
                <c:pt idx="2">
                  <c:v>2.1</c:v>
                </c:pt>
                <c:pt idx="3">
                  <c:v>2.6</c:v>
                </c:pt>
                <c:pt idx="4">
                  <c:v>2.2999999999999998</c:v>
                </c:pt>
                <c:pt idx="5">
                  <c:v>2.8</c:v>
                </c:pt>
                <c:pt idx="6">
                  <c:v>2.5</c:v>
                </c:pt>
                <c:pt idx="7">
                  <c:v>3</c:v>
                </c:pt>
                <c:pt idx="8">
                  <c:v>0.8</c:v>
                </c:pt>
                <c:pt idx="9">
                  <c:v>1.3</c:v>
                </c:pt>
                <c:pt idx="10">
                  <c:v>1.8</c:v>
                </c:pt>
                <c:pt idx="11">
                  <c:v>2.2999999999999998</c:v>
                </c:pt>
                <c:pt idx="12">
                  <c:v>2.8</c:v>
                </c:pt>
                <c:pt idx="13">
                  <c:v>3.3</c:v>
                </c:pt>
                <c:pt idx="14">
                  <c:v>3.8</c:v>
                </c:pt>
                <c:pt idx="15">
                  <c:v>4.3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94E-AE4D-9B9C-B4C99DA2F4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94E-AE4D-9B9C-B4C99DA2F4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Introduction to </a:t>
            </a:r>
            <a:r>
              <a:rPr lang="en-US" sz="7000">
                <a:solidFill>
                  <a:srgbClr val="32418C"/>
                </a:solidFill>
                <a:latin typeface="Aptos" panose="020B0004020202020204" pitchFamily="34" charset="0"/>
              </a:rPr>
              <a:t>Gaussian Mixture Models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/>
              <a:t>What is a Gaussian Distribution?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Real world example using PCA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Principal Components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Scree Plot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Loading Scores</a:t>
            </a:r>
          </a:p>
          <a:p>
            <a:pPr marL="685800" indent="-685800" algn="l">
              <a:buFont typeface="Wingdings" pitchFamily="2" charset="2"/>
              <a:buChar char="Ø"/>
            </a:pP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844EE946-A99C-D94A-1B6C-241CB847B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F5F2187-F4E3-0FB7-1D17-BE454BB11DE0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6640F-F647-4A2C-C1CE-2A7AEEF73EF1}"/>
              </a:ext>
            </a:extLst>
          </p:cNvPr>
          <p:cNvSpPr txBox="1"/>
          <p:nvPr/>
        </p:nvSpPr>
        <p:spPr>
          <a:xfrm>
            <a:off x="977803" y="5883187"/>
            <a:ext cx="102363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Chances are that you have seen a </a:t>
            </a:r>
            <a:r>
              <a:rPr lang="en-US" sz="2500" b="1" dirty="0"/>
              <a:t>normal</a:t>
            </a:r>
            <a:r>
              <a:rPr lang="en-US" sz="2500" dirty="0"/>
              <a:t> or </a:t>
            </a:r>
            <a:r>
              <a:rPr lang="en-US" sz="2500" b="1" dirty="0"/>
              <a:t>gaussian</a:t>
            </a:r>
            <a:r>
              <a:rPr lang="en-US" sz="2500" dirty="0"/>
              <a:t> distribution before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371220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39B4E5-F71D-6EE3-9256-021C6318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C83D99A-5EBB-98A4-D09E-B49FD31BA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C7155F-675A-8DA4-E036-665101EB9F9C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01F0A8-0B37-D8B8-39ED-FAFD5A6FB8B1}"/>
              </a:ext>
            </a:extLst>
          </p:cNvPr>
          <p:cNvSpPr txBox="1"/>
          <p:nvPr/>
        </p:nvSpPr>
        <p:spPr>
          <a:xfrm>
            <a:off x="1017044" y="5804538"/>
            <a:ext cx="1015790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It is also called a </a:t>
            </a:r>
            <a:r>
              <a:rPr lang="en-US" sz="2500" b="1" dirty="0">
                <a:solidFill>
                  <a:srgbClr val="002060"/>
                </a:solidFill>
              </a:rPr>
              <a:t>“bell shaped curve” </a:t>
            </a:r>
            <a:r>
              <a:rPr lang="en-US" sz="2500" dirty="0"/>
              <a:t>because it is a symmetrical curve </a:t>
            </a:r>
          </a:p>
          <a:p>
            <a:pPr algn="ctr"/>
            <a:r>
              <a:rPr lang="en-US" sz="2500" dirty="0"/>
              <a:t>that looks like a bell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853639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8D964B-49DE-77F7-63E5-2856A6B6F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37F04C55-BC74-26D6-1EBD-C6E73B836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41C5238-F9AA-3446-BCC4-E81608117C86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9145A5-2FE0-9FAC-F738-208091CF88F8}"/>
              </a:ext>
            </a:extLst>
          </p:cNvPr>
          <p:cNvSpPr txBox="1"/>
          <p:nvPr/>
        </p:nvSpPr>
        <p:spPr>
          <a:xfrm>
            <a:off x="1410211" y="5804538"/>
            <a:ext cx="937160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In this example, the </a:t>
            </a:r>
            <a:r>
              <a:rPr lang="en-US" sz="2500" b="1" dirty="0">
                <a:solidFill>
                  <a:srgbClr val="0070C0"/>
                </a:solidFill>
              </a:rPr>
              <a:t>curve</a:t>
            </a:r>
            <a:r>
              <a:rPr lang="en-US" sz="2500" dirty="0"/>
              <a:t> represents human height measurements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51409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688C65-1F20-6F9D-949E-C5356F5B4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69FAF7A-245B-03A8-480B-290331D14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BB806-EE8F-AA3D-A669-1FF6C2D1AAD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341048-E5E4-0A58-D7D2-865CACEE7204}"/>
              </a:ext>
            </a:extLst>
          </p:cNvPr>
          <p:cNvSpPr txBox="1"/>
          <p:nvPr/>
        </p:nvSpPr>
        <p:spPr>
          <a:xfrm>
            <a:off x="4616831" y="5804538"/>
            <a:ext cx="295837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People can be </a:t>
            </a:r>
            <a:r>
              <a:rPr lang="en-US" sz="2500" b="1" dirty="0"/>
              <a:t>short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A9D56F-00B7-3A7A-BD18-2012E0C8DC0C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0BE31D-CB3C-F682-E9EA-7082127F3B7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A2508B-1EC4-0070-9E7C-4CFD65D4B983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3973352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80325D2-730D-935F-EB0A-FED66FCAB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BBC06110-6977-B5FE-538B-37E23AAD9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4CA403-B5A8-B611-ECBB-55FD6124577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26D43-BC31-CD17-FCC7-61C9A9B3A0E7}"/>
              </a:ext>
            </a:extLst>
          </p:cNvPr>
          <p:cNvSpPr txBox="1"/>
          <p:nvPr/>
        </p:nvSpPr>
        <p:spPr>
          <a:xfrm>
            <a:off x="5461358" y="5804538"/>
            <a:ext cx="126932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Average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6D2000-0C27-D8C8-6A69-BAE14C24BC8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D42725-F776-4EBA-F1C0-30DC66EF5944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6619C9-6B11-A73A-8BED-F8379CBF03C6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484810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CE7C7D-149F-05E2-D38A-5CF137BC2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49AE4EF3-72E9-EE69-0C7D-10F252D00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4F8CA1-4971-6C7F-C03C-AFB01D6F2CF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19CCD-D145-D53B-02EE-070ADF4EAB59}"/>
              </a:ext>
            </a:extLst>
          </p:cNvPr>
          <p:cNvSpPr txBox="1"/>
          <p:nvPr/>
        </p:nvSpPr>
        <p:spPr>
          <a:xfrm>
            <a:off x="5488942" y="5786003"/>
            <a:ext cx="12141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tall..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49F40F-6E5C-203F-8178-4ED35879CC5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93CFD-9F61-8A11-BEA0-88996855AEA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E1206-62FB-4509-7326-57F72FF3807A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628612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8583CA2-B532-58F4-5F34-DBE691CE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4DE10C8-C2B2-6314-976E-1F55D562D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95D1226-4D8C-4C4B-A60B-DD2751A09FE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4C978-C215-5C8B-22B1-5AF07FD7DA77}"/>
              </a:ext>
            </a:extLst>
          </p:cNvPr>
          <p:cNvSpPr txBox="1"/>
          <p:nvPr/>
        </p:nvSpPr>
        <p:spPr>
          <a:xfrm>
            <a:off x="4343473" y="5786003"/>
            <a:ext cx="350506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anywhere in between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A0F0-C2AF-8FFC-70B9-C7007158402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1C323-3BA3-7A20-9EA3-70BED4C66331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EF4F37-1C0D-C829-644C-9200619A7207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879985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26540A-D06A-77C6-624B-9D023F43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7452E1F1-9CCC-2C8B-D11F-C2C9B48A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460E127-110B-BA4F-FA48-47E52E345BD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FC33-2E80-3D81-9269-694B8CB56108}"/>
              </a:ext>
            </a:extLst>
          </p:cNvPr>
          <p:cNvSpPr txBox="1"/>
          <p:nvPr/>
        </p:nvSpPr>
        <p:spPr>
          <a:xfrm>
            <a:off x="843530" y="5786003"/>
            <a:ext cx="1050499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</a:t>
            </a:r>
            <a:r>
              <a:rPr lang="en-US" sz="2500" b="1" dirty="0"/>
              <a:t>y-axis represents </a:t>
            </a:r>
            <a:r>
              <a:rPr lang="en-US" sz="2500" dirty="0"/>
              <a:t>the relative probability of observing someone who is </a:t>
            </a:r>
          </a:p>
          <a:p>
            <a:pPr algn="ctr"/>
            <a:r>
              <a:rPr lang="en-US" sz="2500" dirty="0"/>
              <a:t>really short or, really tall or, who has an average height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8E0D4-97DB-85F8-8D73-D1F5AF95C08B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736899-2184-098A-7DF5-5C7E1E2511D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6914E-6F46-9080-9440-22E62E0E4DB7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7B9660-F16C-140A-FF85-014C707ACEA3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19482-E95A-22DC-FB79-78B4A9B3C91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912819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4750D5-8A13-C697-2085-2925EC0C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D04E00CC-C520-617B-43DD-BB4569D5C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6D93D12-B3A8-BDF1-DD70-B8A9A8E4046A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F439BA-E5C3-6B66-EB3A-E897244EFC6D}"/>
              </a:ext>
            </a:extLst>
          </p:cNvPr>
          <p:cNvSpPr txBox="1"/>
          <p:nvPr/>
        </p:nvSpPr>
        <p:spPr>
          <a:xfrm>
            <a:off x="1324060" y="5786003"/>
            <a:ext cx="954395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example, it is rare to see someone who is super short, so the bell</a:t>
            </a:r>
          </a:p>
          <a:p>
            <a:pPr algn="ctr"/>
            <a:r>
              <a:rPr lang="en-US" sz="2500" dirty="0"/>
              <a:t>shaped curve is low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BC861A-45BB-990A-9C7B-1A2E5026C3D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84FAA8-9E2D-5E23-6C1B-85F59A4FDB7D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30095-B3E0-7B55-889B-1D94AA72B2C4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2D7AC-517A-D3F3-6BF9-183BF230D7F8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1F587A-CEE4-7B19-67AD-6FA3F48C8B58}"/>
              </a:ext>
            </a:extLst>
          </p:cNvPr>
          <p:cNvSpPr/>
          <p:nvPr/>
        </p:nvSpPr>
        <p:spPr>
          <a:xfrm>
            <a:off x="3272524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AFB33B-6933-875F-3686-4D0BF8ADE90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4174827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B94059-02E2-3CBE-B2B2-EC924705B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F1A34B61-1A8D-FFC2-2F58-3C00C414A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7756208-D572-C311-C0DD-B3CCFFF00E12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8D2093-F3E7-1BC4-842D-49BBBEEC0BFC}"/>
              </a:ext>
            </a:extLst>
          </p:cNvPr>
          <p:cNvSpPr txBox="1"/>
          <p:nvPr/>
        </p:nvSpPr>
        <p:spPr>
          <a:xfrm>
            <a:off x="104190" y="5786003"/>
            <a:ext cx="1198372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But it is quite common to see someone who is close to the average height so the curve</a:t>
            </a:r>
          </a:p>
          <a:p>
            <a:pPr algn="ctr"/>
            <a:r>
              <a:rPr lang="en-US" sz="2500" dirty="0"/>
              <a:t>is very tall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BA227A-DEAC-0B3F-0667-F15FC8D2BC8D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222BC-123A-6E40-AE41-DB6EB586917C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F212BE-2461-0C62-2011-311E8833E28C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49DEC1-329C-FE33-7537-13DEAD530080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CE456D-2DA4-AE8D-58B9-A30032178724}"/>
              </a:ext>
            </a:extLst>
          </p:cNvPr>
          <p:cNvSpPr/>
          <p:nvPr/>
        </p:nvSpPr>
        <p:spPr>
          <a:xfrm>
            <a:off x="5114926" y="942975"/>
            <a:ext cx="2333624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ED60BF-7FCC-98EC-6117-968E3A360875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197985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41E0F39-6181-A67E-ECB3-300DBB8C5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0BD1DE3-229C-4F8E-FDEB-7D2A62795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DCEB331-EC70-D0D1-2E59-9166BBCCBD2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D0F147-3B4E-5E24-00B6-94975C61E339}"/>
              </a:ext>
            </a:extLst>
          </p:cNvPr>
          <p:cNvSpPr txBox="1"/>
          <p:nvPr/>
        </p:nvSpPr>
        <p:spPr>
          <a:xfrm>
            <a:off x="2275479" y="5786003"/>
            <a:ext cx="764119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its relatively rare to see someone who is really tall </a:t>
            </a:r>
          </a:p>
          <a:p>
            <a:pPr algn="ctr"/>
            <a:r>
              <a:rPr lang="en-US" sz="2500" dirty="0"/>
              <a:t>so the bell shaped curve is low in this part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BD4875-4795-42EE-79BC-91E01430F588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F2FA1-FA83-9795-C126-4F9F7F03C24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2316D-99DF-7637-103F-4646CCCFEBFB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3D4843-3B17-C672-A2A0-48AB710243DA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3A6C8D-716F-0505-4AB2-6450915777E8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8A026E-E640-6727-69AB-7F64E838AEE0}"/>
              </a:ext>
            </a:extLst>
          </p:cNvPr>
          <p:cNvSpPr/>
          <p:nvPr/>
        </p:nvSpPr>
        <p:spPr>
          <a:xfrm>
            <a:off x="8703527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79896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CB165D2-7D4B-8512-B72E-D356C4BF0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09260392-1ED7-E335-3F73-7E9212E9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A39A786-E43A-F9D9-7145-D7045511E95C}"/>
              </a:ext>
            </a:extLst>
          </p:cNvPr>
          <p:cNvSpPr txBox="1"/>
          <p:nvPr/>
        </p:nvSpPr>
        <p:spPr>
          <a:xfrm>
            <a:off x="1245597" y="5786003"/>
            <a:ext cx="970099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can vary depending on how the data is collected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4034195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1D84F7-EF2D-89B4-34CC-C55BF46A4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C741DC15-21E6-10A0-043C-ADD7E2939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4AED37-4220-22E9-7171-679F24E66210}"/>
              </a:ext>
            </a:extLst>
          </p:cNvPr>
          <p:cNvSpPr txBox="1"/>
          <p:nvPr/>
        </p:nvSpPr>
        <p:spPr>
          <a:xfrm>
            <a:off x="3129325" y="5786003"/>
            <a:ext cx="593354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143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7FE91C-C03D-4F57-5807-3D1807CC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height distribution&#10;&#10;AI-generated content may be incorrect.">
            <a:extLst>
              <a:ext uri="{FF2B5EF4-FFF2-40B4-BE49-F238E27FC236}">
                <a16:creationId xmlns:a16="http://schemas.microsoft.com/office/drawing/2014/main" id="{A9747994-D3B3-FD77-E52C-BBB2308A7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94873"/>
            <a:ext cx="6836044" cy="54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E6AED6-2867-B5B0-1F05-5127CC113E0C}"/>
              </a:ext>
            </a:extLst>
          </p:cNvPr>
          <p:cNvSpPr txBox="1"/>
          <p:nvPr/>
        </p:nvSpPr>
        <p:spPr>
          <a:xfrm>
            <a:off x="3352143" y="5786003"/>
            <a:ext cx="548791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endParaRPr lang="en-PH" sz="25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556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B13BAC-7612-DF6A-1760-67FE2532D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F18ACEC3-FFE8-B4BF-6FA1-E8586BA42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6685F7-8337-B7ED-7BEE-6ACDA0EFC34D}"/>
              </a:ext>
            </a:extLst>
          </p:cNvPr>
          <p:cNvSpPr txBox="1"/>
          <p:nvPr/>
        </p:nvSpPr>
        <p:spPr>
          <a:xfrm>
            <a:off x="2503612" y="5786003"/>
            <a:ext cx="71849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here is a distribution of heights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endParaRPr lang="en-PH" sz="25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7172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0E132C5-4339-1D43-AEC6-CD144326D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9F7CB87E-5C6B-4FA9-0AA3-A45EFDDA8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E9B1B3-1DDD-A9FA-04EA-18D37D42427A}"/>
              </a:ext>
            </a:extLst>
          </p:cNvPr>
          <p:cNvSpPr txBox="1"/>
          <p:nvPr/>
        </p:nvSpPr>
        <p:spPr>
          <a:xfrm>
            <a:off x="1314331" y="5786003"/>
            <a:ext cx="956357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Notice that the distribution of NBA players moved slightly to the right</a:t>
            </a:r>
          </a:p>
        </p:txBody>
      </p:sp>
    </p:spTree>
    <p:extLst>
      <p:ext uri="{BB962C8B-B14F-4D97-AF65-F5344CB8AC3E}">
        <p14:creationId xmlns:p14="http://schemas.microsoft.com/office/powerpoint/2010/main" val="422004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327A542-2D1B-6761-CBD4-A4D06285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A3F6C858-720B-DBA2-BDF6-E16D66FDF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60251F-8489-4D13-690E-CCD50E17075D}"/>
              </a:ext>
            </a:extLst>
          </p:cNvPr>
          <p:cNvSpPr txBox="1"/>
          <p:nvPr/>
        </p:nvSpPr>
        <p:spPr>
          <a:xfrm>
            <a:off x="1250417" y="5786003"/>
            <a:ext cx="9691436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Which tells us that the average height of NBA players are much higher.</a:t>
            </a:r>
          </a:p>
        </p:txBody>
      </p:sp>
    </p:spTree>
    <p:extLst>
      <p:ext uri="{BB962C8B-B14F-4D97-AF65-F5344CB8AC3E}">
        <p14:creationId xmlns:p14="http://schemas.microsoft.com/office/powerpoint/2010/main" val="312412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9EC8F32-1E04-C8D1-9C5E-DE224008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4970E56-F319-6B62-3EDA-35006E575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2D44A7-D162-77C5-BEB8-EC1E3BEF718F}"/>
              </a:ext>
            </a:extLst>
          </p:cNvPr>
          <p:cNvSpPr txBox="1"/>
          <p:nvPr/>
        </p:nvSpPr>
        <p:spPr>
          <a:xfrm>
            <a:off x="747868" y="5786003"/>
            <a:ext cx="1069658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We can see the comparison it by placing the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,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</a:p>
          <a:p>
            <a:pPr algn="ctr"/>
            <a:r>
              <a:rPr lang="en-US" sz="2500" dirty="0"/>
              <a:t>distributions side by side</a:t>
            </a:r>
          </a:p>
        </p:txBody>
      </p:sp>
    </p:spTree>
    <p:extLst>
      <p:ext uri="{BB962C8B-B14F-4D97-AF65-F5344CB8AC3E}">
        <p14:creationId xmlns:p14="http://schemas.microsoft.com/office/powerpoint/2010/main" val="158524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581AB7-DA60-7BE0-2A21-A6290593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89CE3F0-FAC3-1B65-EE60-074F9179F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852B0B-D458-F699-612E-500156CB8A8A}"/>
              </a:ext>
            </a:extLst>
          </p:cNvPr>
          <p:cNvSpPr txBox="1"/>
          <p:nvPr/>
        </p:nvSpPr>
        <p:spPr>
          <a:xfrm>
            <a:off x="3125257" y="5786003"/>
            <a:ext cx="594181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</a:t>
            </a:r>
            <a:r>
              <a:rPr lang="en-US" sz="2500" b="1" dirty="0"/>
              <a:t>161.8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D8B811B4-A24D-7166-1806-0C6FB89B710E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5221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6926F4E-5E5D-8DD8-6B87-332C8195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21C52A7-2148-FE3D-95C0-73724C939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CFF2FB-F773-3694-09CF-FB66C4C2493E}"/>
              </a:ext>
            </a:extLst>
          </p:cNvPr>
          <p:cNvSpPr txBox="1"/>
          <p:nvPr/>
        </p:nvSpPr>
        <p:spPr>
          <a:xfrm>
            <a:off x="3373788" y="5786003"/>
            <a:ext cx="544476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</a:t>
            </a:r>
            <a:r>
              <a:rPr lang="en-US" sz="2500" b="1" dirty="0"/>
              <a:t>175.6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9023835-8DE7-4C52-2E26-FEB32EDAC389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03E6D9AF-5B6A-3EFE-5A58-40956791CE75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15923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BB51AD-A3A9-DF66-93D0-84FA85F8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171282A-86AD-5B00-1F99-4C793E3BF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64ACB49-DE68-EC78-CA3B-E9DEC570B6F5}"/>
              </a:ext>
            </a:extLst>
          </p:cNvPr>
          <p:cNvSpPr txBox="1"/>
          <p:nvPr/>
        </p:nvSpPr>
        <p:spPr>
          <a:xfrm>
            <a:off x="2802574" y="5786003"/>
            <a:ext cx="658718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 is </a:t>
            </a:r>
            <a:r>
              <a:rPr lang="en-US" sz="2500" b="1" dirty="0"/>
              <a:t>200.3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4F5C131D-FACC-D390-8DD0-0B075C1FEA80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391E57EE-E046-9BCC-717A-FCEB6606F551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B1C39E7-B479-0C75-1E38-45D36784E44D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753307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55C5A0-8F76-3FA3-D966-3A06ED37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8BFB494-FC17-AC11-2030-9CA7934B0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9186BE-580D-FBF1-7C72-DF3D7B288E17}"/>
              </a:ext>
            </a:extLst>
          </p:cNvPr>
          <p:cNvSpPr txBox="1"/>
          <p:nvPr/>
        </p:nvSpPr>
        <p:spPr>
          <a:xfrm>
            <a:off x="1708505" y="5786003"/>
            <a:ext cx="877535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are always centered on the average value</a:t>
            </a:r>
            <a:endParaRPr lang="en-US" sz="2500" b="1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BEBFF81-CDF0-6C9D-2D4C-DD40991247E3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DA1BEE01-5BF2-012B-753C-2F007066D183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0213F95-57AE-D2E9-DA93-B4CDD6B23377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36682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90F719-554B-AB13-1986-4C1156A93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E513D41-431F-43DA-8E8F-E1C431A2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C95500-E0EC-1E12-5056-88FFDC2C81CC}"/>
              </a:ext>
            </a:extLst>
          </p:cNvPr>
          <p:cNvSpPr txBox="1"/>
          <p:nvPr/>
        </p:nvSpPr>
        <p:spPr>
          <a:xfrm>
            <a:off x="1243846" y="5786003"/>
            <a:ext cx="97047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Just by looking at the graph, we can tell that there is a high probability </a:t>
            </a:r>
          </a:p>
          <a:p>
            <a:pPr algn="ctr"/>
            <a:r>
              <a:rPr lang="en-US" sz="2500" dirty="0"/>
              <a:t>that a </a:t>
            </a:r>
            <a:r>
              <a:rPr lang="en-US" sz="2500" b="1" dirty="0">
                <a:solidFill>
                  <a:srgbClr val="7030A0"/>
                </a:solidFill>
              </a:rPr>
              <a:t>woman</a:t>
            </a:r>
            <a:r>
              <a:rPr lang="en-US" sz="2500" dirty="0"/>
              <a:t> will be between 150 to 170 cm</a:t>
            </a:r>
            <a:endParaRPr lang="en-US" sz="2500" b="1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CE8C19A3-DEE2-B8A2-FD32-3C3B19F52DDC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8C92CB-FECC-3CAD-9B48-7D42BCA333A4}"/>
              </a:ext>
            </a:extLst>
          </p:cNvPr>
          <p:cNvSpPr/>
          <p:nvPr/>
        </p:nvSpPr>
        <p:spPr>
          <a:xfrm>
            <a:off x="4343400" y="370819"/>
            <a:ext cx="12446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312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E37B01-EFE6-2439-1A64-3CC81304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716B36D-24D1-266D-01D5-A746EAFAB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C2CE87-5837-59EF-ABE5-087EDAE34D20}"/>
              </a:ext>
            </a:extLst>
          </p:cNvPr>
          <p:cNvSpPr txBox="1"/>
          <p:nvPr/>
        </p:nvSpPr>
        <p:spPr>
          <a:xfrm>
            <a:off x="2523588" y="5786003"/>
            <a:ext cx="714522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</a:t>
            </a:r>
            <a:r>
              <a:rPr lang="en-US" sz="2500" b="1" dirty="0">
                <a:solidFill>
                  <a:srgbClr val="0070C0"/>
                </a:solidFill>
              </a:rPr>
              <a:t>men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man will be between 165 to 182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1BDE98-8E56-6398-CB67-5C459E4580E9}"/>
              </a:ext>
            </a:extLst>
          </p:cNvPr>
          <p:cNvSpPr/>
          <p:nvPr/>
        </p:nvSpPr>
        <p:spPr>
          <a:xfrm>
            <a:off x="5118100" y="370819"/>
            <a:ext cx="12573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B871AE09-80FB-277F-B7D9-A56B26F38018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7680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25D8FD-3617-E60D-0DC4-0BD333A1D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C549CF9-D4DA-7DD9-F803-5D447C017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4F72E2-3662-E5EC-6309-717A263CE789}"/>
              </a:ext>
            </a:extLst>
          </p:cNvPr>
          <p:cNvSpPr txBox="1"/>
          <p:nvPr/>
        </p:nvSpPr>
        <p:spPr>
          <a:xfrm>
            <a:off x="1679067" y="5786003"/>
            <a:ext cx="883427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for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player will be between 185 to 210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DD76E-AF6A-6492-482B-630DBBB12B4B}"/>
              </a:ext>
            </a:extLst>
          </p:cNvPr>
          <p:cNvSpPr/>
          <p:nvPr/>
        </p:nvSpPr>
        <p:spPr>
          <a:xfrm>
            <a:off x="6248400" y="370819"/>
            <a:ext cx="17780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E57837B-B86F-89B8-22CB-E505428EB030}"/>
              </a:ext>
            </a:extLst>
          </p:cNvPr>
          <p:cNvSpPr/>
          <p:nvPr/>
        </p:nvSpPr>
        <p:spPr>
          <a:xfrm>
            <a:off x="6943443" y="1368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31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20D77C2-C735-A00B-E577-F4917AB7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53C1A12-5A4D-EF26-D1B4-784F95D00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B383F9-BA19-AB60-6D55-D00DD454DD0B}"/>
              </a:ext>
            </a:extLst>
          </p:cNvPr>
          <p:cNvSpPr txBox="1"/>
          <p:nvPr/>
        </p:nvSpPr>
        <p:spPr>
          <a:xfrm>
            <a:off x="2133625" y="5786003"/>
            <a:ext cx="792518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You may have noticed that the curve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taller </a:t>
            </a:r>
          </a:p>
          <a:p>
            <a:pPr algn="ctr"/>
            <a:r>
              <a:rPr lang="en-US" sz="2500" dirty="0"/>
              <a:t>compared to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B282CBA4-622C-29CB-3CEE-8AEDEEA7FEE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06163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AD81F3-1F49-5A40-348C-D975AB203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6F9589D-4A43-F000-B71C-CE6282C69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2B8A3E-E3BD-1F91-4436-7C4CF8F1E349}"/>
              </a:ext>
            </a:extLst>
          </p:cNvPr>
          <p:cNvSpPr txBox="1"/>
          <p:nvPr/>
        </p:nvSpPr>
        <p:spPr>
          <a:xfrm>
            <a:off x="1349351" y="5786003"/>
            <a:ext cx="949375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This is because there are many more possibilities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height</a:t>
            </a:r>
          </a:p>
          <a:p>
            <a:pPr algn="ctr"/>
            <a:r>
              <a:rPr lang="en-US" sz="2500" dirty="0"/>
              <a:t>than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7D2D3F57-9A3F-F6E6-D685-053B6690193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05608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04B9C5-FA20-C882-28F3-135E9224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C9090DA-E562-EDF9-D3C7-BAFCB8C31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EB6550-E432-C73B-0134-B5A2CB16CDE2}"/>
              </a:ext>
            </a:extLst>
          </p:cNvPr>
          <p:cNvSpPr txBox="1"/>
          <p:nvPr/>
        </p:nvSpPr>
        <p:spPr>
          <a:xfrm>
            <a:off x="1988003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5FDAE7BE-CF6F-6CFA-E814-7EFAE7E93719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235306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29CA73D-1557-CFBF-F41E-979C6293C8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4340112"/>
              </p:ext>
            </p:extLst>
          </p:nvPr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/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𝑾𝒆𝒊𝒈𝒉𝒕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/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𝑯𝒆𝒊𝒈𝒉𝒕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blipFill>
                <a:blip r:embed="rId4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158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A7C22EB-6CA3-A17A-4531-C9B2C0D58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368F721-4117-A421-C47A-99C33E13A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74CEFF-D5F0-8C15-9DBE-CF54FE6C40EE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0837D5E8-4BCA-96D0-F9C4-39F4BA0A68FB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04140736-9024-D882-0210-B4320D6ECFA5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001815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6F36EE4-4B27-8926-E40C-3736D7AA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474221F-242C-F0DC-BD59-F255632A5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4AF458-93B4-0721-1F50-EB5B048655B4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1A02F7DF-9789-058A-D708-98D4B9ECEC87}"/>
              </a:ext>
            </a:extLst>
          </p:cNvPr>
          <p:cNvSpPr/>
          <p:nvPr/>
        </p:nvSpPr>
        <p:spPr>
          <a:xfrm>
            <a:off x="6716110" y="3331727"/>
            <a:ext cx="901787" cy="360000"/>
          </a:xfrm>
          <a:prstGeom prst="left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20400CCF-0D7F-1879-2BCF-E19124DFB228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2282F934-4FBB-FFB3-2B81-BF123083AEAB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046731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AF8C6D-68AE-CA9D-8376-0530E584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BE3820-0182-E3A7-F4E9-2FEE6E5F237D}"/>
              </a:ext>
            </a:extLst>
          </p:cNvPr>
          <p:cNvSpPr txBox="1"/>
          <p:nvPr/>
        </p:nvSpPr>
        <p:spPr>
          <a:xfrm>
            <a:off x="3221972" y="5786003"/>
            <a:ext cx="574856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5.6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5" name="Picture 4" descr="A graph of a diagram&#10;&#10;AI-generated content may be incorrect.">
            <a:extLst>
              <a:ext uri="{FF2B5EF4-FFF2-40B4-BE49-F238E27FC236}">
                <a16:creationId xmlns:a16="http://schemas.microsoft.com/office/drawing/2014/main" id="{C93DB7F3-BE20-5564-A794-BCFD94A72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7264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A959BE2-6178-70FE-61DA-3C79032AB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E74E5-0531-8C29-76FB-635F688DE5F0}"/>
              </a:ext>
            </a:extLst>
          </p:cNvPr>
          <p:cNvSpPr txBox="1"/>
          <p:nvPr/>
        </p:nvSpPr>
        <p:spPr>
          <a:xfrm>
            <a:off x="3470501" y="5786003"/>
            <a:ext cx="525150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6.8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5" name="Picture 4" descr="A graph of a diagram&#10;&#10;AI-generated content may be incorrect.">
            <a:extLst>
              <a:ext uri="{FF2B5EF4-FFF2-40B4-BE49-F238E27FC236}">
                <a16:creationId xmlns:a16="http://schemas.microsoft.com/office/drawing/2014/main" id="{9FC5C796-F5B3-1B8C-6EB0-633B22780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44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28EBCC-73EF-6A7B-FDF1-9A69C4085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C6F118-5C3B-FF77-9BCA-AA5FB176808A}"/>
              </a:ext>
            </a:extLst>
          </p:cNvPr>
          <p:cNvSpPr txBox="1"/>
          <p:nvPr/>
        </p:nvSpPr>
        <p:spPr>
          <a:xfrm>
            <a:off x="2887267" y="5786003"/>
            <a:ext cx="641797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  <a:r>
              <a:rPr lang="en-US" sz="2500" dirty="0"/>
              <a:t>is 7.9</a:t>
            </a:r>
          </a:p>
        </p:txBody>
      </p:sp>
      <p:pic>
        <p:nvPicPr>
          <p:cNvPr id="5" name="Picture 4" descr="A graph of a diagram&#10;&#10;AI-generated content may be incorrect.">
            <a:extLst>
              <a:ext uri="{FF2B5EF4-FFF2-40B4-BE49-F238E27FC236}">
                <a16:creationId xmlns:a16="http://schemas.microsoft.com/office/drawing/2014/main" id="{55FDD9D1-94FD-C41D-4122-117CC33C8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7270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4DB7A72-DF6A-9A1B-3984-AAA62B217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8AB46B-5236-CC76-5D4D-56E99F1271B6}"/>
              </a:ext>
            </a:extLst>
          </p:cNvPr>
          <p:cNvSpPr txBox="1"/>
          <p:nvPr/>
        </p:nvSpPr>
        <p:spPr>
          <a:xfrm>
            <a:off x="798733" y="5786003"/>
            <a:ext cx="105950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Knowing the standard deviation is helpful because normal curves are drawn such that </a:t>
            </a:r>
          </a:p>
          <a:p>
            <a:pPr algn="ctr"/>
            <a:r>
              <a:rPr lang="en-US" sz="2200" dirty="0"/>
              <a:t>95% of the measurements fall between + or – 2 standard deviations around the mean</a:t>
            </a:r>
          </a:p>
        </p:txBody>
      </p:sp>
      <p:pic>
        <p:nvPicPr>
          <p:cNvPr id="5" name="Picture 4" descr="A graph of a diagram&#10;&#10;AI-generated content may be incorrect.">
            <a:extLst>
              <a:ext uri="{FF2B5EF4-FFF2-40B4-BE49-F238E27FC236}">
                <a16:creationId xmlns:a16="http://schemas.microsoft.com/office/drawing/2014/main" id="{E3FC5D25-05F2-8E0E-2B86-2C8294004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263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507B90-BE4E-0196-613C-649F2E4A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E4CEEF-6B7D-6644-9E94-B0D2DF017983}"/>
              </a:ext>
            </a:extLst>
          </p:cNvPr>
          <p:cNvSpPr txBox="1"/>
          <p:nvPr/>
        </p:nvSpPr>
        <p:spPr>
          <a:xfrm>
            <a:off x="2644160" y="5786003"/>
            <a:ext cx="69042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70C0"/>
                </a:solidFill>
              </a:rPr>
              <a:t>Women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161.8 plus or minus 11.2 centimeters</a:t>
            </a:r>
          </a:p>
        </p:txBody>
      </p:sp>
      <p:pic>
        <p:nvPicPr>
          <p:cNvPr id="4" name="Picture 3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F1455432-3986-DA82-DAAE-9660E3636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4288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91049E-00CE-C116-6691-6B4EC1750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63A04E-38EE-B44A-78F6-B9F4780F98F2}"/>
              </a:ext>
            </a:extLst>
          </p:cNvPr>
          <p:cNvSpPr txBox="1"/>
          <p:nvPr/>
        </p:nvSpPr>
        <p:spPr>
          <a:xfrm>
            <a:off x="2862875" y="5786003"/>
            <a:ext cx="6466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FFC000"/>
                </a:solidFill>
              </a:rPr>
              <a:t>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175.6 plus or minus 13.2 centimeters</a:t>
            </a:r>
          </a:p>
        </p:txBody>
      </p:sp>
      <p:pic>
        <p:nvPicPr>
          <p:cNvPr id="4" name="Picture 3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5D9E05B8-B076-D055-AAD3-B7D2700D8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390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E1DDE4-DA2A-FBBE-0FE0-0D47037C1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C1B1DE-7917-0D09-1A89-79CE55B5D26A}"/>
              </a:ext>
            </a:extLst>
          </p:cNvPr>
          <p:cNvSpPr txBox="1"/>
          <p:nvPr/>
        </p:nvSpPr>
        <p:spPr>
          <a:xfrm>
            <a:off x="2359886" y="5786003"/>
            <a:ext cx="74728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B050"/>
                </a:solidFill>
              </a:rPr>
              <a:t>NBA Players</a:t>
            </a:r>
            <a:r>
              <a:rPr lang="en-US" sz="2200" dirty="0">
                <a:solidFill>
                  <a:srgbClr val="00B050"/>
                </a:solidFill>
              </a:rPr>
              <a:t> </a:t>
            </a:r>
            <a:r>
              <a:rPr lang="en-US" sz="2200" dirty="0"/>
              <a:t>measurements fall </a:t>
            </a:r>
          </a:p>
          <a:p>
            <a:pPr algn="ctr"/>
            <a:r>
              <a:rPr lang="en-US" sz="2200" dirty="0"/>
              <a:t>between 200.3 plus or minus 15.8 centimeters</a:t>
            </a:r>
          </a:p>
        </p:txBody>
      </p:sp>
      <p:pic>
        <p:nvPicPr>
          <p:cNvPr id="4" name="Picture 3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D41CCA4F-EB42-675A-06BC-7BD3BE392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70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73E3D0-5C01-26A4-7D84-D642401E67B1}"/>
              </a:ext>
            </a:extLst>
          </p:cNvPr>
          <p:cNvSpPr txBox="1"/>
          <p:nvPr/>
        </p:nvSpPr>
        <p:spPr>
          <a:xfrm>
            <a:off x="1185640" y="5786003"/>
            <a:ext cx="982134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If we add another feature like weight, 2D gaussian distributions will look like this </a:t>
            </a:r>
          </a:p>
        </p:txBody>
      </p:sp>
      <p:pic>
        <p:nvPicPr>
          <p:cNvPr id="8" name="Picture 7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2D100268-92FF-901E-253A-06FAA6520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469" y="0"/>
            <a:ext cx="6861061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3747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DFF4E1-60A8-EC3F-3AFA-823BB606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circles and numbers&#10;&#10;AI-generated content may be incorrect.">
            <a:extLst>
              <a:ext uri="{FF2B5EF4-FFF2-40B4-BE49-F238E27FC236}">
                <a16:creationId xmlns:a16="http://schemas.microsoft.com/office/drawing/2014/main" id="{73A5836F-DF00-CA70-4E86-EAA74E7BB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837" y="0"/>
            <a:ext cx="7068326" cy="5705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536222-369C-23DC-2EAE-297CCE5F7AB5}"/>
              </a:ext>
            </a:extLst>
          </p:cNvPr>
          <p:cNvSpPr txBox="1"/>
          <p:nvPr/>
        </p:nvSpPr>
        <p:spPr>
          <a:xfrm>
            <a:off x="1806907" y="5786003"/>
            <a:ext cx="85788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Multivariate gaussian distributions are visualized using </a:t>
            </a:r>
            <a:r>
              <a:rPr lang="en-US" sz="2200" b="1" dirty="0"/>
              <a:t>contour plots</a:t>
            </a:r>
          </a:p>
        </p:txBody>
      </p:sp>
    </p:spTree>
    <p:extLst>
      <p:ext uri="{BB962C8B-B14F-4D97-AF65-F5344CB8AC3E}">
        <p14:creationId xmlns:p14="http://schemas.microsoft.com/office/powerpoint/2010/main" val="837015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4881E4-2E18-C642-F692-AE7D9DA7B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circles and numbers&#10;&#10;AI-generated content may be incorrect.">
            <a:extLst>
              <a:ext uri="{FF2B5EF4-FFF2-40B4-BE49-F238E27FC236}">
                <a16:creationId xmlns:a16="http://schemas.microsoft.com/office/drawing/2014/main" id="{000EF929-4036-FAB0-0C0E-0283CEA57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837" y="0"/>
            <a:ext cx="7068326" cy="5705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3F87D7-9F66-2555-12DD-9BFD0FE92BFF}"/>
              </a:ext>
            </a:extLst>
          </p:cNvPr>
          <p:cNvSpPr txBox="1"/>
          <p:nvPr/>
        </p:nvSpPr>
        <p:spPr>
          <a:xfrm>
            <a:off x="1050368" y="5786003"/>
            <a:ext cx="100919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Contour plots lets us see the </a:t>
            </a:r>
            <a:r>
              <a:rPr lang="en-US" sz="2200" b="1" dirty="0"/>
              <a:t>high probability density </a:t>
            </a:r>
            <a:r>
              <a:rPr lang="en-US" sz="2200" dirty="0"/>
              <a:t>and </a:t>
            </a:r>
            <a:r>
              <a:rPr lang="en-US" sz="2200" b="1" dirty="0"/>
              <a:t>lower density regions </a:t>
            </a:r>
          </a:p>
        </p:txBody>
      </p:sp>
    </p:spTree>
    <p:extLst>
      <p:ext uri="{BB962C8B-B14F-4D97-AF65-F5344CB8AC3E}">
        <p14:creationId xmlns:p14="http://schemas.microsoft.com/office/powerpoint/2010/main" val="28229940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25AE83-16E5-7D9E-D7F3-31CFF372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circles and numbers&#10;&#10;AI-generated content may be incorrect.">
            <a:extLst>
              <a:ext uri="{FF2B5EF4-FFF2-40B4-BE49-F238E27FC236}">
                <a16:creationId xmlns:a16="http://schemas.microsoft.com/office/drawing/2014/main" id="{90BC02C1-CB29-72E7-DEFA-6C1023794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837" y="0"/>
            <a:ext cx="7068326" cy="5705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F5093B-7FE7-8623-87AA-92A252CCA308}"/>
              </a:ext>
            </a:extLst>
          </p:cNvPr>
          <p:cNvSpPr txBox="1"/>
          <p:nvPr/>
        </p:nvSpPr>
        <p:spPr>
          <a:xfrm>
            <a:off x="1874327" y="5786003"/>
            <a:ext cx="844404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679706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ADF0C0-5CFE-7BF3-B32D-2FCD4D14B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circles and numbers&#10;&#10;AI-generated content may be incorrect.">
            <a:extLst>
              <a:ext uri="{FF2B5EF4-FFF2-40B4-BE49-F238E27FC236}">
                <a16:creationId xmlns:a16="http://schemas.microsoft.com/office/drawing/2014/main" id="{FE364AD5-AF5B-8900-0723-0C789C977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837" y="0"/>
            <a:ext cx="7068326" cy="5705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FE59E7-7CF6-E6F1-C4F6-CEED5FB16848}"/>
              </a:ext>
            </a:extLst>
          </p:cNvPr>
          <p:cNvSpPr txBox="1"/>
          <p:nvPr/>
        </p:nvSpPr>
        <p:spPr>
          <a:xfrm>
            <a:off x="1959929" y="5786003"/>
            <a:ext cx="827284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Outer ellipses </a:t>
            </a:r>
            <a:r>
              <a:rPr lang="en-US" sz="2200" dirty="0"/>
              <a:t>show the region with the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b="1" dirty="0">
                <a:solidFill>
                  <a:srgbClr val="FF0000"/>
                </a:solidFill>
              </a:rPr>
              <a:t>lower probability density </a:t>
            </a:r>
          </a:p>
        </p:txBody>
      </p:sp>
    </p:spTree>
    <p:extLst>
      <p:ext uri="{BB962C8B-B14F-4D97-AF65-F5344CB8AC3E}">
        <p14:creationId xmlns:p14="http://schemas.microsoft.com/office/powerpoint/2010/main" val="31898165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E1320-7627-50C1-3577-06607949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B80C7-9471-AE27-94D5-8845552C6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Gaussian (normal) distribution can be used to generate synthetic </a:t>
            </a:r>
            <a:r>
              <a:rPr lang="en-US" b="1" dirty="0" err="1"/>
              <a:t>dat</a:t>
            </a: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3F96C2-02A7-DA40-1DF5-A90F424ECE38}"/>
                  </a:ext>
                </a:extLst>
              </p:cNvPr>
              <p:cNvSpPr txBox="1"/>
              <p:nvPr/>
            </p:nvSpPr>
            <p:spPr>
              <a:xfrm>
                <a:off x="3038475" y="3982135"/>
                <a:ext cx="6115050" cy="2493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2500" dirty="0"/>
                  <a:t>For a 1D Gaussian: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sz="2500" i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PH" sz="2500" i="0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sepChr m:val=","/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e>
                          <m:sSup>
                            <m:sSupPr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25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500" dirty="0"/>
              </a:p>
              <a:p>
                <a:pPr>
                  <a:buNone/>
                </a:pPr>
                <a:endParaRPr lang="en-US" sz="2500" dirty="0"/>
              </a:p>
              <a:p>
                <a:pPr>
                  <a:buNone/>
                </a:pPr>
                <a:r>
                  <a:rPr lang="en-US" sz="2500" dirty="0"/>
                  <a:t>Where:</a:t>
                </a:r>
              </a:p>
              <a:p>
                <a:pPr>
                  <a:buNone/>
                </a:pPr>
                <a:r>
                  <a:rPr lang="en-US" sz="2500" dirty="0"/>
                  <a:t>𝜇 = mean (center of the distribution)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5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500" dirty="0"/>
                          <m:t>𝜎</m:t>
                        </m:r>
                      </m:e>
                      <m:sup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500" dirty="0"/>
                  <a:t> = variance (spread)</a:t>
                </a:r>
                <a:endParaRPr lang="ar-AE" sz="25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3F96C2-02A7-DA40-1DF5-A90F424EC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8475" y="3982135"/>
                <a:ext cx="6115050" cy="2493503"/>
              </a:xfrm>
              <a:prstGeom prst="rect">
                <a:avLst/>
              </a:prstGeom>
              <a:blipFill>
                <a:blip r:embed="rId2"/>
                <a:stretch>
                  <a:fillRect l="-1594" t="-1711" b="-14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14874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F0E46-3C44-421B-B8F6-415CB187E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060A7-F3CC-0E6A-F34A-722643A37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B34A4-28BE-2342-A47B-5034625E1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Gaussian (normal) distribution can be used </a:t>
            </a:r>
            <a:r>
              <a:rPr lang="en-US" b="1" dirty="0"/>
              <a:t>to generate synthetic data from its distribution</a:t>
            </a:r>
            <a:endParaRPr lang="en-PH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/>
              <p:nvPr/>
            </p:nvSpPr>
            <p:spPr>
              <a:xfrm>
                <a:off x="3038474" y="5140361"/>
                <a:ext cx="6115050" cy="12551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/>
                  <a:t>Where:</a:t>
                </a:r>
              </a:p>
              <a:p>
                <a:pPr>
                  <a:buNone/>
                </a:pPr>
                <a:r>
                  <a:rPr lang="en-US" sz="2500" b="1" dirty="0"/>
                  <a:t>𝜇</a:t>
                </a:r>
                <a:r>
                  <a:rPr lang="en-US" sz="2500" dirty="0"/>
                  <a:t> = mean (center of the distribution)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5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500" b="1" dirty="0"/>
                          <m:t>𝜎</m:t>
                        </m:r>
                      </m:e>
                      <m:sup>
                        <m:r>
                          <a:rPr lang="en-US" sz="25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500" b="1" dirty="0"/>
                  <a:t> </a:t>
                </a:r>
                <a:r>
                  <a:rPr lang="en-US" sz="2500" dirty="0"/>
                  <a:t>= variance (spread)</a:t>
                </a:r>
                <a:endParaRPr lang="ar-AE" sz="25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8474" y="5140361"/>
                <a:ext cx="6115050" cy="1255152"/>
              </a:xfrm>
              <a:prstGeom prst="rect">
                <a:avLst/>
              </a:prstGeom>
              <a:blipFill>
                <a:blip r:embed="rId2"/>
                <a:stretch>
                  <a:fillRect l="-1594" t="-3398" b="-1116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/>
              <p:nvPr/>
            </p:nvSpPr>
            <p:spPr>
              <a:xfrm>
                <a:off x="3776662" y="3780232"/>
                <a:ext cx="4638675" cy="86177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sz="5000" i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PH" sz="5000" i="0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500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50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5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5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5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PH" sz="5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62" y="3780232"/>
                <a:ext cx="4638675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B452DC6-9863-85DD-5535-1F247DFE7EC8}"/>
              </a:ext>
            </a:extLst>
          </p:cNvPr>
          <p:cNvSpPr txBox="1"/>
          <p:nvPr/>
        </p:nvSpPr>
        <p:spPr>
          <a:xfrm>
            <a:off x="823912" y="3985484"/>
            <a:ext cx="295275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For a 1D Gaussian:</a:t>
            </a:r>
          </a:p>
        </p:txBody>
      </p:sp>
    </p:spTree>
    <p:extLst>
      <p:ext uri="{BB962C8B-B14F-4D97-AF65-F5344CB8AC3E}">
        <p14:creationId xmlns:p14="http://schemas.microsoft.com/office/powerpoint/2010/main" val="2636970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7FBE8-04F2-5AA6-DD01-9DF139EB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A6A90-F469-66E3-1CEB-4587549D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C06F-B3BF-EB52-2936-459FEB687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Gaussian doesn’t just describe data, it can also </a:t>
            </a:r>
            <a:r>
              <a:rPr lang="en-US" b="1" dirty="0"/>
              <a:t>generate data </a:t>
            </a:r>
            <a:r>
              <a:rPr lang="en-US" dirty="0"/>
              <a:t>that </a:t>
            </a:r>
            <a:r>
              <a:rPr lang="en-US" b="1" dirty="0"/>
              <a:t>“looks like” </a:t>
            </a:r>
            <a:r>
              <a:rPr lang="en-US" dirty="0"/>
              <a:t>it came from that distribution.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“generate data” </a:t>
            </a:r>
            <a:r>
              <a:rPr lang="en-US" dirty="0"/>
              <a:t>by sampling data from the distribution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0938768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72C16-8504-95D1-738C-7E8B94451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B1151-AA19-13CA-B86B-E37C3C0F8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E834ED-1AF8-583B-0CFD-27DDD618696A}"/>
                  </a:ext>
                </a:extLst>
              </p:cNvPr>
              <p:cNvSpPr txBox="1"/>
              <p:nvPr/>
            </p:nvSpPr>
            <p:spPr>
              <a:xfrm>
                <a:off x="3057525" y="2990334"/>
                <a:ext cx="611505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PH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PH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𝜋𝜎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2​1​</m:t>
                      </m:r>
                      <m:r>
                        <m:rPr>
                          <m:sty m:val="p"/>
                        </m:rPr>
                        <a:rPr lang="en-PH" i="1" dirty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PH" i="1" dirty="0">
                          <a:latin typeface="Cambria Math" panose="02040503050406030204" pitchFamily="18" charset="0"/>
                        </a:rPr>
                        <m:t>⁡(−</m:t>
                      </m:r>
                      <m:r>
                        <a:rPr lang="en-PH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2​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E834ED-1AF8-583B-0CFD-27DDD6186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525" y="2990334"/>
                <a:ext cx="6115050" cy="369332"/>
              </a:xfrm>
              <a:prstGeom prst="rect">
                <a:avLst/>
              </a:prstGeom>
              <a:blipFill>
                <a:blip r:embed="rId2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352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E7-8059-F091-A06C-32FB9E69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B81BB-7FFC-872B-B3FD-C497938BD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C3CA0-134D-F65A-58A3-52F0FFE558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596703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3298</TotalTime>
  <Words>785</Words>
  <Application>Microsoft Office PowerPoint</Application>
  <PresentationFormat>Widescreen</PresentationFormat>
  <Paragraphs>124</Paragraphs>
  <Slides>50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Aptos</vt:lpstr>
      <vt:lpstr>Aptos Display</vt:lpstr>
      <vt:lpstr>Arial</vt:lpstr>
      <vt:lpstr>Cambria Math</vt:lpstr>
      <vt:lpstr>Wingdings</vt:lpstr>
      <vt:lpstr>Office Theme</vt:lpstr>
      <vt:lpstr>Introduction to Gaussian Mixture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Gaussian Distribution</vt:lpstr>
      <vt:lpstr>Gaussian Distribution</vt:lpstr>
      <vt:lpstr>Gaussian Distribution</vt:lpstr>
      <vt:lpstr>Gaussian Distribution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393</cp:revision>
  <dcterms:created xsi:type="dcterms:W3CDTF">2024-08-08T01:29:50Z</dcterms:created>
  <dcterms:modified xsi:type="dcterms:W3CDTF">2026-01-15T02:26:25Z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