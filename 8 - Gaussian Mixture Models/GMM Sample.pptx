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7" r:id="rId2"/>
    <p:sldId id="589" r:id="rId3"/>
    <p:sldId id="532" r:id="rId4"/>
    <p:sldId id="600" r:id="rId5"/>
    <p:sldId id="601" r:id="rId6"/>
    <p:sldId id="613" r:id="rId7"/>
    <p:sldId id="602" r:id="rId8"/>
    <p:sldId id="603" r:id="rId9"/>
    <p:sldId id="604" r:id="rId10"/>
    <p:sldId id="605" r:id="rId11"/>
    <p:sldId id="606" r:id="rId12"/>
    <p:sldId id="607" r:id="rId13"/>
    <p:sldId id="608" r:id="rId14"/>
    <p:sldId id="609" r:id="rId15"/>
    <p:sldId id="610" r:id="rId16"/>
    <p:sldId id="611" r:id="rId17"/>
    <p:sldId id="612" r:id="rId18"/>
    <p:sldId id="617" r:id="rId19"/>
    <p:sldId id="623" r:id="rId20"/>
    <p:sldId id="618" r:id="rId21"/>
    <p:sldId id="619" r:id="rId22"/>
    <p:sldId id="622" r:id="rId23"/>
    <p:sldId id="624" r:id="rId24"/>
    <p:sldId id="625" r:id="rId25"/>
    <p:sldId id="626" r:id="rId26"/>
    <p:sldId id="627" r:id="rId27"/>
    <p:sldId id="628" r:id="rId28"/>
    <p:sldId id="629" r:id="rId29"/>
    <p:sldId id="630" r:id="rId30"/>
    <p:sldId id="631" r:id="rId31"/>
    <p:sldId id="632" r:id="rId32"/>
    <p:sldId id="643" r:id="rId33"/>
    <p:sldId id="64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B9B9"/>
    <a:srgbClr val="CBD947"/>
    <a:srgbClr val="FF40FF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67" autoAdjust="0"/>
    <p:restoredTop sz="94558"/>
  </p:normalViewPr>
  <p:slideViewPr>
    <p:cSldViewPr snapToGrid="0">
      <p:cViewPr varScale="1">
        <p:scale>
          <a:sx n="107" d="100"/>
          <a:sy n="107" d="100"/>
        </p:scale>
        <p:origin x="176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07096109391466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127000">
                <a:solidFill>
                  <a:srgbClr val="0070C0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55</c:v>
                </c:pt>
                <c:pt idx="1">
                  <c:v>60</c:v>
                </c:pt>
                <c:pt idx="2">
                  <c:v>65</c:v>
                </c:pt>
                <c:pt idx="3">
                  <c:v>75</c:v>
                </c:pt>
                <c:pt idx="4">
                  <c:v>80</c:v>
                </c:pt>
                <c:pt idx="5">
                  <c:v>85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160</c:v>
                </c:pt>
                <c:pt idx="1">
                  <c:v>165</c:v>
                </c:pt>
                <c:pt idx="2">
                  <c:v>170</c:v>
                </c:pt>
                <c:pt idx="3">
                  <c:v>180</c:v>
                </c:pt>
                <c:pt idx="4">
                  <c:v>185</c:v>
                </c:pt>
                <c:pt idx="5">
                  <c:v>190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D94E-AE4D-9B9C-B4C99DA2F4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55</c:v>
                </c:pt>
                <c:pt idx="1">
                  <c:v>60</c:v>
                </c:pt>
                <c:pt idx="2">
                  <c:v>65</c:v>
                </c:pt>
                <c:pt idx="3">
                  <c:v>75</c:v>
                </c:pt>
                <c:pt idx="4">
                  <c:v>80</c:v>
                </c:pt>
                <c:pt idx="5">
                  <c:v>85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D94E-AE4D-9B9C-B4C99DA2F4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90"/>
          <c:min val="50"/>
        </c:scaling>
        <c:delete val="0"/>
        <c:axPos val="b"/>
        <c:majorGridlines>
          <c:spPr>
            <a:ln w="222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bg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0"/>
      </c:valAx>
      <c:valAx>
        <c:axId val="198242271"/>
        <c:scaling>
          <c:orientation val="minMax"/>
          <c:min val="140"/>
        </c:scaling>
        <c:delete val="0"/>
        <c:axPos val="l"/>
        <c:majorGridlines>
          <c:spPr>
            <a:ln w="25400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bg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0"/>
      </c:valAx>
      <c:spPr>
        <a:solidFill>
          <a:schemeClr val="tx1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07096109391466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127000">
                <a:solidFill>
                  <a:srgbClr val="0070C0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7030A0"/>
                </a:solidFill>
                <a:ln w="127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6202-48DA-9CB5-D4EFF4CA8287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6202-48DA-9CB5-D4EFF4CA8287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7030A0"/>
                </a:solidFill>
                <a:ln w="127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6202-48DA-9CB5-D4EFF4CA8287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FFC000"/>
                </a:solidFill>
                <a:ln w="1270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6202-48DA-9CB5-D4EFF4CA8287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6202-48DA-9CB5-D4EFF4CA8287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6202-48DA-9CB5-D4EFF4CA8287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55</c:v>
                </c:pt>
                <c:pt idx="1">
                  <c:v>60</c:v>
                </c:pt>
                <c:pt idx="2">
                  <c:v>65</c:v>
                </c:pt>
                <c:pt idx="3">
                  <c:v>75</c:v>
                </c:pt>
                <c:pt idx="4">
                  <c:v>80</c:v>
                </c:pt>
                <c:pt idx="5">
                  <c:v>85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160</c:v>
                </c:pt>
                <c:pt idx="1">
                  <c:v>165</c:v>
                </c:pt>
                <c:pt idx="2">
                  <c:v>170</c:v>
                </c:pt>
                <c:pt idx="3">
                  <c:v>180</c:v>
                </c:pt>
                <c:pt idx="4">
                  <c:v>185</c:v>
                </c:pt>
                <c:pt idx="5">
                  <c:v>190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D94E-AE4D-9B9C-B4C99DA2F4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55</c:v>
                </c:pt>
                <c:pt idx="1">
                  <c:v>60</c:v>
                </c:pt>
                <c:pt idx="2">
                  <c:v>65</c:v>
                </c:pt>
                <c:pt idx="3">
                  <c:v>75</c:v>
                </c:pt>
                <c:pt idx="4">
                  <c:v>80</c:v>
                </c:pt>
                <c:pt idx="5">
                  <c:v>85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D94E-AE4D-9B9C-B4C99DA2F4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90"/>
          <c:min val="50"/>
        </c:scaling>
        <c:delete val="0"/>
        <c:axPos val="b"/>
        <c:majorGridlines>
          <c:spPr>
            <a:ln w="222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bg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0"/>
      </c:valAx>
      <c:valAx>
        <c:axId val="198242271"/>
        <c:scaling>
          <c:orientation val="minMax"/>
          <c:min val="140"/>
        </c:scaling>
        <c:delete val="0"/>
        <c:axPos val="l"/>
        <c:majorGridlines>
          <c:spPr>
            <a:ln w="25400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bg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0"/>
      </c:valAx>
      <c:spPr>
        <a:solidFill>
          <a:schemeClr val="tx1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40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38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	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490.png"/><Relationship Id="rId4" Type="http://schemas.openxmlformats.org/officeDocument/2006/relationships/image" Target="../media/image48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3" Type="http://schemas.openxmlformats.org/officeDocument/2006/relationships/image" Target="../media/image50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0.png"/><Relationship Id="rId4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0.png"/><Relationship Id="rId4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0.png"/><Relationship Id="rId4" Type="http://schemas.openxmlformats.org/officeDocument/2006/relationships/image" Target="../media/image7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svg"/><Relationship Id="rId3" Type="http://schemas.openxmlformats.org/officeDocument/2006/relationships/image" Target="../media/image77.png"/><Relationship Id="rId7" Type="http://schemas.openxmlformats.org/officeDocument/2006/relationships/image" Target="../media/image3.svg"/><Relationship Id="rId12" Type="http://schemas.openxmlformats.org/officeDocument/2006/relationships/image" Target="../media/image8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7.svg"/><Relationship Id="rId5" Type="http://schemas.openxmlformats.org/officeDocument/2006/relationships/image" Target="../media/image79.png"/><Relationship Id="rId10" Type="http://schemas.openxmlformats.org/officeDocument/2006/relationships/image" Target="../media/image6.png"/><Relationship Id="rId4" Type="http://schemas.openxmlformats.org/officeDocument/2006/relationships/image" Target="../media/image78.png"/><Relationship Id="rId9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9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4.png"/><Relationship Id="rId7" Type="http://schemas.openxmlformats.org/officeDocument/2006/relationships/image" Target="../media/image96.png"/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99.png"/><Relationship Id="rId4" Type="http://schemas.openxmlformats.org/officeDocument/2006/relationships/image" Target="../media/image95.png"/><Relationship Id="rId9" Type="http://schemas.openxmlformats.org/officeDocument/2006/relationships/image" Target="../media/image9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4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5.svg"/><Relationship Id="rId9" Type="http://schemas.openxmlformats.org/officeDocument/2006/relationships/image" Target="../media/image10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0.png"/><Relationship Id="rId7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1.png"/><Relationship Id="rId7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34.png"/><Relationship Id="rId7" Type="http://schemas.openxmlformats.org/officeDocument/2006/relationships/image" Target="../media/image131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3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37.png"/><Relationship Id="rId7" Type="http://schemas.openxmlformats.org/officeDocument/2006/relationships/image" Target="../media/image131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5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44.png"/><Relationship Id="rId17" Type="http://schemas.openxmlformats.org/officeDocument/2006/relationships/image" Target="../media/image149.png"/><Relationship Id="rId2" Type="http://schemas.openxmlformats.org/officeDocument/2006/relationships/image" Target="../media/image2.png"/><Relationship Id="rId16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43.png"/><Relationship Id="rId5" Type="http://schemas.openxmlformats.org/officeDocument/2006/relationships/image" Target="../media/image5.svg"/><Relationship Id="rId15" Type="http://schemas.openxmlformats.org/officeDocument/2006/relationships/image" Target="../media/image147.png"/><Relationship Id="rId10" Type="http://schemas.openxmlformats.org/officeDocument/2006/relationships/image" Target="../media/image142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5" Type="http://schemas.openxmlformats.org/officeDocument/2006/relationships/image" Target="../media/image36.png"/><Relationship Id="rId4" Type="http://schemas.openxmlformats.org/officeDocument/2006/relationships/image" Target="../media/image150.png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GMM Example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D8E20-D91B-032E-EDBE-D083444C3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/>
                </a:solidFill>
              </a:rPr>
              <a:t>Example Dataset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61ED99-2A0D-8E03-B6A6-9F6DE0BE3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063023"/>
              </p:ext>
            </p:extLst>
          </p:nvPr>
        </p:nvGraphicFramePr>
        <p:xfrm>
          <a:off x="838200" y="2151932"/>
          <a:ext cx="10515600" cy="33070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4611112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7105890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992207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b="1" dirty="0">
                          <a:solidFill>
                            <a:schemeClr val="bg1"/>
                          </a:solidFill>
                        </a:rPr>
                        <a:t>Person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b="1" dirty="0">
                          <a:solidFill>
                            <a:schemeClr val="bg1"/>
                          </a:solidFill>
                        </a:rPr>
                        <a:t>Height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b="1" dirty="0">
                          <a:solidFill>
                            <a:schemeClr val="bg1"/>
                          </a:solidFill>
                        </a:rPr>
                        <a:t>Weight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349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>
                          <a:solidFill>
                            <a:schemeClr val="bg1"/>
                          </a:solidFill>
                        </a:rPr>
                        <a:t>160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55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971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>
                          <a:solidFill>
                            <a:schemeClr val="bg1"/>
                          </a:solidFill>
                        </a:rPr>
                        <a:t>165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60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247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>
                          <a:solidFill>
                            <a:schemeClr val="bg1"/>
                          </a:solidFill>
                        </a:rPr>
                        <a:t>170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>
                          <a:solidFill>
                            <a:schemeClr val="bg1"/>
                          </a:solidFill>
                        </a:rPr>
                        <a:t>65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933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75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145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>
                          <a:solidFill>
                            <a:schemeClr val="bg1"/>
                          </a:solidFill>
                        </a:rPr>
                        <a:t>185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80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814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190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85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889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081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29CA73D-1557-CFBF-F41E-979C6293C8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3938933"/>
              </p:ext>
            </p:extLst>
          </p:nvPr>
        </p:nvGraphicFramePr>
        <p:xfrm>
          <a:off x="2391974" y="989889"/>
          <a:ext cx="8681701" cy="522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C7932A-0791-7FA9-4516-245BB39EC2D7}"/>
                  </a:ext>
                </a:extLst>
              </p:cNvPr>
              <p:cNvSpPr txBox="1"/>
              <p:nvPr/>
            </p:nvSpPr>
            <p:spPr>
              <a:xfrm>
                <a:off x="920299" y="3221251"/>
                <a:ext cx="1300387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1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𝑾𝒆𝒊𝒈𝒉𝒕</m:t>
                      </m:r>
                    </m:oMath>
                  </m:oMathPara>
                </a14:m>
                <a:endParaRPr lang="en-PH" sz="21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C7932A-0791-7FA9-4516-245BB39EC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299" y="3221251"/>
                <a:ext cx="1300387" cy="415498"/>
              </a:xfrm>
              <a:prstGeom prst="rect">
                <a:avLst/>
              </a:prstGeom>
              <a:blipFill>
                <a:blip r:embed="rId3"/>
                <a:stretch>
                  <a:fillRect b="-1449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6C1001-B9E1-5CA2-F64B-6BDA72B7A28C}"/>
                  </a:ext>
                </a:extLst>
              </p:cNvPr>
              <p:cNvSpPr txBox="1"/>
              <p:nvPr/>
            </p:nvSpPr>
            <p:spPr>
              <a:xfrm>
                <a:off x="6121223" y="6217238"/>
                <a:ext cx="1223201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1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𝑯𝒆𝒊𝒈𝒉𝒕</m:t>
                      </m:r>
                    </m:oMath>
                  </m:oMathPara>
                </a14:m>
                <a:endParaRPr lang="en-PH" sz="21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6C1001-B9E1-5CA2-F64B-6BDA72B7A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223" y="6217238"/>
                <a:ext cx="1223201" cy="415498"/>
              </a:xfrm>
              <a:prstGeom prst="rect">
                <a:avLst/>
              </a:prstGeom>
              <a:blipFill>
                <a:blip r:embed="rId4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158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E6CB-26FB-F1C8-74D5-07BCDE608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/>
                </a:solidFill>
              </a:rPr>
              <a:t>Initialize cluster parameters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02F7933-9735-211A-8E15-013D580C64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9474023"/>
              </p:ext>
            </p:extLst>
          </p:nvPr>
        </p:nvGraphicFramePr>
        <p:xfrm>
          <a:off x="838200" y="2331720"/>
          <a:ext cx="10515600" cy="10972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8494718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668300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36870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871651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Cluster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b="1" dirty="0">
                          <a:solidFill>
                            <a:schemeClr val="bg1"/>
                          </a:solidFill>
                        </a:rPr>
                        <a:t>μ (</a:t>
                      </a: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mean)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b="1" dirty="0">
                          <a:solidFill>
                            <a:schemeClr val="bg1"/>
                          </a:solidFill>
                        </a:rPr>
                        <a:t>Σ (</a:t>
                      </a: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covariance)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b="1" dirty="0">
                          <a:solidFill>
                            <a:schemeClr val="bg1"/>
                          </a:solidFill>
                        </a:rPr>
                        <a:t>π (</a:t>
                      </a: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prior)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931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women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[162, 57]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[[10, 0], [0, 10]]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0.5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928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men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[185, 80]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[[10, 0], [0, 10]]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0.5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2343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C19AA-9995-3E1D-F1DF-E1E42F20EAB2}"/>
                  </a:ext>
                </a:extLst>
              </p:cNvPr>
              <p:cNvSpPr txBox="1"/>
              <p:nvPr/>
            </p:nvSpPr>
            <p:spPr>
              <a:xfrm>
                <a:off x="838200" y="3911600"/>
                <a:ext cx="2744726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=[162, 57]</m:t>
                      </m:r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C19AA-9995-3E1D-F1DF-E1E42F20E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11600"/>
                <a:ext cx="2744726" cy="384721"/>
              </a:xfrm>
              <a:prstGeom prst="rect">
                <a:avLst/>
              </a:prstGeom>
              <a:blipFill>
                <a:blip r:embed="rId2"/>
                <a:stretch>
                  <a:fillRect l="-1382" t="-6452" r="-3687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FB19E1-7C8B-2C2D-28AE-F2EEDD18A5FA}"/>
                  </a:ext>
                </a:extLst>
              </p:cNvPr>
              <p:cNvSpPr txBox="1"/>
              <p:nvPr/>
            </p:nvSpPr>
            <p:spPr>
              <a:xfrm>
                <a:off x="6550378" y="3911599"/>
                <a:ext cx="241611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=[185, 80]</m:t>
                      </m:r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FB19E1-7C8B-2C2D-28AE-F2EEDD18A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378" y="3911599"/>
                <a:ext cx="2416111" cy="384721"/>
              </a:xfrm>
              <a:prstGeom prst="rect">
                <a:avLst/>
              </a:prstGeom>
              <a:blipFill>
                <a:blip r:embed="rId3"/>
                <a:stretch>
                  <a:fillRect l="-1571" t="-6452" r="-4188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BD31AB-F517-394D-A3A6-629021191172}"/>
                  </a:ext>
                </a:extLst>
              </p:cNvPr>
              <p:cNvSpPr txBox="1"/>
              <p:nvPr/>
            </p:nvSpPr>
            <p:spPr>
              <a:xfrm>
                <a:off x="838200" y="4560946"/>
                <a:ext cx="2890215" cy="6415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BD31AB-F517-394D-A3A6-629021191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60946"/>
                <a:ext cx="2890215" cy="641522"/>
              </a:xfrm>
              <a:prstGeom prst="rect">
                <a:avLst/>
              </a:prstGeom>
              <a:blipFill>
                <a:blip r:embed="rId4"/>
                <a:stretch>
                  <a:fillRect l="-263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1F2F79-D1DC-0036-3431-D8762F896ADA}"/>
                  </a:ext>
                </a:extLst>
              </p:cNvPr>
              <p:cNvSpPr txBox="1"/>
              <p:nvPr/>
            </p:nvSpPr>
            <p:spPr>
              <a:xfrm>
                <a:off x="838200" y="5467093"/>
                <a:ext cx="2061334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1F2F79-D1DC-0036-3431-D8762F896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67093"/>
                <a:ext cx="2061334" cy="384721"/>
              </a:xfrm>
              <a:prstGeom prst="rect">
                <a:avLst/>
              </a:prstGeom>
              <a:blipFill>
                <a:blip r:embed="rId5"/>
                <a:stretch>
                  <a:fillRect l="-2454" r="-3067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F51205-582F-008C-272D-3CEF6BD34347}"/>
                  </a:ext>
                </a:extLst>
              </p:cNvPr>
              <p:cNvSpPr txBox="1"/>
              <p:nvPr/>
            </p:nvSpPr>
            <p:spPr>
              <a:xfrm>
                <a:off x="6553210" y="4560946"/>
                <a:ext cx="2521524" cy="6415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F51205-582F-008C-272D-3CEF6BD34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10" y="4560946"/>
                <a:ext cx="2521524" cy="641522"/>
              </a:xfrm>
              <a:prstGeom prst="rect">
                <a:avLst/>
              </a:prstGeom>
              <a:blipFill>
                <a:blip r:embed="rId6"/>
                <a:stretch>
                  <a:fillRect l="-3518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FFF466-3207-D99D-A177-2D92D64E23DB}"/>
                  </a:ext>
                </a:extLst>
              </p:cNvPr>
              <p:cNvSpPr txBox="1"/>
              <p:nvPr/>
            </p:nvSpPr>
            <p:spPr>
              <a:xfrm>
                <a:off x="6553210" y="5467093"/>
                <a:ext cx="1692643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FFF466-3207-D99D-A177-2D92D64E2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10" y="5467093"/>
                <a:ext cx="1692643" cy="384721"/>
              </a:xfrm>
              <a:prstGeom prst="rect">
                <a:avLst/>
              </a:prstGeom>
              <a:blipFill>
                <a:blip r:embed="rId7"/>
                <a:stretch>
                  <a:fillRect l="-2985" r="-3731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86C425B-5074-7441-EBCB-4A26E448A21A}"/>
                  </a:ext>
                </a:extLst>
              </p:cNvPr>
              <p:cNvSpPr txBox="1"/>
              <p:nvPr/>
            </p:nvSpPr>
            <p:spPr>
              <a:xfrm>
                <a:off x="6550378" y="6146832"/>
                <a:ext cx="222972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  <m:r>
                            <a:rPr lang="en-US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86C425B-5074-7441-EBCB-4A26E448A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378" y="6146832"/>
                <a:ext cx="2229728" cy="4770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F616F5-4649-7599-F40B-FD25D63CB1A9}"/>
                  </a:ext>
                </a:extLst>
              </p:cNvPr>
              <p:cNvSpPr txBox="1"/>
              <p:nvPr/>
            </p:nvSpPr>
            <p:spPr>
              <a:xfrm>
                <a:off x="838200" y="6031631"/>
                <a:ext cx="297641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  <m:r>
                            <a:rPr lang="en-US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F616F5-4649-7599-F40B-FD25D63CB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031631"/>
                <a:ext cx="2976418" cy="4770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8408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DDDE8-7ED2-D0BC-F463-ACEF8BBCB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00061-6D76-1086-0DF9-5C7A9B279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Compute the Gaussian density for each sample</a:t>
            </a:r>
            <a:endParaRPr lang="en-PH" sz="35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4C233E-E220-DB1E-86FF-A5A19519AAE6}"/>
                  </a:ext>
                </a:extLst>
              </p:cNvPr>
              <p:cNvSpPr txBox="1"/>
              <p:nvPr/>
            </p:nvSpPr>
            <p:spPr>
              <a:xfrm>
                <a:off x="1069657" y="2381566"/>
                <a:ext cx="10052685" cy="1129668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PH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PH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PH" sz="3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PH" sz="3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3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PH" sz="3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PH" sz="3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3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3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PH" sz="3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3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PH" sz="3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PH" sz="3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PH" sz="3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PH" sz="3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3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PH" sz="3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PH" sz="3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PH" sz="3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PH" sz="3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PH" sz="3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PH" sz="3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PH" sz="3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PH" sz="3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PH" sz="3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3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PH" sz="3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PH" sz="3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3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PH" sz="3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PH" sz="3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4C233E-E220-DB1E-86FF-A5A19519A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657" y="2381566"/>
                <a:ext cx="10052685" cy="1129668"/>
              </a:xfrm>
              <a:prstGeom prst="rect">
                <a:avLst/>
              </a:prstGeom>
              <a:blipFill>
                <a:blip r:embed="rId2"/>
                <a:stretch>
                  <a:fillRect b="-55435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86B36C-103C-5974-C26B-3D7A68D4FCB8}"/>
                  </a:ext>
                </a:extLst>
              </p:cNvPr>
              <p:cNvSpPr txBox="1"/>
              <p:nvPr/>
            </p:nvSpPr>
            <p:spPr>
              <a:xfrm>
                <a:off x="768507" y="3976686"/>
                <a:ext cx="11078053" cy="887615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3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PH" sz="2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3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  <m:r>
                            <a:rPr lang="en-US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PH" sz="2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3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PH" sz="23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en-PH" sz="2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PH" sz="23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PH" sz="23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3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PH" sz="23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PH" sz="23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23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3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PH" sz="23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3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PH" sz="23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PH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PH" sz="23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PH" sz="23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PH" sz="23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23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PH" sz="23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PH" sz="23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PH" sz="23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PH" sz="23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3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PH" sz="23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PH" sz="23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sz="23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GB" sz="23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𝑤𝑜𝑚𝑒𝑛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PH" sz="23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PH" sz="23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3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GB" sz="23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  <m:sup>
                                  <m:r>
                                    <a:rPr lang="en-GB" sz="23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PH" sz="23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3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PH" sz="23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3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3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GB" sz="23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𝑤𝑜𝑚𝑒𝑛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PH" sz="23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86B36C-103C-5974-C26B-3D7A68D4F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07" y="3976686"/>
                <a:ext cx="11078053" cy="887615"/>
              </a:xfrm>
              <a:prstGeom prst="rect">
                <a:avLst/>
              </a:prstGeom>
              <a:blipFill>
                <a:blip r:embed="rId3"/>
                <a:stretch>
                  <a:fillRect b="-48649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65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9116CE-4026-96CC-41DD-BBAD3AF63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D9926-E873-6F44-811B-FAE039FF1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Compute the Gaussian density for each sample</a:t>
            </a:r>
            <a:endParaRPr lang="en-PH" sz="35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7A1D39-5297-0DE0-E0F8-917CB00118B5}"/>
                  </a:ext>
                </a:extLst>
              </p:cNvPr>
              <p:cNvSpPr txBox="1"/>
              <p:nvPr/>
            </p:nvSpPr>
            <p:spPr>
              <a:xfrm>
                <a:off x="948266" y="4658198"/>
                <a:ext cx="4001106" cy="5499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en-PH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25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𝑠𝑞𝑟𝑡</m:t>
                      </m:r>
                      <m:d>
                        <m:dPr>
                          <m:ctrlPr>
                            <a:rPr lang="en-PH" sz="25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</m:d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7A1D39-5297-0DE0-E0F8-917CB0011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66" y="4658198"/>
                <a:ext cx="4001106" cy="549959"/>
              </a:xfrm>
              <a:prstGeom prst="rect">
                <a:avLst/>
              </a:prstGeom>
              <a:blipFill>
                <a:blip r:embed="rId2"/>
                <a:stretch>
                  <a:fillRect t="-84091" b="-10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0927A4D-1F72-974C-D103-098B7DA410DE}"/>
                  </a:ext>
                </a:extLst>
              </p:cNvPr>
              <p:cNvSpPr txBox="1"/>
              <p:nvPr/>
            </p:nvSpPr>
            <p:spPr>
              <a:xfrm>
                <a:off x="948266" y="3803662"/>
                <a:ext cx="4270829" cy="733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PH" sz="25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PH" sz="25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 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100 </m:t>
                      </m:r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0927A4D-1F72-974C-D103-098B7DA41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66" y="3803662"/>
                <a:ext cx="4270829" cy="733855"/>
              </a:xfrm>
              <a:prstGeom prst="rect">
                <a:avLst/>
              </a:prstGeom>
              <a:blipFill>
                <a:blip r:embed="rId3"/>
                <a:stretch>
                  <a:fillRect l="-593" r="-1187"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32F7F2-CD4A-8A6D-259F-8CC54A365949}"/>
                  </a:ext>
                </a:extLst>
              </p:cNvPr>
              <p:cNvSpPr txBox="1"/>
              <p:nvPr/>
            </p:nvSpPr>
            <p:spPr>
              <a:xfrm>
                <a:off x="838200" y="5445954"/>
                <a:ext cx="4270829" cy="501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PH" sz="2500">
                                  <a:solidFill>
                                    <a:schemeClr val="bg1"/>
                                  </a:solidFill>
                                </a:rPr>
                                <m:t>3.14159</m:t>
                              </m:r>
                            </m:e>
                          </m:d>
                        </m:e>
                        <m:sup>
                          <m:f>
                            <m:fPr>
                              <m:type m:val="lin"/>
                              <m:ctrlPr>
                                <a:rPr lang="en-PH" sz="25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PH" sz="25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PH" sz="25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∗10</m:t>
                      </m:r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62.83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32F7F2-CD4A-8A6D-259F-8CC54A365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45954"/>
                <a:ext cx="4270829" cy="501099"/>
              </a:xfrm>
              <a:prstGeom prst="rect">
                <a:avLst/>
              </a:prstGeom>
              <a:blipFill>
                <a:blip r:embed="rId4"/>
                <a:stretch>
                  <a:fillRect t="-82927" b="-92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0DE87D-DC84-8935-25A7-FAB28C36E1EB}"/>
                  </a:ext>
                </a:extLst>
              </p:cNvPr>
              <p:cNvSpPr txBox="1"/>
              <p:nvPr/>
            </p:nvSpPr>
            <p:spPr>
              <a:xfrm>
                <a:off x="5482590" y="3978228"/>
                <a:ext cx="3717493" cy="384721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PH" sz="2500" dirty="0">
                    <a:solidFill>
                      <a:schemeClr val="bg1"/>
                    </a:solidFill>
                  </a:rPr>
                  <a:t>Compute determinant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PH" sz="25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PH" sz="25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0DE87D-DC84-8935-25A7-FAB28C36E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590" y="3978228"/>
                <a:ext cx="3717493" cy="384721"/>
              </a:xfrm>
              <a:prstGeom prst="rect">
                <a:avLst/>
              </a:prstGeom>
              <a:blipFill>
                <a:blip r:embed="rId5"/>
                <a:stretch>
                  <a:fillRect l="-4730" t="-20588" b="-38235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646FB5-35B0-3515-FC07-DDCD801EE8F2}"/>
                  </a:ext>
                </a:extLst>
              </p:cNvPr>
              <p:cNvSpPr txBox="1"/>
              <p:nvPr/>
            </p:nvSpPr>
            <p:spPr>
              <a:xfrm>
                <a:off x="5482590" y="4740816"/>
                <a:ext cx="5710409" cy="419282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PH" sz="2500" dirty="0">
                    <a:solidFill>
                      <a:schemeClr val="bg1"/>
                    </a:solidFill>
                  </a:rPr>
                  <a:t>Convert exponential form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25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sz="25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PH" sz="25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PH" sz="25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PH" sz="25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  <m:r>
                      <a:rPr lang="en-PH" sz="25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PH" sz="25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PH" sz="25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g>
                      <m:e>
                        <m:sSup>
                          <m:sSupPr>
                            <m:ctrlPr>
                              <a:rPr lang="en-PH" sz="25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PH" sz="25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PH" sz="25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rad>
                  </m:oMath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646FB5-35B0-3515-FC07-DDCD801EE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590" y="4740816"/>
                <a:ext cx="5710409" cy="419282"/>
              </a:xfrm>
              <a:prstGeom prst="rect">
                <a:avLst/>
              </a:prstGeom>
              <a:blipFill>
                <a:blip r:embed="rId6"/>
                <a:stretch>
                  <a:fillRect l="-3091" t="-100000" b="-113889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4DE965-BF0D-DD28-2557-5A4434D7030B}"/>
                  </a:ext>
                </a:extLst>
              </p:cNvPr>
              <p:cNvSpPr txBox="1"/>
              <p:nvPr/>
            </p:nvSpPr>
            <p:spPr>
              <a:xfrm>
                <a:off x="5482590" y="5527771"/>
                <a:ext cx="2028248" cy="430887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=3.14159</m:t>
                      </m:r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4DE965-BF0D-DD28-2557-5A4434D70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590" y="5527771"/>
                <a:ext cx="2028248" cy="430887"/>
              </a:xfrm>
              <a:prstGeom prst="rect">
                <a:avLst/>
              </a:prstGeom>
              <a:blipFill>
                <a:blip r:embed="rId7"/>
                <a:stretch>
                  <a:fillRect l="-1227" r="-3681" b="-2632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3D8F69-D7A0-00A2-C096-E85CCAAD1E80}"/>
                  </a:ext>
                </a:extLst>
              </p:cNvPr>
              <p:cNvSpPr txBox="1"/>
              <p:nvPr/>
            </p:nvSpPr>
            <p:spPr>
              <a:xfrm>
                <a:off x="768507" y="2123121"/>
                <a:ext cx="10654983" cy="818429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1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2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  <m:r>
                            <a:rPr lang="en-US" sz="2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PH" sz="2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PH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PH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PH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PH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PH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PH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PH" sz="2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PH" sz="21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PH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PH" sz="21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sz="21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GB" sz="2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𝑤𝑜𝑚𝑒𝑛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PH" sz="21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GB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  <m:sup>
                                  <m:r>
                                    <a:rPr lang="en-GB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GB" sz="2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𝑤𝑜𝑚𝑒𝑛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PH" sz="21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3D8F69-D7A0-00A2-C096-E85CCAAD1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07" y="2123121"/>
                <a:ext cx="10654983" cy="818429"/>
              </a:xfrm>
              <a:prstGeom prst="rect">
                <a:avLst/>
              </a:prstGeom>
              <a:blipFill>
                <a:blip r:embed="rId8"/>
                <a:stretch>
                  <a:fillRect b="-49275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6098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557A8-29A3-5B27-CF7A-5192A8D44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8D28C-3E9F-E312-5CD9-A70543BE1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Compute the Gaussian density for each sample</a:t>
            </a:r>
            <a:endParaRPr lang="en-PH" sz="35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570B96-3D7C-BB91-51D6-E3440A1683E5}"/>
                  </a:ext>
                </a:extLst>
              </p:cNvPr>
              <p:cNvSpPr txBox="1"/>
              <p:nvPr/>
            </p:nvSpPr>
            <p:spPr>
              <a:xfrm>
                <a:off x="487798" y="4381066"/>
                <a:ext cx="5608201" cy="875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  <m:sup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570B96-3D7C-BB91-51D6-E3440A168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98" y="4381066"/>
                <a:ext cx="5608201" cy="875561"/>
              </a:xfrm>
              <a:prstGeom prst="rect">
                <a:avLst/>
              </a:prstGeom>
              <a:blipFill>
                <a:blip r:embed="rId2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9E4775-CC82-95B2-15C2-6F1F3799BA98}"/>
                  </a:ext>
                </a:extLst>
              </p:cNvPr>
              <p:cNvSpPr txBox="1"/>
              <p:nvPr/>
            </p:nvSpPr>
            <p:spPr>
              <a:xfrm>
                <a:off x="6406086" y="4812590"/>
                <a:ext cx="5608202" cy="786306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5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PH" sz="25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sz="25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PH" sz="25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e>
                                    <m:r>
                                      <a:rPr lang="en-PH" sz="25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PH" sz="25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e>
                                    <m:r>
                                      <a:rPr lang="en-PH" sz="25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den>
                      </m:f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PH" sz="25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PH" sz="25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5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PH" sz="25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PH" sz="25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9E4775-CC82-95B2-15C2-6F1F3799B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6086" y="4812590"/>
                <a:ext cx="5608202" cy="7863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3C30C4-07ED-CB84-FED1-F7006318ADD5}"/>
                  </a:ext>
                </a:extLst>
              </p:cNvPr>
              <p:cNvSpPr txBox="1"/>
              <p:nvPr/>
            </p:nvSpPr>
            <p:spPr>
              <a:xfrm>
                <a:off x="6406086" y="4188706"/>
                <a:ext cx="3068404" cy="384721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PH" sz="2500" dirty="0">
                    <a:solidFill>
                      <a:schemeClr val="bg1"/>
                    </a:solidFill>
                  </a:rPr>
                  <a:t>Compute inverse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PH" sz="25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PH" sz="25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3C30C4-07ED-CB84-FED1-F7006318A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6086" y="4188706"/>
                <a:ext cx="3068404" cy="384721"/>
              </a:xfrm>
              <a:prstGeom prst="rect">
                <a:avLst/>
              </a:prstGeom>
              <a:blipFill>
                <a:blip r:embed="rId5"/>
                <a:stretch>
                  <a:fillRect l="-5697" t="-17391" b="-42029"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09B007-1D19-262B-8E01-04876D7E84DE}"/>
                  </a:ext>
                </a:extLst>
              </p:cNvPr>
              <p:cNvSpPr txBox="1"/>
              <p:nvPr/>
            </p:nvSpPr>
            <p:spPr>
              <a:xfrm>
                <a:off x="768507" y="2123121"/>
                <a:ext cx="10654983" cy="818429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1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2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  <m:r>
                            <a:rPr lang="en-US" sz="2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PH" sz="2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62.83</m:t>
                          </m:r>
                        </m:den>
                      </m:f>
                      <m:r>
                        <a:rPr lang="en-PH" sz="2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PH" sz="21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PH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PH" sz="21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sz="21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GB" sz="2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𝑤𝑜𝑚𝑒𝑛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PH" sz="21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GB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  <m:sup>
                                  <m:r>
                                    <a:rPr lang="en-GB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GB" sz="2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𝑤𝑜𝑚𝑒𝑛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PH" sz="21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09B007-1D19-262B-8E01-04876D7E8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07" y="2123121"/>
                <a:ext cx="10654983" cy="8184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016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19862-5588-3604-2F2F-E7845C8E6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F0F41-D056-0070-47D7-889FDD355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Compute the Gaussian density for each sample</a:t>
            </a:r>
            <a:endParaRPr lang="en-PH" sz="35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53ED87-63E9-D15D-0BE5-2257420E98B0}"/>
                  </a:ext>
                </a:extLst>
              </p:cNvPr>
              <p:cNvSpPr txBox="1"/>
              <p:nvPr/>
            </p:nvSpPr>
            <p:spPr>
              <a:xfrm>
                <a:off x="1871865" y="3549389"/>
                <a:ext cx="2182971" cy="8632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PH" sz="30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30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PH" sz="30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PH" sz="30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30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PH" sz="30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53ED87-63E9-D15D-0BE5-2257420E9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865" y="3549389"/>
                <a:ext cx="2182971" cy="863250"/>
              </a:xfrm>
              <a:prstGeom prst="rect">
                <a:avLst/>
              </a:prstGeom>
              <a:blipFill>
                <a:blip r:embed="rId2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3486092-5ACF-CF44-81DE-C0C6738F2F10}"/>
                  </a:ext>
                </a:extLst>
              </p:cNvPr>
              <p:cNvSpPr txBox="1"/>
              <p:nvPr/>
            </p:nvSpPr>
            <p:spPr>
              <a:xfrm>
                <a:off x="4645091" y="3520450"/>
                <a:ext cx="2901813" cy="8603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PH" sz="30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30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sz="30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PH" sz="30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30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sz="30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3486092-5ACF-CF44-81DE-C0C6738F2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091" y="3520450"/>
                <a:ext cx="2901813" cy="860364"/>
              </a:xfrm>
              <a:prstGeom prst="rect">
                <a:avLst/>
              </a:prstGeom>
              <a:blipFill>
                <a:blip r:embed="rId3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E5AD5FA-085C-5200-663F-5537ED7D8E17}"/>
                  </a:ext>
                </a:extLst>
              </p:cNvPr>
              <p:cNvSpPr txBox="1"/>
              <p:nvPr/>
            </p:nvSpPr>
            <p:spPr>
              <a:xfrm>
                <a:off x="8029202" y="3646959"/>
                <a:ext cx="3192980" cy="7845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  <m:sup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E5AD5FA-085C-5200-663F-5537ED7D8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202" y="3646959"/>
                <a:ext cx="3192980" cy="784574"/>
              </a:xfrm>
              <a:prstGeom prst="rect">
                <a:avLst/>
              </a:prstGeom>
              <a:blipFill>
                <a:blip r:embed="rId4"/>
                <a:stretch>
                  <a:fillRect l="-794"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A3EA028-DEBE-B118-3863-2A0BA1B572B5}"/>
                  </a:ext>
                </a:extLst>
              </p:cNvPr>
              <p:cNvSpPr txBox="1"/>
              <p:nvPr/>
            </p:nvSpPr>
            <p:spPr>
              <a:xfrm>
                <a:off x="1062601" y="4566126"/>
                <a:ext cx="10477758" cy="927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PH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PH" sz="24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PH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PH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PH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PH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PH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PH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PH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PH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PH" sz="24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PH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PH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en-GB" sz="2400" b="0" i="1" dirty="0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PH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PH" sz="24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en-GB" sz="2400" b="0" i="1" dirty="0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PH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PH" sz="28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PH" sz="28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PH" sz="28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PH" sz="2800" i="1" dirty="0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PH" sz="2800" i="1" dirty="0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PH" sz="2800" i="1" dirty="0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h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PH" sz="2800" b="0" i="1" dirty="0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PH" sz="28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en-GB" sz="2800" b="0" i="1" dirty="0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PH" sz="28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PH" sz="28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PH" sz="28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sub>
                                        </m:sSub>
                                        <m:r>
                                          <a:rPr lang="en-PH" sz="2800" b="0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PH" sz="2800" i="1" dirty="0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PH" sz="28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en-GB" sz="2800" b="0" i="1" dirty="0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PH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A3EA028-DEBE-B118-3863-2A0BA1B57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01" y="4566126"/>
                <a:ext cx="10477758" cy="927562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163E12E-6608-DBC9-BAB6-48CE95A3FA6D}"/>
                  </a:ext>
                </a:extLst>
              </p:cNvPr>
              <p:cNvSpPr txBox="1"/>
              <p:nvPr/>
            </p:nvSpPr>
            <p:spPr>
              <a:xfrm>
                <a:off x="2987961" y="5788417"/>
                <a:ext cx="6216071" cy="753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PH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sz="28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sz="28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PH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PH" sz="2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163E12E-6608-DBC9-BAB6-48CE95A3F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961" y="5788417"/>
                <a:ext cx="6216071" cy="753283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C6C922-D078-94D6-4B1E-26257878BA78}"/>
                  </a:ext>
                </a:extLst>
              </p:cNvPr>
              <p:cNvSpPr txBox="1"/>
              <p:nvPr/>
            </p:nvSpPr>
            <p:spPr>
              <a:xfrm>
                <a:off x="768507" y="2335281"/>
                <a:ext cx="10654983" cy="818429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1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2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  <m:r>
                            <a:rPr lang="en-US" sz="2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PH" sz="2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62.83</m:t>
                          </m:r>
                        </m:den>
                      </m:f>
                      <m:func>
                        <m:funcPr>
                          <m:ctrlP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PH" sz="21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PH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PH" sz="210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sz="21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GB" sz="2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𝑤𝑜𝑚𝑒𝑛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GB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  <m:sup>
                                  <m:r>
                                    <a:rPr lang="en-GB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GB" sz="2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𝑤𝑜𝑚𝑒𝑛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PH" sz="21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C6C922-D078-94D6-4B1E-26257878B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07" y="2335281"/>
                <a:ext cx="10654983" cy="8184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6437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CE1369-D65E-7687-43D8-923B358D9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76C7D-E802-F350-D1EA-EFB89DD65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Compute the Gaussian density for each sample</a:t>
            </a:r>
            <a:endParaRPr lang="en-PH" sz="35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49BE0AA-6A2A-2A41-4F87-DC550B367822}"/>
                  </a:ext>
                </a:extLst>
              </p:cNvPr>
              <p:cNvSpPr txBox="1"/>
              <p:nvPr/>
            </p:nvSpPr>
            <p:spPr>
              <a:xfrm>
                <a:off x="1643236" y="3557216"/>
                <a:ext cx="9200252" cy="911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  <m:sup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5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PH" sz="2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.1 </m:t>
                                </m:r>
                                <m:d>
                                  <m:dPr>
                                    <m:ctrlP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PH" sz="25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PH" sz="25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PH" sz="25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  <m: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PH" sz="25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PH" sz="25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PH" sz="25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PH" sz="25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0.1 </m:t>
                                </m:r>
                                <m:d>
                                  <m:dPr>
                                    <m:ctrlP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PH" sz="25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PH" sz="25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PH" sz="25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  <m: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PH" sz="25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PH" sz="25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PH" sz="25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49BE0AA-6A2A-2A41-4F87-DC550B367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3236" y="3557216"/>
                <a:ext cx="9200252" cy="911916"/>
              </a:xfrm>
              <a:prstGeom prst="rect">
                <a:avLst/>
              </a:prstGeom>
              <a:blipFill>
                <a:blip r:embed="rId2"/>
                <a:stretch>
                  <a:fillRect l="-138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2BFC3E-4A79-950C-FF71-A9F9656CAFFB}"/>
                  </a:ext>
                </a:extLst>
              </p:cNvPr>
              <p:cNvSpPr txBox="1"/>
              <p:nvPr/>
            </p:nvSpPr>
            <p:spPr>
              <a:xfrm>
                <a:off x="768507" y="4591157"/>
                <a:ext cx="10654983" cy="856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5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PH" sz="25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.1 </m:t>
                                </m:r>
                                <m:d>
                                  <m:dPr>
                                    <m:ctrlPr>
                                      <a:rPr lang="en-PH" sz="25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PH" sz="25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PH" sz="25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PH" sz="25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  <m: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PH" sz="25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PH" sz="25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PH" sz="25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PH" sz="25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0.1 </m:t>
                                </m:r>
                                <m:d>
                                  <m:dPr>
                                    <m:ctrlPr>
                                      <a:rPr lang="en-PH" sz="25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PH" sz="25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PH" sz="25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PH" sz="25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  <m:r>
                                      <a:rPr lang="en-PH" sz="25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PH" sz="25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PH" sz="25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PH" sz="2500" b="0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2BFC3E-4A79-950C-FF71-A9F9656CA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07" y="4591157"/>
                <a:ext cx="10654983" cy="856325"/>
              </a:xfrm>
              <a:prstGeom prst="rect">
                <a:avLst/>
              </a:prstGeom>
              <a:blipFill>
                <a:blip r:embed="rId3"/>
                <a:stretch>
                  <a:fillRect b="-1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99AF0D-F1FD-B019-36A6-DD689BBEC986}"/>
                  </a:ext>
                </a:extLst>
              </p:cNvPr>
              <p:cNvSpPr txBox="1"/>
              <p:nvPr/>
            </p:nvSpPr>
            <p:spPr>
              <a:xfrm>
                <a:off x="1205872" y="5765112"/>
                <a:ext cx="10074980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=0.1 </m:t>
                      </m:r>
                      <m:sSup>
                        <m:sSupPr>
                          <m:ctrlP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5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5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5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25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PH" sz="25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.1 </m:t>
                      </m:r>
                      <m:sSup>
                        <m:sSup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PH" sz="25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5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5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25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99AF0D-F1FD-B019-36A6-DD689BBEC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72" y="5765112"/>
                <a:ext cx="10074980" cy="477054"/>
              </a:xfrm>
              <a:prstGeom prst="rect">
                <a:avLst/>
              </a:prstGeom>
              <a:blipFill>
                <a:blip r:embed="rId4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43E3AA-EBBC-CD25-A259-949EA5DF62B1}"/>
                  </a:ext>
                </a:extLst>
              </p:cNvPr>
              <p:cNvSpPr txBox="1"/>
              <p:nvPr/>
            </p:nvSpPr>
            <p:spPr>
              <a:xfrm>
                <a:off x="768507" y="2335281"/>
                <a:ext cx="10654983" cy="818429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1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2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  <m:r>
                            <a:rPr lang="en-US" sz="2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PH" sz="2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62.83</m:t>
                          </m:r>
                        </m:den>
                      </m:f>
                      <m:func>
                        <m:funcPr>
                          <m:ctrlP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PH" sz="21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PH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PH" sz="21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sz="21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GB" sz="2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𝑤𝑜𝑚𝑒𝑛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GB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  <m:sup>
                                  <m:r>
                                    <a:rPr lang="en-GB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GB" sz="2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𝑤𝑜𝑚𝑒𝑛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PH" sz="21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43E3AA-EBBC-CD25-A259-949EA5DF6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07" y="2335281"/>
                <a:ext cx="10654983" cy="8184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0320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AF2BF6-2ABC-8197-D541-B8BBAC13D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0D8B-3CF5-3F8F-C543-5CE3E6373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Compute the Gaussian density for each sample</a:t>
            </a:r>
            <a:endParaRPr lang="en-PH" sz="35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D4CE1F-91B9-9010-663A-B419B1F2A977}"/>
                  </a:ext>
                </a:extLst>
              </p:cNvPr>
              <p:cNvSpPr txBox="1"/>
              <p:nvPr/>
            </p:nvSpPr>
            <p:spPr>
              <a:xfrm>
                <a:off x="1643238" y="3590617"/>
                <a:ext cx="9710562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PH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=0.1 </m:t>
                      </m:r>
                      <m:sSup>
                        <m:sSupPr>
                          <m:ctrlP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5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5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25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PH" sz="25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.1 </m:t>
                      </m:r>
                      <m:sSup>
                        <m:sSup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PH" sz="25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5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5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25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D4CE1F-91B9-9010-663A-B419B1F2A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3238" y="3590617"/>
                <a:ext cx="9710562" cy="477054"/>
              </a:xfrm>
              <a:prstGeom prst="rect">
                <a:avLst/>
              </a:prstGeom>
              <a:blipFill>
                <a:blip r:embed="rId2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E514A7-32BE-C16F-FD2E-B36EB6E0F201}"/>
                  </a:ext>
                </a:extLst>
              </p:cNvPr>
              <p:cNvSpPr txBox="1"/>
              <p:nvPr/>
            </p:nvSpPr>
            <p:spPr>
              <a:xfrm>
                <a:off x="1979876" y="4390904"/>
                <a:ext cx="8789723" cy="8394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PH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PH" sz="25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PH" sz="25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5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5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PH" sz="25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PH" sz="25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PH" sz="2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PH" sz="25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5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5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PH" sz="2500" b="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E514A7-32BE-C16F-FD2E-B36EB6E0F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876" y="4390904"/>
                <a:ext cx="8789723" cy="839461"/>
              </a:xfrm>
              <a:prstGeom prst="rect">
                <a:avLst/>
              </a:prstGeom>
              <a:blipFill>
                <a:blip r:embed="rId3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608C18-F9BB-9D38-6468-C8BFED5BF604}"/>
                  </a:ext>
                </a:extLst>
              </p:cNvPr>
              <p:cNvSpPr txBox="1"/>
              <p:nvPr/>
            </p:nvSpPr>
            <p:spPr>
              <a:xfrm>
                <a:off x="768507" y="2335281"/>
                <a:ext cx="10654983" cy="818429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1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2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  <m:r>
                            <a:rPr lang="en-US" sz="2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PH" sz="2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62.83</m:t>
                          </m:r>
                        </m:den>
                      </m:f>
                      <m:func>
                        <m:funcPr>
                          <m:ctrlP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PH" sz="21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PH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PH" sz="21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sz="21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GB" sz="2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𝑤𝑜𝑚𝑒𝑛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GB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  <m:sup>
                                  <m:r>
                                    <a:rPr lang="en-GB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GB" sz="2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𝑤𝑜𝑚𝑒𝑛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PH" sz="21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608C18-F9BB-9D38-6468-C8BFED5BF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07" y="2335281"/>
                <a:ext cx="10654983" cy="8184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0236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46EAE-5F2D-C764-C1CA-7E5AC623E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F92A9-F7CD-D6F1-887F-2AFAB37C8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Compute the Gaussian density for each sample</a:t>
            </a:r>
            <a:endParaRPr lang="en-PH" sz="35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2EA61B-7931-993B-CA6F-E11CA29A140D}"/>
                  </a:ext>
                </a:extLst>
              </p:cNvPr>
              <p:cNvSpPr txBox="1"/>
              <p:nvPr/>
            </p:nvSpPr>
            <p:spPr>
              <a:xfrm>
                <a:off x="1766003" y="3590617"/>
                <a:ext cx="8659986" cy="8394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PH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PH" sz="2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PH" sz="2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5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5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PH" sz="25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PH" sz="25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PH" sz="2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PH" sz="25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5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5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PH" sz="2500" b="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2EA61B-7931-993B-CA6F-E11CA29A1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003" y="3590617"/>
                <a:ext cx="8659986" cy="839461"/>
              </a:xfrm>
              <a:prstGeom prst="rect">
                <a:avLst/>
              </a:prstGeom>
              <a:blipFill>
                <a:blip r:embed="rId2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C6BF37-422C-6B38-35D1-92EFA0173742}"/>
                  </a:ext>
                </a:extLst>
              </p:cNvPr>
              <p:cNvSpPr txBox="1"/>
              <p:nvPr/>
            </p:nvSpPr>
            <p:spPr>
              <a:xfrm>
                <a:off x="768507" y="4691284"/>
                <a:ext cx="10654983" cy="864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PH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5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160</m:t>
                                  </m:r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PH" sz="25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162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5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5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PH" sz="25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PH" sz="25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57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C6BF37-422C-6B38-35D1-92EFA0173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07" y="4691284"/>
                <a:ext cx="10654983" cy="864276"/>
              </a:xfrm>
              <a:prstGeom prst="rect">
                <a:avLst/>
              </a:prstGeom>
              <a:blipFill>
                <a:blip r:embed="rId3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CF12D7-D480-BD28-E6FE-804C3C0A9AF2}"/>
                  </a:ext>
                </a:extLst>
              </p:cNvPr>
              <p:cNvSpPr txBox="1"/>
              <p:nvPr/>
            </p:nvSpPr>
            <p:spPr>
              <a:xfrm>
                <a:off x="1030794" y="5791951"/>
                <a:ext cx="10392695" cy="8394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PH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5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5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5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5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CF12D7-D480-BD28-E6FE-804C3C0A9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794" y="5791951"/>
                <a:ext cx="10392695" cy="839461"/>
              </a:xfrm>
              <a:prstGeom prst="rect">
                <a:avLst/>
              </a:prstGeom>
              <a:blipFill>
                <a:blip r:embed="rId4"/>
                <a:stretch>
                  <a:fillRect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61232B-EA46-86A4-B4EC-1E5C83D74E68}"/>
                  </a:ext>
                </a:extLst>
              </p:cNvPr>
              <p:cNvSpPr txBox="1"/>
              <p:nvPr/>
            </p:nvSpPr>
            <p:spPr>
              <a:xfrm>
                <a:off x="768507" y="2335281"/>
                <a:ext cx="10654983" cy="818429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1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2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  <m:r>
                            <a:rPr lang="en-US" sz="2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PH" sz="2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62.83</m:t>
                          </m:r>
                        </m:den>
                      </m:f>
                      <m:func>
                        <m:funcPr>
                          <m:ctrlP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PH" sz="21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PH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PH" sz="21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sz="21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GB" sz="2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𝑤𝑜𝑚𝑒𝑛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GB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  <m:sup>
                                  <m:r>
                                    <a:rPr lang="en-GB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GB" sz="2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𝑤𝑜𝑚𝑒𝑛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PH" sz="21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61232B-EA46-86A4-B4EC-1E5C83D7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07" y="2335281"/>
                <a:ext cx="10654983" cy="8184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915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2F879-72AB-8186-21AD-3ED0A1D27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76297-29D0-08FE-0B9E-0CC7389E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Compute the Gaussian density for each sample</a:t>
            </a:r>
            <a:endParaRPr lang="en-PH" sz="35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291BF7-E353-300F-9143-570F28107BAE}"/>
                  </a:ext>
                </a:extLst>
              </p:cNvPr>
              <p:cNvSpPr txBox="1"/>
              <p:nvPr/>
            </p:nvSpPr>
            <p:spPr>
              <a:xfrm>
                <a:off x="768508" y="3421442"/>
                <a:ext cx="10749238" cy="8394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PH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  <m:sup>
                          <m:r>
                            <a:rPr lang="en-GB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GB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5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5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5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5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291BF7-E353-300F-9143-570F28107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08" y="3421442"/>
                <a:ext cx="10749238" cy="839461"/>
              </a:xfrm>
              <a:prstGeom prst="rect">
                <a:avLst/>
              </a:prstGeom>
              <a:blipFill>
                <a:blip r:embed="rId2"/>
                <a:stretch>
                  <a:fillRect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E01651-4094-B170-A6F9-DC3D7E9EF677}"/>
                  </a:ext>
                </a:extLst>
              </p:cNvPr>
              <p:cNvSpPr txBox="1"/>
              <p:nvPr/>
            </p:nvSpPr>
            <p:spPr>
              <a:xfrm>
                <a:off x="195373" y="4454892"/>
                <a:ext cx="11875142" cy="100001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PH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62.83</m:t>
                          </m:r>
                        </m:den>
                      </m:f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PH" sz="3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PH" sz="3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PH" sz="3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3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PH" sz="3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PH" sz="3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×0.8</m:t>
                              </m:r>
                            </m:e>
                          </m:d>
                        </m:e>
                      </m:func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62.83</m:t>
                          </m:r>
                        </m:den>
                      </m:f>
                      <m:r>
                        <a:rPr lang="en-PH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PH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PH" sz="3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PH" sz="3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3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−0.4</m:t>
                              </m:r>
                              <m:r>
                                <a:rPr lang="en-PH" sz="3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E01651-4094-B170-A6F9-DC3D7E9EF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73" y="4454892"/>
                <a:ext cx="11875142" cy="1000017"/>
              </a:xfrm>
              <a:prstGeom prst="rect">
                <a:avLst/>
              </a:prstGeom>
              <a:blipFill>
                <a:blip r:embed="rId3"/>
                <a:stretch>
                  <a:fillRect b="-75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EEFFD2-E4B0-9E11-BEA2-565122BED07A}"/>
                  </a:ext>
                </a:extLst>
              </p:cNvPr>
              <p:cNvSpPr txBox="1"/>
              <p:nvPr/>
            </p:nvSpPr>
            <p:spPr>
              <a:xfrm>
                <a:off x="2225963" y="5624083"/>
                <a:ext cx="7813963" cy="815095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| </m:t>
                          </m:r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𝑤𝑜𝑚𝑒𝑛</m:t>
                              </m:r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62.83</m:t>
                          </m:r>
                        </m:den>
                      </m:f>
                      <m:d>
                        <m:d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6703</m:t>
                          </m:r>
                        </m:e>
                      </m:d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=0.0107</m:t>
                      </m:r>
                    </m:oMath>
                  </m:oMathPara>
                </a14:m>
                <a:endParaRPr lang="en-PH" sz="25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EEFFD2-E4B0-9E11-BEA2-565122BED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3" y="5624083"/>
                <a:ext cx="7813963" cy="815095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7BFF51-740C-9AFD-EBBB-E07199BCBBFD}"/>
                  </a:ext>
                </a:extLst>
              </p:cNvPr>
              <p:cNvSpPr txBox="1"/>
              <p:nvPr/>
            </p:nvSpPr>
            <p:spPr>
              <a:xfrm>
                <a:off x="768507" y="2335281"/>
                <a:ext cx="10654983" cy="818429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1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2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  <m:r>
                            <a:rPr lang="en-US" sz="2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r>
                        <a:rPr lang="en-PH" sz="2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62.83</m:t>
                          </m:r>
                        </m:den>
                      </m:f>
                      <m:func>
                        <m:funcPr>
                          <m:ctrlP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PH" sz="21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PH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PH" sz="21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sz="21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GB" sz="2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𝑤𝑜𝑚𝑒𝑛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GB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  <m:sup>
                                  <m:r>
                                    <a:rPr lang="en-GB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GB" sz="2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𝑤𝑜𝑚𝑒𝑛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PH" sz="21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7BFF51-740C-9AFD-EBBB-E07199BCB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07" y="2335281"/>
                <a:ext cx="10654983" cy="8184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6831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39A06-136C-7B98-1CEE-1468ADA6C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BE596-2122-B91C-3012-16DBB1921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Compute the Gaussian density for each sample</a:t>
            </a:r>
            <a:endParaRPr lang="en-PH" sz="35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F69A1C-E605-A5A8-8593-6E221E4073A4}"/>
                  </a:ext>
                </a:extLst>
              </p:cNvPr>
              <p:cNvSpPr txBox="1"/>
              <p:nvPr/>
            </p:nvSpPr>
            <p:spPr>
              <a:xfrm>
                <a:off x="1856312" y="3590617"/>
                <a:ext cx="8479368" cy="864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  <m:sup>
                          <m: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</m:e>
                      </m:d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PH" sz="2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PH" sz="2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5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5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PH" sz="25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PH" sz="25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PH" sz="2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PH" sz="25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5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5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PH" sz="2500" b="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F69A1C-E605-A5A8-8593-6E221E407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312" y="3590617"/>
                <a:ext cx="8479368" cy="864276"/>
              </a:xfrm>
              <a:prstGeom prst="rect">
                <a:avLst/>
              </a:prstGeom>
              <a:blipFill>
                <a:blip r:embed="rId2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6AEFE7-9FBE-D29D-D519-3F6C92883609}"/>
                  </a:ext>
                </a:extLst>
              </p:cNvPr>
              <p:cNvSpPr txBox="1"/>
              <p:nvPr/>
            </p:nvSpPr>
            <p:spPr>
              <a:xfrm>
                <a:off x="1971381" y="4691284"/>
                <a:ext cx="8249230" cy="864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  <m:sup>
                          <m: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</m:e>
                      </m:d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5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160</m:t>
                                  </m:r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PH" sz="25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185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5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5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PH" sz="25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PH" sz="25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6AEFE7-9FBE-D29D-D519-3F6C92883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381" y="4691284"/>
                <a:ext cx="8249230" cy="864276"/>
              </a:xfrm>
              <a:prstGeom prst="rect">
                <a:avLst/>
              </a:prstGeom>
              <a:blipFill>
                <a:blip r:embed="rId3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42F51B-8024-495C-9CC3-6BE61EDF9C22}"/>
                  </a:ext>
                </a:extLst>
              </p:cNvPr>
              <p:cNvSpPr txBox="1"/>
              <p:nvPr/>
            </p:nvSpPr>
            <p:spPr>
              <a:xfrm>
                <a:off x="682332" y="5791951"/>
                <a:ext cx="10827327" cy="864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  <m:sup>
                          <m: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</m:e>
                      </m:d>
                      <m:r>
                        <a:rPr lang="en-GB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5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5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5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5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625</m:t>
                          </m:r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625</m:t>
                          </m:r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1250</m:t>
                          </m:r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125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42F51B-8024-495C-9CC3-6BE61EDF9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32" y="5791951"/>
                <a:ext cx="10827327" cy="864276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E4CD0F-B1DE-3BA7-9D31-44E4FD35AD41}"/>
                  </a:ext>
                </a:extLst>
              </p:cNvPr>
              <p:cNvSpPr txBox="1"/>
              <p:nvPr/>
            </p:nvSpPr>
            <p:spPr>
              <a:xfrm>
                <a:off x="768507" y="2335281"/>
                <a:ext cx="10654983" cy="818429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1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2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  <m:r>
                            <a:rPr lang="en-US" sz="2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</m:e>
                      </m:d>
                      <m:r>
                        <a:rPr lang="en-PH" sz="2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62.83</m:t>
                          </m:r>
                        </m:den>
                      </m:f>
                      <m:func>
                        <m:funcPr>
                          <m:ctrlP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PH" sz="21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PH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PH" sz="21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sz="21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GB" sz="2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𝑚𝑒𝑛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GB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𝑚𝑒𝑛</m:t>
                                  </m:r>
                                </m:sub>
                                <m:sup>
                                  <m:r>
                                    <a:rPr lang="en-GB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GB" sz="2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𝑚𝑒𝑛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PH" sz="21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E4CD0F-B1DE-3BA7-9D31-44E4FD35A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07" y="2335281"/>
                <a:ext cx="10654983" cy="8184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4036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83637-DEC1-AC02-0B05-C9CE948D9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B301D-04E9-E521-7C79-577FB0149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Compute the Gaussian density for each sample</a:t>
            </a:r>
            <a:endParaRPr lang="en-PH" sz="35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9A7126-4B2F-B43D-97F0-2F05EC73C205}"/>
                  </a:ext>
                </a:extLst>
              </p:cNvPr>
              <p:cNvSpPr txBox="1"/>
              <p:nvPr/>
            </p:nvSpPr>
            <p:spPr>
              <a:xfrm>
                <a:off x="768507" y="4454892"/>
                <a:ext cx="10654983" cy="82323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  <m:r>
                            <a:rPr lang="en-US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</m:e>
                      </m:d>
                      <m:r>
                        <a:rPr lang="en-PH" sz="2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62.83</m:t>
                          </m:r>
                        </m:den>
                      </m:f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PH" sz="25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PH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PH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×</m:t>
                              </m:r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PH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125</m:t>
                              </m:r>
                            </m:e>
                          </m:d>
                        </m:e>
                      </m:func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62.83</m:t>
                          </m:r>
                        </m:den>
                      </m:f>
                      <m:r>
                        <a:rPr lang="en-PH" sz="2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PH" sz="25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PH" sz="2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−62.5</m:t>
                              </m:r>
                              <m:r>
                                <a:rPr lang="en-PH" sz="2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PH" sz="25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9A7126-4B2F-B43D-97F0-2F05EC73C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07" y="4454892"/>
                <a:ext cx="10654983" cy="823239"/>
              </a:xfrm>
              <a:prstGeom prst="rect">
                <a:avLst/>
              </a:prstGeom>
              <a:blipFill>
                <a:blip r:embed="rId2"/>
                <a:stretch>
                  <a:fillRect b="-6061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9C073CB-5BA9-757E-7326-119E635A9F3D}"/>
                  </a:ext>
                </a:extLst>
              </p:cNvPr>
              <p:cNvSpPr txBox="1"/>
              <p:nvPr/>
            </p:nvSpPr>
            <p:spPr>
              <a:xfrm>
                <a:off x="1760936" y="5624083"/>
                <a:ext cx="9221100" cy="815095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|</m:t>
                          </m:r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  <m:r>
                            <a:rPr lang="en-US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</m:e>
                      </m:d>
                      <m:r>
                        <a:rPr lang="en-PH" sz="2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62.83</m:t>
                          </m:r>
                        </m:den>
                      </m:f>
                      <m:d>
                        <m:d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PH" sz="25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×10</m:t>
                              </m:r>
                            </m:e>
                            <m:sup>
                              <m: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−28</m:t>
                              </m:r>
                            </m:sup>
                          </m:sSup>
                        </m:e>
                      </m:d>
                      <m:r>
                        <a:rPr lang="en-PH" sz="25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=1.15</m:t>
                      </m:r>
                      <m:sSup>
                        <m:sSup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×10</m:t>
                          </m:r>
                        </m:e>
                        <m:sup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−29</m:t>
                          </m:r>
                        </m:sup>
                      </m:sSup>
                    </m:oMath>
                  </m:oMathPara>
                </a14:m>
                <a:endParaRPr lang="en-PH" sz="25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9C073CB-5BA9-757E-7326-119E635A9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936" y="5624083"/>
                <a:ext cx="9221100" cy="815095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C21AE7-3523-E212-A7D6-7E3E5E194A85}"/>
                  </a:ext>
                </a:extLst>
              </p:cNvPr>
              <p:cNvSpPr txBox="1"/>
              <p:nvPr/>
            </p:nvSpPr>
            <p:spPr>
              <a:xfrm>
                <a:off x="686952" y="3429000"/>
                <a:ext cx="10818091" cy="864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  <m:sup>
                          <m: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</m:e>
                      </m:d>
                      <m:r>
                        <a:rPr lang="en-GB" sz="2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5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625</m:t>
                          </m:r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625</m:t>
                          </m:r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1250</m:t>
                          </m:r>
                        </m:num>
                        <m:den>
                          <m:r>
                            <a:rPr lang="en-PH" sz="25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PH" sz="25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=125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C21AE7-3523-E212-A7D6-7E3E5E194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52" y="3429000"/>
                <a:ext cx="10818091" cy="864276"/>
              </a:xfrm>
              <a:prstGeom prst="rect">
                <a:avLst/>
              </a:prstGeom>
              <a:blipFill>
                <a:blip r:embed="rId4"/>
                <a:stretch>
                  <a:fillRect r="-117"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1C6B27-B41F-5C45-B55A-5062A2D8FC08}"/>
                  </a:ext>
                </a:extLst>
              </p:cNvPr>
              <p:cNvSpPr txBox="1"/>
              <p:nvPr/>
            </p:nvSpPr>
            <p:spPr>
              <a:xfrm>
                <a:off x="768507" y="2335281"/>
                <a:ext cx="10654983" cy="818429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1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2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  <m:r>
                            <a:rPr lang="en-US" sz="2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PH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1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</m:e>
                      </m:d>
                      <m:r>
                        <a:rPr lang="en-PH" sz="2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62.83</m:t>
                          </m:r>
                        </m:den>
                      </m:f>
                      <m:func>
                        <m:funcPr>
                          <m:ctrlPr>
                            <a:rPr lang="en-PH" sz="2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PH" sz="21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PH" sz="2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PH" sz="21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sz="21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GB" sz="2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𝑚𝑒𝑛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GB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𝑚𝑒𝑛</m:t>
                                  </m:r>
                                </m:sub>
                                <m:sup>
                                  <m:r>
                                    <a:rPr lang="en-GB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PH" sz="21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1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1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GB" sz="2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𝑚𝑒𝑛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PH" sz="21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1C6B27-B41F-5C45-B55A-5062A2D8F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07" y="2335281"/>
                <a:ext cx="10654983" cy="8184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266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A3493-8CCE-A9BD-7C0F-7FE5BEC48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A1B8F-1261-8345-9D98-F6DC56ADE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600" dirty="0">
                <a:solidFill>
                  <a:schemeClr val="bg1"/>
                </a:solidFill>
              </a:rPr>
              <a:t>E-step: </a:t>
            </a:r>
            <a:r>
              <a:rPr lang="en-US" sz="3500" dirty="0">
                <a:solidFill>
                  <a:schemeClr val="bg1"/>
                </a:solidFill>
              </a:rPr>
              <a:t>Compute responsibilities</a:t>
            </a:r>
            <a:endParaRPr lang="en-PH" sz="35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7EEA42-B215-02E4-C1A1-65264ED5EC8A}"/>
                  </a:ext>
                </a:extLst>
              </p:cNvPr>
              <p:cNvSpPr txBox="1"/>
              <p:nvPr/>
            </p:nvSpPr>
            <p:spPr>
              <a:xfrm>
                <a:off x="1852805" y="3963370"/>
                <a:ext cx="8226743" cy="1124154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0.5</m:t>
                          </m:r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PH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PH" sz="3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PH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.0107</m:t>
                          </m:r>
                        </m:num>
                        <m:den>
                          <m:r>
                            <a:rPr lang="en-PH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0.5</m:t>
                          </m:r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PH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PH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0.0107</m:t>
                          </m:r>
                          <m:r>
                            <a:rPr lang="en-PH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+0.5</m:t>
                          </m:r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PH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PH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PH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PH" sz="35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7EEA42-B215-02E4-C1A1-65264ED5E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805" y="3963370"/>
                <a:ext cx="8226743" cy="1124154"/>
              </a:xfrm>
              <a:prstGeom prst="rect">
                <a:avLst/>
              </a:prstGeom>
              <a:blipFill>
                <a:blip r:embed="rId2"/>
                <a:stretch>
                  <a:fillRect t="-1075" b="-19355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66EC66-9EC2-8EDD-6D85-963A53006D32}"/>
                  </a:ext>
                </a:extLst>
              </p:cNvPr>
              <p:cNvSpPr txBox="1"/>
              <p:nvPr/>
            </p:nvSpPr>
            <p:spPr>
              <a:xfrm>
                <a:off x="1222057" y="2304332"/>
                <a:ext cx="10052685" cy="1364861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PH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PH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PH" sz="3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PH" sz="3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PH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PH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PH" sz="3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PH" sz="3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3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PH" sz="3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PH" sz="3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3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PH" sz="3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PH" sz="3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3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3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PH" sz="3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PH" sz="3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3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PH" sz="3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PH" sz="3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PH" sz="3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PH" sz="3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PH" sz="3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PH" sz="3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PH" sz="3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3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PH" sz="35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</m:sSub>
                              <m:r>
                                <a:rPr lang="en-PH" sz="3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PH" sz="3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PH" sz="3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3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PH" sz="3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PH" sz="3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35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PH" sz="3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PH" sz="3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3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PH" sz="35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𝐽</m:t>
                                      </m:r>
                                    </m:sub>
                                  </m:sSub>
                                  <m:r>
                                    <a:rPr lang="en-PH" sz="3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PH" sz="3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3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en-PH" sz="35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𝐽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PH" sz="35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66EC66-9EC2-8EDD-6D85-963A53006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57" y="2304332"/>
                <a:ext cx="10052685" cy="1364861"/>
              </a:xfrm>
              <a:prstGeom prst="rect">
                <a:avLst/>
              </a:prstGeom>
              <a:blipFill>
                <a:blip r:embed="rId3"/>
                <a:stretch>
                  <a:fillRect t="-14414" b="-88288"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029C27-AD3C-5849-350C-C7194BE0167F}"/>
                  </a:ext>
                </a:extLst>
              </p:cNvPr>
              <p:cNvSpPr txBox="1"/>
              <p:nvPr/>
            </p:nvSpPr>
            <p:spPr>
              <a:xfrm>
                <a:off x="1920537" y="5312393"/>
                <a:ext cx="8091277" cy="1124154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0.5×</m:t>
                          </m:r>
                          <m:r>
                            <a:rPr lang="en-PH" sz="3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PH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0.5</m:t>
                          </m:r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PH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PH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0.0107</m:t>
                          </m:r>
                          <m:r>
                            <a:rPr lang="en-PH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+0.5</m:t>
                          </m:r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PH" sz="3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PH" sz="3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PH" sz="3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35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029C27-AD3C-5849-350C-C7194BE01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537" y="5312393"/>
                <a:ext cx="8091277" cy="1124154"/>
              </a:xfrm>
              <a:prstGeom prst="rect">
                <a:avLst/>
              </a:prstGeom>
              <a:blipFill>
                <a:blip r:embed="rId4"/>
                <a:stretch>
                  <a:fillRect b="-20430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8702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883B8E-DC45-C12C-DAB1-FAC6FB38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30A8F-4BCF-32F1-846D-4316C8519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600" dirty="0">
                <a:solidFill>
                  <a:schemeClr val="bg1"/>
                </a:solidFill>
              </a:rPr>
              <a:t>E-step: </a:t>
            </a:r>
            <a:r>
              <a:rPr lang="en-US" sz="3500" dirty="0">
                <a:solidFill>
                  <a:schemeClr val="bg1"/>
                </a:solidFill>
              </a:rPr>
              <a:t>Compute responsibilities</a:t>
            </a:r>
            <a:endParaRPr lang="en-PH" sz="3500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13FDC4-E5F4-F889-73E1-54D62F95A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162437"/>
              </p:ext>
            </p:extLst>
          </p:nvPr>
        </p:nvGraphicFramePr>
        <p:xfrm>
          <a:off x="838200" y="2151932"/>
          <a:ext cx="10515600" cy="33070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4611112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710589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9922075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3842797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917339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b="1" dirty="0">
                          <a:solidFill>
                            <a:schemeClr val="bg1"/>
                          </a:solidFill>
                        </a:rPr>
                        <a:t>Person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b="1" dirty="0">
                          <a:solidFill>
                            <a:schemeClr val="bg1"/>
                          </a:solidFill>
                        </a:rPr>
                        <a:t>Height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b="1" dirty="0">
                          <a:solidFill>
                            <a:schemeClr val="bg1"/>
                          </a:solidFill>
                        </a:rPr>
                        <a:t>Weight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b="1" dirty="0">
                          <a:solidFill>
                            <a:schemeClr val="bg1"/>
                          </a:solidFill>
                        </a:rPr>
                        <a:t>Women 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2500" b="1" dirty="0">
                          <a:solidFill>
                            <a:schemeClr val="bg1"/>
                          </a:solidFill>
                        </a:rPr>
                        <a:t>Men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349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>
                          <a:solidFill>
                            <a:schemeClr val="bg1"/>
                          </a:solidFill>
                        </a:rPr>
                        <a:t>160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55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971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>
                          <a:solidFill>
                            <a:schemeClr val="bg1"/>
                          </a:solidFill>
                        </a:rPr>
                        <a:t>165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60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PH" sz="2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PH" sz="2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247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>
                          <a:solidFill>
                            <a:schemeClr val="bg1"/>
                          </a:solidFill>
                        </a:rPr>
                        <a:t>170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>
                          <a:solidFill>
                            <a:schemeClr val="bg1"/>
                          </a:solidFill>
                        </a:rPr>
                        <a:t>65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PH" sz="2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PH" sz="2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933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75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PH" sz="2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PH" sz="2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145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>
                          <a:solidFill>
                            <a:schemeClr val="bg1"/>
                          </a:solidFill>
                        </a:rPr>
                        <a:t>185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80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PH" sz="2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PH" sz="2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814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190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85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PH" sz="2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PH" sz="2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889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957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C3A38-64F6-4BC9-8BB5-C23377E24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BAE95-8F07-D0B3-181C-45CB96524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3600" dirty="0">
                <a:solidFill>
                  <a:schemeClr val="bg1"/>
                </a:solidFill>
              </a:rPr>
              <a:t>E-step: </a:t>
            </a:r>
            <a:r>
              <a:rPr lang="en-US" sz="3500" dirty="0">
                <a:solidFill>
                  <a:schemeClr val="bg1"/>
                </a:solidFill>
              </a:rPr>
              <a:t>Compute responsibilities</a:t>
            </a:r>
            <a:endParaRPr lang="en-PH" sz="3500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1C09E0-43DA-A41F-214F-3013D9D46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927400"/>
              </p:ext>
            </p:extLst>
          </p:nvPr>
        </p:nvGraphicFramePr>
        <p:xfrm>
          <a:off x="838200" y="2151932"/>
          <a:ext cx="10515600" cy="33070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4611112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710589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9922075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3842797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917339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b="1" dirty="0">
                          <a:solidFill>
                            <a:schemeClr val="bg1"/>
                          </a:solidFill>
                        </a:rPr>
                        <a:t>Person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b="1" dirty="0">
                          <a:solidFill>
                            <a:schemeClr val="bg1"/>
                          </a:solidFill>
                        </a:rPr>
                        <a:t>Height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b="1" dirty="0">
                          <a:solidFill>
                            <a:schemeClr val="bg1"/>
                          </a:solidFill>
                        </a:rPr>
                        <a:t>Weight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b="1" dirty="0">
                          <a:solidFill>
                            <a:schemeClr val="bg1"/>
                          </a:solidFill>
                        </a:rPr>
                        <a:t>Women 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2500" b="1" dirty="0">
                          <a:solidFill>
                            <a:schemeClr val="bg1"/>
                          </a:solidFill>
                        </a:rPr>
                        <a:t>Men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349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>
                          <a:solidFill>
                            <a:schemeClr val="bg1"/>
                          </a:solidFill>
                        </a:rPr>
                        <a:t>160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55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971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>
                          <a:solidFill>
                            <a:schemeClr val="bg1"/>
                          </a:solidFill>
                        </a:rPr>
                        <a:t>165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60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247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>
                          <a:solidFill>
                            <a:schemeClr val="bg1"/>
                          </a:solidFill>
                        </a:rPr>
                        <a:t>170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>
                          <a:solidFill>
                            <a:schemeClr val="bg1"/>
                          </a:solidFill>
                        </a:rPr>
                        <a:t>65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933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75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145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>
                          <a:solidFill>
                            <a:schemeClr val="bg1"/>
                          </a:solidFill>
                        </a:rPr>
                        <a:t>185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80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814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190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85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8893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3F4F5A-C0DC-96F6-A3C8-31B389AF5B34}"/>
                  </a:ext>
                </a:extLst>
              </p:cNvPr>
              <p:cNvSpPr txBox="1"/>
              <p:nvPr/>
            </p:nvSpPr>
            <p:spPr>
              <a:xfrm>
                <a:off x="2950908" y="5793104"/>
                <a:ext cx="6355907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>
                    <a:solidFill>
                      <a:schemeClr val="bg1"/>
                    </a:solidFill>
                  </a:rPr>
                  <a:t>Compute responsibilities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25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𝑖𝑐</m:t>
                        </m:r>
                      </m:sub>
                    </m:sSub>
                  </m:oMath>
                </a14:m>
                <a:r>
                  <a:rPr lang="en-US" sz="2500" dirty="0">
                    <a:solidFill>
                      <a:schemeClr val="bg1"/>
                    </a:solidFill>
                  </a:rPr>
                  <a:t> for each sample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3F4F5A-C0DC-96F6-A3C8-31B389AF5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908" y="5793104"/>
                <a:ext cx="6355907" cy="477054"/>
              </a:xfrm>
              <a:prstGeom prst="rect">
                <a:avLst/>
              </a:prstGeom>
              <a:blipFill>
                <a:blip r:embed="rId3"/>
                <a:stretch>
                  <a:fillRect l="-1597" t="-10526" r="-599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6367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6BF318-44C1-16DA-D165-C15475640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E102-ABE9-AE9F-013D-2E280E877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/>
                </a:solidFill>
              </a:rPr>
              <a:t>M-step: Update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7A83E2-A937-141C-60BE-E9A76F5DBDA1}"/>
                  </a:ext>
                </a:extLst>
              </p:cNvPr>
              <p:cNvSpPr txBox="1"/>
              <p:nvPr/>
            </p:nvSpPr>
            <p:spPr>
              <a:xfrm>
                <a:off x="1493990" y="2070720"/>
                <a:ext cx="2496027" cy="12126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𝑖𝑐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7A83E2-A937-141C-60BE-E9A76F5DB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990" y="2070720"/>
                <a:ext cx="2496027" cy="12126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6767AD-E85A-439E-B910-424BB9EA9B31}"/>
                  </a:ext>
                </a:extLst>
              </p:cNvPr>
              <p:cNvSpPr txBox="1"/>
              <p:nvPr/>
            </p:nvSpPr>
            <p:spPr>
              <a:xfrm>
                <a:off x="1330879" y="5003982"/>
                <a:ext cx="2496027" cy="88004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6767AD-E85A-439E-B910-424BB9EA9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879" y="5003982"/>
                <a:ext cx="2496027" cy="8800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23DB038-3EFE-8D46-68AE-5D5851ED3C90}"/>
                  </a:ext>
                </a:extLst>
              </p:cNvPr>
              <p:cNvSpPr txBox="1"/>
              <p:nvPr/>
            </p:nvSpPr>
            <p:spPr>
              <a:xfrm>
                <a:off x="6895686" y="2117837"/>
                <a:ext cx="3418048" cy="116743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𝑖𝑐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23DB038-3EFE-8D46-68AE-5D5851ED3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686" y="2117837"/>
                <a:ext cx="3418048" cy="11674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757561-7390-1133-D6CE-F4819E69D48F}"/>
                  </a:ext>
                </a:extLst>
              </p:cNvPr>
              <p:cNvSpPr txBox="1"/>
              <p:nvPr/>
            </p:nvSpPr>
            <p:spPr>
              <a:xfrm>
                <a:off x="5356382" y="4860288"/>
                <a:ext cx="6835618" cy="116743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𝑖𝑐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757561-7390-1133-D6CE-F4819E69D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382" y="4860288"/>
                <a:ext cx="6835618" cy="11674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Graphic 12" descr="Badge 1 with solid fill">
            <a:extLst>
              <a:ext uri="{FF2B5EF4-FFF2-40B4-BE49-F238E27FC236}">
                <a16:creationId xmlns:a16="http://schemas.microsoft.com/office/drawing/2014/main" id="{43804C6E-EDC8-B9BE-664B-8AF192B12E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9590" y="2193687"/>
            <a:ext cx="914400" cy="914400"/>
          </a:xfrm>
          <a:prstGeom prst="rect">
            <a:avLst/>
          </a:prstGeom>
        </p:spPr>
      </p:pic>
      <p:pic>
        <p:nvPicPr>
          <p:cNvPr id="15" name="Graphic 14" descr="Badge 4 with solid fill">
            <a:extLst>
              <a:ext uri="{FF2B5EF4-FFF2-40B4-BE49-F238E27FC236}">
                <a16:creationId xmlns:a16="http://schemas.microsoft.com/office/drawing/2014/main" id="{686A0D7B-12FB-819C-B037-943E46D8F7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35242" y="4986805"/>
            <a:ext cx="914400" cy="914400"/>
          </a:xfrm>
          <a:prstGeom prst="rect">
            <a:avLst/>
          </a:prstGeom>
        </p:spPr>
      </p:pic>
      <p:pic>
        <p:nvPicPr>
          <p:cNvPr id="17" name="Graphic 16" descr="Badge 3 with solid fill">
            <a:extLst>
              <a:ext uri="{FF2B5EF4-FFF2-40B4-BE49-F238E27FC236}">
                <a16:creationId xmlns:a16="http://schemas.microsoft.com/office/drawing/2014/main" id="{24F8A444-565D-A3BC-4099-907048B1B6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81286" y="2193687"/>
            <a:ext cx="914400" cy="914400"/>
          </a:xfrm>
          <a:prstGeom prst="rect">
            <a:avLst/>
          </a:prstGeom>
        </p:spPr>
      </p:pic>
      <p:pic>
        <p:nvPicPr>
          <p:cNvPr id="19" name="Graphic 18" descr="Badge with solid fill">
            <a:extLst>
              <a:ext uri="{FF2B5EF4-FFF2-40B4-BE49-F238E27FC236}">
                <a16:creationId xmlns:a16="http://schemas.microsoft.com/office/drawing/2014/main" id="{35D688A4-773F-7390-6E2B-3DEC595F1A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9590" y="5003982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C9AD252-6858-B451-7B94-5A0329C79785}"/>
              </a:ext>
            </a:extLst>
          </p:cNvPr>
          <p:cNvSpPr txBox="1"/>
          <p:nvPr/>
        </p:nvSpPr>
        <p:spPr>
          <a:xfrm>
            <a:off x="7750290" y="3443400"/>
            <a:ext cx="1713199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Update means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AA9B77-F440-12CE-8758-79BCD68140E8}"/>
              </a:ext>
            </a:extLst>
          </p:cNvPr>
          <p:cNvSpPr txBox="1"/>
          <p:nvPr/>
        </p:nvSpPr>
        <p:spPr>
          <a:xfrm>
            <a:off x="1628766" y="6118233"/>
            <a:ext cx="2706476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Update mixing coefficient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BA5948-430C-2F71-A7DF-500E329DCA79}"/>
              </a:ext>
            </a:extLst>
          </p:cNvPr>
          <p:cNvSpPr txBox="1"/>
          <p:nvPr/>
        </p:nvSpPr>
        <p:spPr>
          <a:xfrm>
            <a:off x="7239550" y="6118233"/>
            <a:ext cx="2973085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Update covariance matrices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C31F66-3D9D-D254-D8E1-65FC60CB634D}"/>
              </a:ext>
            </a:extLst>
          </p:cNvPr>
          <p:cNvSpPr txBox="1"/>
          <p:nvPr/>
        </p:nvSpPr>
        <p:spPr>
          <a:xfrm>
            <a:off x="838200" y="3565248"/>
            <a:ext cx="4704587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Get total number points for each of cluster</a:t>
            </a:r>
          </a:p>
        </p:txBody>
      </p:sp>
    </p:spTree>
    <p:extLst>
      <p:ext uri="{BB962C8B-B14F-4D97-AF65-F5344CB8AC3E}">
        <p14:creationId xmlns:p14="http://schemas.microsoft.com/office/powerpoint/2010/main" val="120497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891496-FD08-8AAB-BBC4-986FF8620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84B4-6B68-B834-F00F-E1EDA4A42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/>
                </a:solidFill>
              </a:rPr>
              <a:t>M-step: Update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A010BE-59E6-8699-796B-AD33BE88E3B7}"/>
                  </a:ext>
                </a:extLst>
              </p:cNvPr>
              <p:cNvSpPr txBox="1"/>
              <p:nvPr/>
            </p:nvSpPr>
            <p:spPr>
              <a:xfrm>
                <a:off x="4847986" y="2267276"/>
                <a:ext cx="2496027" cy="12126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PH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𝑖𝑐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A010BE-59E6-8699-796B-AD33BE88E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86" y="2267276"/>
                <a:ext cx="2496027" cy="12126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9B1581B-6D52-01CC-7462-7E910E14DF30}"/>
              </a:ext>
            </a:extLst>
          </p:cNvPr>
          <p:cNvSpPr txBox="1"/>
          <p:nvPr/>
        </p:nvSpPr>
        <p:spPr>
          <a:xfrm>
            <a:off x="3986588" y="3688040"/>
            <a:ext cx="4704587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Get total number points for each of cluster</a:t>
            </a:r>
          </a:p>
        </p:txBody>
      </p:sp>
      <p:pic>
        <p:nvPicPr>
          <p:cNvPr id="13" name="Graphic 12" descr="Badge 1 with solid fill">
            <a:extLst>
              <a:ext uri="{FF2B5EF4-FFF2-40B4-BE49-F238E27FC236}">
                <a16:creationId xmlns:a16="http://schemas.microsoft.com/office/drawing/2014/main" id="{83CA96A9-D480-6B5D-8288-D1A995E8C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9396" y="2416396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2093FD-4668-F860-357F-2645A89AD891}"/>
                  </a:ext>
                </a:extLst>
              </p:cNvPr>
              <p:cNvSpPr txBox="1"/>
              <p:nvPr/>
            </p:nvSpPr>
            <p:spPr>
              <a:xfrm>
                <a:off x="3125191" y="4550792"/>
                <a:ext cx="6427382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1+1+1+0+0+0=3</m:t>
                      </m:r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2093FD-4668-F860-357F-2645A89AD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191" y="4550792"/>
                <a:ext cx="6427382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2146A0-1243-C31F-6079-742055AFAAD2}"/>
                  </a:ext>
                </a:extLst>
              </p:cNvPr>
              <p:cNvSpPr txBox="1"/>
              <p:nvPr/>
            </p:nvSpPr>
            <p:spPr>
              <a:xfrm>
                <a:off x="3125191" y="5477633"/>
                <a:ext cx="6142942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0+0+0+1+1+1=3</m:t>
                      </m:r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2146A0-1243-C31F-6079-742055AFA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191" y="5477633"/>
                <a:ext cx="6142942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631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12D5DF-DF3C-D96B-A516-0267CBD97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F56E7-05E3-8311-4A12-B552B638F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/>
                </a:solidFill>
              </a:rPr>
              <a:t>M-step: Update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A964CB-9C14-F4CF-3F45-BF6B90619CA4}"/>
                  </a:ext>
                </a:extLst>
              </p:cNvPr>
              <p:cNvSpPr txBox="1"/>
              <p:nvPr/>
            </p:nvSpPr>
            <p:spPr>
              <a:xfrm>
                <a:off x="4358806" y="4140968"/>
                <a:ext cx="4102148" cy="959686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A964CB-9C14-F4CF-3F45-BF6B90619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806" y="4140968"/>
                <a:ext cx="4102148" cy="9596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D47294-13A8-9FEB-8520-3E6B1B6618F9}"/>
                  </a:ext>
                </a:extLst>
              </p:cNvPr>
              <p:cNvSpPr txBox="1"/>
              <p:nvPr/>
            </p:nvSpPr>
            <p:spPr>
              <a:xfrm>
                <a:off x="4390786" y="5445139"/>
                <a:ext cx="3596799" cy="959686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GB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D47294-13A8-9FEB-8520-3E6B1B661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786" y="5445139"/>
                <a:ext cx="3596799" cy="9596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2A74A5-ECF2-DA5C-31D9-AC480777C2AC}"/>
                  </a:ext>
                </a:extLst>
              </p:cNvPr>
              <p:cNvSpPr txBox="1"/>
              <p:nvPr/>
            </p:nvSpPr>
            <p:spPr>
              <a:xfrm>
                <a:off x="4847986" y="2165273"/>
                <a:ext cx="2496027" cy="88004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2A74A5-ECF2-DA5C-31D9-AC480777C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86" y="2165273"/>
                <a:ext cx="2496027" cy="8800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phic 5" descr="Badge with solid fill">
            <a:extLst>
              <a:ext uri="{FF2B5EF4-FFF2-40B4-BE49-F238E27FC236}">
                <a16:creationId xmlns:a16="http://schemas.microsoft.com/office/drawing/2014/main" id="{5D99A93C-B304-CF91-182D-25D30CF3F4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33586" y="2168265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7F984D-CE70-1FCB-3FDA-7234B1B57103}"/>
              </a:ext>
            </a:extLst>
          </p:cNvPr>
          <p:cNvSpPr txBox="1"/>
          <p:nvPr/>
        </p:nvSpPr>
        <p:spPr>
          <a:xfrm>
            <a:off x="5246834" y="3427151"/>
            <a:ext cx="2828529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Update mixing coefficients</a:t>
            </a:r>
          </a:p>
        </p:txBody>
      </p:sp>
    </p:spTree>
    <p:extLst>
      <p:ext uri="{BB962C8B-B14F-4D97-AF65-F5344CB8AC3E}">
        <p14:creationId xmlns:p14="http://schemas.microsoft.com/office/powerpoint/2010/main" val="1609927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B30699-0775-8158-B0D3-873821623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72821-A35C-99B6-E954-F23F5C3D5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/>
                </a:solidFill>
              </a:rPr>
              <a:t>M-step: Update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AD5F99-C6A1-8727-1089-3D147500DAEA}"/>
                  </a:ext>
                </a:extLst>
              </p:cNvPr>
              <p:cNvSpPr txBox="1"/>
              <p:nvPr/>
            </p:nvSpPr>
            <p:spPr>
              <a:xfrm>
                <a:off x="4386974" y="2151932"/>
                <a:ext cx="3418048" cy="116743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𝑖𝑐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AD5F99-C6A1-8727-1089-3D147500D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974" y="2151932"/>
                <a:ext cx="3418048" cy="1167435"/>
              </a:xfrm>
              <a:prstGeom prst="rect">
                <a:avLst/>
              </a:prstGeom>
              <a:blipFill>
                <a:blip r:embed="rId2"/>
                <a:stretch>
                  <a:fillRect t="-120833" b="-166667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1DBDEB-2369-7351-3D84-F31FDA106BF5}"/>
                  </a:ext>
                </a:extLst>
              </p:cNvPr>
              <p:cNvSpPr txBox="1"/>
              <p:nvPr/>
            </p:nvSpPr>
            <p:spPr>
              <a:xfrm>
                <a:off x="40260" y="4033179"/>
                <a:ext cx="4608858" cy="7644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3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PH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h𝑒𝑖𝑔h𝑡</m:t>
                          </m:r>
                        </m:sub>
                      </m:sSub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160+165+170</m:t>
                          </m:r>
                        </m:num>
                        <m:den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=165</m:t>
                      </m:r>
                    </m:oMath>
                  </m:oMathPara>
                </a14:m>
                <a:endParaRPr lang="en-PH" sz="23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1DBDEB-2369-7351-3D84-F31FDA106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0" y="4033179"/>
                <a:ext cx="4608858" cy="7644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44FD43-1D6A-C415-2208-D78CE3AD661A}"/>
                  </a:ext>
                </a:extLst>
              </p:cNvPr>
              <p:cNvSpPr txBox="1"/>
              <p:nvPr/>
            </p:nvSpPr>
            <p:spPr>
              <a:xfrm>
                <a:off x="40260" y="5957873"/>
                <a:ext cx="2363718" cy="68974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3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3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3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3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44FD43-1D6A-C415-2208-D78CE3AD6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0" y="5957873"/>
                <a:ext cx="2363718" cy="6897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phic 2" descr="Badge 3 with solid fill">
            <a:extLst>
              <a:ext uri="{FF2B5EF4-FFF2-40B4-BE49-F238E27FC236}">
                <a16:creationId xmlns:a16="http://schemas.microsoft.com/office/drawing/2014/main" id="{8B1E27D2-5ADD-6F98-3485-582BA3A477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2574" y="2278449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FD9375-B16F-69DE-AC87-39E565172297}"/>
              </a:ext>
            </a:extLst>
          </p:cNvPr>
          <p:cNvSpPr txBox="1"/>
          <p:nvPr/>
        </p:nvSpPr>
        <p:spPr>
          <a:xfrm>
            <a:off x="5139293" y="3429000"/>
            <a:ext cx="1713199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Update means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B93517-2A80-EF60-0B0F-7733AE3E1422}"/>
                  </a:ext>
                </a:extLst>
              </p:cNvPr>
              <p:cNvSpPr txBox="1"/>
              <p:nvPr/>
            </p:nvSpPr>
            <p:spPr>
              <a:xfrm>
                <a:off x="40260" y="4925662"/>
                <a:ext cx="3969880" cy="7644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3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PH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𝑤𝑒𝑖𝑔h𝑡</m:t>
                          </m:r>
                        </m:sub>
                      </m:sSub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55+60+65</m:t>
                          </m:r>
                        </m:num>
                        <m:den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=60</m:t>
                      </m:r>
                    </m:oMath>
                  </m:oMathPara>
                </a14:m>
                <a:endParaRPr lang="en-PH" sz="23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B93517-2A80-EF60-0B0F-7733AE3E1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0" y="4925662"/>
                <a:ext cx="3969880" cy="7644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AF9312-1C89-4603-B37D-FFD69EEE981D}"/>
                  </a:ext>
                </a:extLst>
              </p:cNvPr>
              <p:cNvSpPr txBox="1"/>
              <p:nvPr/>
            </p:nvSpPr>
            <p:spPr>
              <a:xfrm>
                <a:off x="7658492" y="4040360"/>
                <a:ext cx="4305825" cy="7644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3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180+185+190</m:t>
                          </m:r>
                        </m:num>
                        <m:den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=185</m:t>
                      </m:r>
                    </m:oMath>
                  </m:oMathPara>
                </a14:m>
                <a:endParaRPr lang="en-PH" sz="23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AF9312-1C89-4603-B37D-FFD69EEE9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492" y="4040360"/>
                <a:ext cx="4305825" cy="7644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4A5EFE-05A6-CF85-D2C3-D2E239373DC3}"/>
                  </a:ext>
                </a:extLst>
              </p:cNvPr>
              <p:cNvSpPr txBox="1"/>
              <p:nvPr/>
            </p:nvSpPr>
            <p:spPr>
              <a:xfrm>
                <a:off x="7805022" y="5957872"/>
                <a:ext cx="1922872" cy="68974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3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3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3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3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4A5EFE-05A6-CF85-D2C3-D2E239373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022" y="5957872"/>
                <a:ext cx="1922872" cy="6897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7A7904-1713-B668-E86A-46FC0D2D42D4}"/>
                  </a:ext>
                </a:extLst>
              </p:cNvPr>
              <p:cNvSpPr txBox="1"/>
              <p:nvPr/>
            </p:nvSpPr>
            <p:spPr>
              <a:xfrm>
                <a:off x="7658493" y="4829165"/>
                <a:ext cx="3695308" cy="7644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3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75+80+85</m:t>
                          </m:r>
                        </m:num>
                        <m:den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80 </m:t>
                      </m:r>
                    </m:oMath>
                  </m:oMathPara>
                </a14:m>
                <a:endParaRPr lang="en-PH" sz="23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7A7904-1713-B668-E86A-46FC0D2D4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493" y="4829165"/>
                <a:ext cx="3695308" cy="764440"/>
              </a:xfrm>
              <a:prstGeom prst="rect">
                <a:avLst/>
              </a:prstGeom>
              <a:blipFill>
                <a:blip r:embed="rId10"/>
                <a:stretch>
                  <a:fillRect r="-1017" b="-3077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3993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DC499-D553-4E4C-7C02-9BBBBA20D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C4C8B-B0C0-63AB-336E-4C451B640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/>
                </a:solidFill>
              </a:rPr>
              <a:t>M-step: Update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25F029-1932-6073-838C-482DCFE758EE}"/>
                  </a:ext>
                </a:extLst>
              </p:cNvPr>
              <p:cNvSpPr txBox="1"/>
              <p:nvPr/>
            </p:nvSpPr>
            <p:spPr>
              <a:xfrm>
                <a:off x="2678191" y="2151932"/>
                <a:ext cx="6835618" cy="116743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𝑖𝑐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PH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25F029-1932-6073-838C-482DCFE75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191" y="2151932"/>
                <a:ext cx="6835618" cy="11674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c 4" descr="Badge 4 with solid fill">
            <a:extLst>
              <a:ext uri="{FF2B5EF4-FFF2-40B4-BE49-F238E27FC236}">
                <a16:creationId xmlns:a16="http://schemas.microsoft.com/office/drawing/2014/main" id="{6067AE91-D798-E437-ED6E-FDF8261CE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8303" y="2278449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094349-A7C0-8BA1-19F1-AFBAB31B1FE8}"/>
              </a:ext>
            </a:extLst>
          </p:cNvPr>
          <p:cNvSpPr txBox="1"/>
          <p:nvPr/>
        </p:nvSpPr>
        <p:spPr>
          <a:xfrm>
            <a:off x="4609457" y="3429000"/>
            <a:ext cx="2973085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Update covariance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39459D-DCD9-1E69-6252-734F36BF6A54}"/>
                  </a:ext>
                </a:extLst>
              </p:cNvPr>
              <p:cNvSpPr txBox="1"/>
              <p:nvPr/>
            </p:nvSpPr>
            <p:spPr>
              <a:xfrm>
                <a:off x="3669141" y="3993379"/>
                <a:ext cx="2182971" cy="862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160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39459D-DCD9-1E69-6252-734F36BF6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141" y="3993379"/>
                <a:ext cx="2182971" cy="8621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81F2A8-15B1-285E-0614-66F4FADD4E55}"/>
                  </a:ext>
                </a:extLst>
              </p:cNvPr>
              <p:cNvSpPr txBox="1"/>
              <p:nvPr/>
            </p:nvSpPr>
            <p:spPr>
              <a:xfrm>
                <a:off x="6419985" y="3993378"/>
                <a:ext cx="2182971" cy="871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165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81F2A8-15B1-285E-0614-66F4FADD4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985" y="3993378"/>
                <a:ext cx="2182971" cy="8715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7CAD4-35E0-FB72-C9BB-F8A31F3B77D3}"/>
                  </a:ext>
                </a:extLst>
              </p:cNvPr>
              <p:cNvSpPr txBox="1"/>
              <p:nvPr/>
            </p:nvSpPr>
            <p:spPr>
              <a:xfrm>
                <a:off x="9170829" y="3993378"/>
                <a:ext cx="2182971" cy="862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170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7CAD4-35E0-FB72-C9BB-F8A31F3B7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829" y="3993378"/>
                <a:ext cx="2182971" cy="86215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A27432-C170-9E55-11A4-E5903DD786F4}"/>
                  </a:ext>
                </a:extLst>
              </p:cNvPr>
              <p:cNvSpPr txBox="1"/>
              <p:nvPr/>
            </p:nvSpPr>
            <p:spPr>
              <a:xfrm>
                <a:off x="586380" y="4156920"/>
                <a:ext cx="2363718" cy="68974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3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3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3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3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A27432-C170-9E55-11A4-E5903DD78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80" y="4156920"/>
                <a:ext cx="2363718" cy="6897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1BCCDE-57B0-B62C-0B83-304871802023}"/>
                  </a:ext>
                </a:extLst>
              </p:cNvPr>
              <p:cNvSpPr txBox="1"/>
              <p:nvPr/>
            </p:nvSpPr>
            <p:spPr>
              <a:xfrm>
                <a:off x="3669141" y="5160111"/>
                <a:ext cx="2182971" cy="862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180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75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1BCCDE-57B0-B62C-0B83-304871802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141" y="5160111"/>
                <a:ext cx="2182971" cy="86215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7CA051-E444-5E45-0907-6D542763948D}"/>
                  </a:ext>
                </a:extLst>
              </p:cNvPr>
              <p:cNvSpPr txBox="1"/>
              <p:nvPr/>
            </p:nvSpPr>
            <p:spPr>
              <a:xfrm>
                <a:off x="6419985" y="5160110"/>
                <a:ext cx="2182971" cy="871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7CA051-E444-5E45-0907-6D5427639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985" y="5160110"/>
                <a:ext cx="2182971" cy="8715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F70CE5-975F-623D-E209-3D5ADC4580EE}"/>
                  </a:ext>
                </a:extLst>
              </p:cNvPr>
              <p:cNvSpPr txBox="1"/>
              <p:nvPr/>
            </p:nvSpPr>
            <p:spPr>
              <a:xfrm>
                <a:off x="9170829" y="5160110"/>
                <a:ext cx="2182971" cy="862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190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F70CE5-975F-623D-E209-3D5ADC458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829" y="5160110"/>
                <a:ext cx="2182971" cy="86215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27221B3-A084-B676-4659-47668E249DC8}"/>
                  </a:ext>
                </a:extLst>
              </p:cNvPr>
              <p:cNvSpPr txBox="1"/>
              <p:nvPr/>
            </p:nvSpPr>
            <p:spPr>
              <a:xfrm>
                <a:off x="586380" y="5364814"/>
                <a:ext cx="1922872" cy="68974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3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3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3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3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27221B3-A084-B676-4659-47668E249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80" y="5364814"/>
                <a:ext cx="1922872" cy="68974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047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5969B7-2930-8FDA-1496-E113B2CD3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BF10-AFEE-4BFB-FBDD-5ECEF1F05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/>
                </a:solidFill>
              </a:rPr>
              <a:t>M-step: Update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BBF77E-F122-6656-4FF9-1A1474E70C23}"/>
                  </a:ext>
                </a:extLst>
              </p:cNvPr>
              <p:cNvSpPr txBox="1"/>
              <p:nvPr/>
            </p:nvSpPr>
            <p:spPr>
              <a:xfrm>
                <a:off x="397533" y="3429000"/>
                <a:ext cx="6022452" cy="819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PH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sz="28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55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PH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sz="28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5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BBF77E-F122-6656-4FF9-1A1474E70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33" y="3429000"/>
                <a:ext cx="6022452" cy="8195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9AF9DE-0069-CD0C-2905-0181978E7468}"/>
                  </a:ext>
                </a:extLst>
              </p:cNvPr>
              <p:cNvSpPr txBox="1"/>
              <p:nvPr/>
            </p:nvSpPr>
            <p:spPr>
              <a:xfrm>
                <a:off x="3669141" y="1899536"/>
                <a:ext cx="2182971" cy="862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160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9AF9DE-0069-CD0C-2905-0181978E7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141" y="1899536"/>
                <a:ext cx="2182971" cy="862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C4B130-C835-A1F9-D8FC-30FC5AC58BCB}"/>
                  </a:ext>
                </a:extLst>
              </p:cNvPr>
              <p:cNvSpPr txBox="1"/>
              <p:nvPr/>
            </p:nvSpPr>
            <p:spPr>
              <a:xfrm>
                <a:off x="6419985" y="1899535"/>
                <a:ext cx="2182971" cy="871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165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C4B130-C835-A1F9-D8FC-30FC5AC58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985" y="1899535"/>
                <a:ext cx="2182971" cy="8715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5BC1FE-4183-0F3D-005B-01D7F0303870}"/>
                  </a:ext>
                </a:extLst>
              </p:cNvPr>
              <p:cNvSpPr txBox="1"/>
              <p:nvPr/>
            </p:nvSpPr>
            <p:spPr>
              <a:xfrm>
                <a:off x="9170829" y="1899535"/>
                <a:ext cx="2182971" cy="862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170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5BC1FE-4183-0F3D-005B-01D7F0303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829" y="1899535"/>
                <a:ext cx="2182971" cy="8621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1A5AEF-4BFF-B168-4E80-772451EE5112}"/>
                  </a:ext>
                </a:extLst>
              </p:cNvPr>
              <p:cNvSpPr txBox="1"/>
              <p:nvPr/>
            </p:nvSpPr>
            <p:spPr>
              <a:xfrm>
                <a:off x="586380" y="2063077"/>
                <a:ext cx="2363718" cy="68974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3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3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3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3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1A5AEF-4BFF-B168-4E80-772451EE5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80" y="2063077"/>
                <a:ext cx="2363718" cy="6897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C660CE6-33C2-8C95-7F9F-CE03FA92AE64}"/>
                  </a:ext>
                </a:extLst>
              </p:cNvPr>
              <p:cNvSpPr txBox="1"/>
              <p:nvPr/>
            </p:nvSpPr>
            <p:spPr>
              <a:xfrm>
                <a:off x="6909974" y="3582612"/>
                <a:ext cx="42881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−5]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C660CE6-33C2-8C95-7F9F-CE03FA92A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974" y="3582612"/>
                <a:ext cx="428811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829916F-381A-A1A1-5F55-E8ADE6887C72}"/>
                  </a:ext>
                </a:extLst>
              </p:cNvPr>
              <p:cNvSpPr txBox="1"/>
              <p:nvPr/>
            </p:nvSpPr>
            <p:spPr>
              <a:xfrm>
                <a:off x="2377562" y="4528058"/>
                <a:ext cx="8084845" cy="7569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PH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5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−5, −5</m:t>
                          </m:r>
                        </m:e>
                      </m:d>
                      <m:r>
                        <a:rPr lang="en-PH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PH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PH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829916F-381A-A1A1-5F55-E8ADE6887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562" y="4528058"/>
                <a:ext cx="8084845" cy="7569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4259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B46CB-28D5-4F20-7AE2-B74DDDAB3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31FEA-8CAF-9AD1-75CF-B19CA2782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/>
                </a:solidFill>
              </a:rPr>
              <a:t>M-step: Update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B16A9D-B032-0C99-6CC4-F202F4B659F9}"/>
                  </a:ext>
                </a:extLst>
              </p:cNvPr>
              <p:cNvSpPr txBox="1"/>
              <p:nvPr/>
            </p:nvSpPr>
            <p:spPr>
              <a:xfrm>
                <a:off x="397533" y="3429000"/>
                <a:ext cx="6022452" cy="819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PH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sz="28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  <m:r>
                                      <a:rPr lang="en-PH" sz="28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PH" sz="28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PH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sz="28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B16A9D-B032-0C99-6CC4-F202F4B65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33" y="3429000"/>
                <a:ext cx="6022452" cy="8195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A626A6-2A47-0A02-5EE3-CEABB7058D30}"/>
                  </a:ext>
                </a:extLst>
              </p:cNvPr>
              <p:cNvSpPr txBox="1"/>
              <p:nvPr/>
            </p:nvSpPr>
            <p:spPr>
              <a:xfrm>
                <a:off x="3669141" y="1899536"/>
                <a:ext cx="2182971" cy="862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160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A626A6-2A47-0A02-5EE3-CEABB705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141" y="1899536"/>
                <a:ext cx="2182971" cy="862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A2C295-B7E0-B7D8-9CA0-4F3E514D6CA7}"/>
                  </a:ext>
                </a:extLst>
              </p:cNvPr>
              <p:cNvSpPr txBox="1"/>
              <p:nvPr/>
            </p:nvSpPr>
            <p:spPr>
              <a:xfrm>
                <a:off x="6419985" y="1899535"/>
                <a:ext cx="2182971" cy="871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165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A2C295-B7E0-B7D8-9CA0-4F3E514D6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985" y="1899535"/>
                <a:ext cx="2182971" cy="8715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BA8955-19F9-2370-AAB5-92F8D73F24E2}"/>
                  </a:ext>
                </a:extLst>
              </p:cNvPr>
              <p:cNvSpPr txBox="1"/>
              <p:nvPr/>
            </p:nvSpPr>
            <p:spPr>
              <a:xfrm>
                <a:off x="9170829" y="1899535"/>
                <a:ext cx="2182971" cy="862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170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BA8955-19F9-2370-AAB5-92F8D73F2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829" y="1899535"/>
                <a:ext cx="2182971" cy="8621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DC2FDE4-C7AB-EFE2-8DA2-6E3DFE1C5074}"/>
                  </a:ext>
                </a:extLst>
              </p:cNvPr>
              <p:cNvSpPr txBox="1"/>
              <p:nvPr/>
            </p:nvSpPr>
            <p:spPr>
              <a:xfrm>
                <a:off x="586380" y="2063077"/>
                <a:ext cx="2363718" cy="68974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3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3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3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3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DC2FDE4-C7AB-EFE2-8DA2-6E3DFE1C5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80" y="2063077"/>
                <a:ext cx="2363718" cy="6897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E91DF7-6CBE-6EB5-D56F-22892816DFBA}"/>
                  </a:ext>
                </a:extLst>
              </p:cNvPr>
              <p:cNvSpPr txBox="1"/>
              <p:nvPr/>
            </p:nvSpPr>
            <p:spPr>
              <a:xfrm>
                <a:off x="6909974" y="3582612"/>
                <a:ext cx="42881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0]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E91DF7-6CBE-6EB5-D56F-22892816D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974" y="3582612"/>
                <a:ext cx="428811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D53289-2FB7-2A63-1950-702D1BF37D32}"/>
                  </a:ext>
                </a:extLst>
              </p:cNvPr>
              <p:cNvSpPr txBox="1"/>
              <p:nvPr/>
            </p:nvSpPr>
            <p:spPr>
              <a:xfrm>
                <a:off x="3607302" y="4528058"/>
                <a:ext cx="55635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PH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D53289-2FB7-2A63-1950-702D1BF37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302" y="4528058"/>
                <a:ext cx="556352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1004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75AC10-0B99-EF16-1D6B-04AFB541E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C24AC-0358-F0C8-F4E3-FE7AE40F1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/>
                </a:solidFill>
              </a:rPr>
              <a:t>M-step: Update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350A2F-83A5-0E8F-E02D-F93B552329C2}"/>
                  </a:ext>
                </a:extLst>
              </p:cNvPr>
              <p:cNvSpPr txBox="1"/>
              <p:nvPr/>
            </p:nvSpPr>
            <p:spPr>
              <a:xfrm>
                <a:off x="3669141" y="1899536"/>
                <a:ext cx="2182971" cy="862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160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350A2F-83A5-0E8F-E02D-F93B55232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141" y="1899536"/>
                <a:ext cx="2182971" cy="862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68A0F8-6AD6-2175-8384-89C144411DF4}"/>
                  </a:ext>
                </a:extLst>
              </p:cNvPr>
              <p:cNvSpPr txBox="1"/>
              <p:nvPr/>
            </p:nvSpPr>
            <p:spPr>
              <a:xfrm>
                <a:off x="6419985" y="1899535"/>
                <a:ext cx="2182971" cy="871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165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68A0F8-6AD6-2175-8384-89C144411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985" y="1899535"/>
                <a:ext cx="2182971" cy="8715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21C622-83C2-0D6F-3405-615E37359D8D}"/>
                  </a:ext>
                </a:extLst>
              </p:cNvPr>
              <p:cNvSpPr txBox="1"/>
              <p:nvPr/>
            </p:nvSpPr>
            <p:spPr>
              <a:xfrm>
                <a:off x="9170829" y="1899535"/>
                <a:ext cx="2182971" cy="862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170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21C622-83C2-0D6F-3405-615E37359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829" y="1899535"/>
                <a:ext cx="2182971" cy="8621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D43A23-C4FD-BBD4-4CDF-A2DC27374ADD}"/>
                  </a:ext>
                </a:extLst>
              </p:cNvPr>
              <p:cNvSpPr txBox="1"/>
              <p:nvPr/>
            </p:nvSpPr>
            <p:spPr>
              <a:xfrm>
                <a:off x="586380" y="2063077"/>
                <a:ext cx="2363718" cy="68974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3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3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3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3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D43A23-C4FD-BBD4-4CDF-A2DC27374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80" y="2063077"/>
                <a:ext cx="2363718" cy="6897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F827A4-5413-346B-C753-2C86C1091962}"/>
                  </a:ext>
                </a:extLst>
              </p:cNvPr>
              <p:cNvSpPr txBox="1"/>
              <p:nvPr/>
            </p:nvSpPr>
            <p:spPr>
              <a:xfrm>
                <a:off x="397533" y="3429000"/>
                <a:ext cx="6022452" cy="819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PH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sz="28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PH" sz="28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PH" sz="28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PH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sz="28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5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F827A4-5413-346B-C753-2C86C1091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33" y="3429000"/>
                <a:ext cx="6022452" cy="8195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F89B93-64DF-E518-61C8-EDE5A14FFB3C}"/>
                  </a:ext>
                </a:extLst>
              </p:cNvPr>
              <p:cNvSpPr txBox="1"/>
              <p:nvPr/>
            </p:nvSpPr>
            <p:spPr>
              <a:xfrm>
                <a:off x="6909974" y="3582612"/>
                <a:ext cx="42881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5]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F89B93-64DF-E518-61C8-EDE5A14FF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974" y="3582612"/>
                <a:ext cx="428811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EA9A83-18B9-455A-FC39-7560854181F6}"/>
                  </a:ext>
                </a:extLst>
              </p:cNvPr>
              <p:cNvSpPr txBox="1"/>
              <p:nvPr/>
            </p:nvSpPr>
            <p:spPr>
              <a:xfrm>
                <a:off x="2377562" y="4528058"/>
                <a:ext cx="8084845" cy="7569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PH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𝑤𝑜𝑚𝑒𝑛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5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5, 5</m:t>
                          </m:r>
                        </m:e>
                      </m:d>
                      <m:r>
                        <a:rPr lang="en-PH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PH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PH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EA9A83-18B9-455A-FC39-756085418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562" y="4528058"/>
                <a:ext cx="8084845" cy="7569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194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C3A1F-BDD1-A7B9-D61C-40E45CFBF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6B377-DB98-D73F-3AA9-A73C609BF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/>
                </a:solidFill>
              </a:rPr>
              <a:t>M-step: Update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1661D4-6D9A-01CC-A5E6-FC5CF24AA3EB}"/>
                  </a:ext>
                </a:extLst>
              </p:cNvPr>
              <p:cNvSpPr txBox="1"/>
              <p:nvPr/>
            </p:nvSpPr>
            <p:spPr>
              <a:xfrm>
                <a:off x="2678191" y="1917444"/>
                <a:ext cx="6835618" cy="116743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𝑖𝑐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PH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1661D4-6D9A-01CC-A5E6-FC5CF24AA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191" y="1917444"/>
                <a:ext cx="6835618" cy="11674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55A6EC-90FF-763C-8AFD-B167B6C60D3D}"/>
                  </a:ext>
                </a:extLst>
              </p:cNvPr>
              <p:cNvSpPr txBox="1"/>
              <p:nvPr/>
            </p:nvSpPr>
            <p:spPr>
              <a:xfrm>
                <a:off x="3128765" y="3243007"/>
                <a:ext cx="7022400" cy="95987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PH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PH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55A6EC-90FF-763C-8AFD-B167B6C60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765" y="3243007"/>
                <a:ext cx="7022400" cy="9598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3C0526-18AD-F881-3394-5306181135BD}"/>
                  </a:ext>
                </a:extLst>
              </p:cNvPr>
              <p:cNvSpPr txBox="1"/>
              <p:nvPr/>
            </p:nvSpPr>
            <p:spPr>
              <a:xfrm>
                <a:off x="3128765" y="4414998"/>
                <a:ext cx="3868383" cy="9596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3C0526-18AD-F881-3394-530618113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765" y="4414998"/>
                <a:ext cx="3868383" cy="9596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70FD12-B77F-C732-95E6-7E36F9C0DBBA}"/>
                  </a:ext>
                </a:extLst>
              </p:cNvPr>
              <p:cNvSpPr txBox="1"/>
              <p:nvPr/>
            </p:nvSpPr>
            <p:spPr>
              <a:xfrm>
                <a:off x="3062504" y="5586797"/>
                <a:ext cx="5061078" cy="88966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brk m:alnAt="7"/>
                                  </m:rP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67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brk m:alnAt="7"/>
                                  </m:rP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67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6.67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6.67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70FD12-B77F-C732-95E6-7E36F9C0D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504" y="5586797"/>
                <a:ext cx="5061078" cy="8896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2884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264A80-FCFC-C2EC-850A-9A8824742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1E684-84E7-58F8-5B93-F43680C54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/>
                </a:solidFill>
              </a:rPr>
              <a:t>M-step: Update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F54BA5-CBEA-527B-1786-69572C131E46}"/>
                  </a:ext>
                </a:extLst>
              </p:cNvPr>
              <p:cNvSpPr txBox="1"/>
              <p:nvPr/>
            </p:nvSpPr>
            <p:spPr>
              <a:xfrm>
                <a:off x="397533" y="3429000"/>
                <a:ext cx="6022452" cy="819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PH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sz="28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PH" sz="28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PH" sz="28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PH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sz="28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PH" sz="28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PH" sz="28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GB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5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F54BA5-CBEA-527B-1786-69572C131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33" y="3429000"/>
                <a:ext cx="6022452" cy="8195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093403-B367-C8B8-C8BE-FA473EA64DB9}"/>
                  </a:ext>
                </a:extLst>
              </p:cNvPr>
              <p:cNvSpPr txBox="1"/>
              <p:nvPr/>
            </p:nvSpPr>
            <p:spPr>
              <a:xfrm>
                <a:off x="6909974" y="3582612"/>
                <a:ext cx="42881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−5]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093403-B367-C8B8-C8BE-FA473EA64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974" y="3582612"/>
                <a:ext cx="428811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C8FAA3-2EBE-BB7E-7477-958EF85406A6}"/>
                  </a:ext>
                </a:extLst>
              </p:cNvPr>
              <p:cNvSpPr txBox="1"/>
              <p:nvPr/>
            </p:nvSpPr>
            <p:spPr>
              <a:xfrm>
                <a:off x="2377562" y="4528058"/>
                <a:ext cx="8084845" cy="7569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PH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25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5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−5, −5</m:t>
                          </m:r>
                        </m:e>
                      </m:d>
                      <m:r>
                        <a:rPr lang="en-PH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PH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PH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C8FAA3-2EBE-BB7E-7477-958EF8540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562" y="4528058"/>
                <a:ext cx="8084845" cy="7569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DDFC2C-C1B6-C421-84D5-9C874929581A}"/>
                  </a:ext>
                </a:extLst>
              </p:cNvPr>
              <p:cNvSpPr txBox="1"/>
              <p:nvPr/>
            </p:nvSpPr>
            <p:spPr>
              <a:xfrm>
                <a:off x="3669141" y="1947699"/>
                <a:ext cx="2182971" cy="862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180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75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DDFC2C-C1B6-C421-84D5-9C8749295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141" y="1947699"/>
                <a:ext cx="2182971" cy="8621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83B08F-D005-8682-7621-B6865D35C0F3}"/>
                  </a:ext>
                </a:extLst>
              </p:cNvPr>
              <p:cNvSpPr txBox="1"/>
              <p:nvPr/>
            </p:nvSpPr>
            <p:spPr>
              <a:xfrm>
                <a:off x="6419985" y="1947698"/>
                <a:ext cx="2182971" cy="871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83B08F-D005-8682-7621-B6865D35C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985" y="1947698"/>
                <a:ext cx="2182971" cy="8715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1AAB2B-9F81-72C0-A253-DE45B114337E}"/>
                  </a:ext>
                </a:extLst>
              </p:cNvPr>
              <p:cNvSpPr txBox="1"/>
              <p:nvPr/>
            </p:nvSpPr>
            <p:spPr>
              <a:xfrm>
                <a:off x="9170829" y="1947698"/>
                <a:ext cx="2182971" cy="862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190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1AAB2B-9F81-72C0-A253-DE45B1143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829" y="1947698"/>
                <a:ext cx="2182971" cy="86215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B785DA-3E1F-3173-889A-E13121A6B6A4}"/>
                  </a:ext>
                </a:extLst>
              </p:cNvPr>
              <p:cNvSpPr txBox="1"/>
              <p:nvPr/>
            </p:nvSpPr>
            <p:spPr>
              <a:xfrm>
                <a:off x="586380" y="2152402"/>
                <a:ext cx="1922872" cy="68974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3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3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3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3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B785DA-3E1F-3173-889A-E13121A6B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80" y="2152402"/>
                <a:ext cx="1922872" cy="6897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5331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270F4B-5E04-1DC1-9FAA-50A5B51A1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7F93D-4FD0-7263-D479-0596EE7BF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/>
                </a:solidFill>
              </a:rPr>
              <a:t>M-step: Update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0B0DF1-95B0-16EF-7DB5-E9937E9E134C}"/>
                  </a:ext>
                </a:extLst>
              </p:cNvPr>
              <p:cNvSpPr txBox="1"/>
              <p:nvPr/>
            </p:nvSpPr>
            <p:spPr>
              <a:xfrm>
                <a:off x="397533" y="3429000"/>
                <a:ext cx="6022452" cy="819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PH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sz="28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GB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PH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sz="28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PH" sz="28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PH" sz="28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GB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0B0DF1-95B0-16EF-7DB5-E9937E9E1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33" y="3429000"/>
                <a:ext cx="6022452" cy="8195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2841AD-A8FD-6557-4552-6568109FE74A}"/>
                  </a:ext>
                </a:extLst>
              </p:cNvPr>
              <p:cNvSpPr txBox="1"/>
              <p:nvPr/>
            </p:nvSpPr>
            <p:spPr>
              <a:xfrm>
                <a:off x="6909974" y="3582612"/>
                <a:ext cx="42881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0]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2841AD-A8FD-6557-4552-6568109FE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974" y="3582612"/>
                <a:ext cx="428811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F85E4BC-B9F3-3C66-9C8A-96A9241B478F}"/>
                  </a:ext>
                </a:extLst>
              </p:cNvPr>
              <p:cNvSpPr txBox="1"/>
              <p:nvPr/>
            </p:nvSpPr>
            <p:spPr>
              <a:xfrm>
                <a:off x="2053577" y="4528058"/>
                <a:ext cx="80848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PH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F85E4BC-B9F3-3C66-9C8A-96A9241B4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577" y="4528058"/>
                <a:ext cx="808484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4946DE-1195-FA1E-CF57-2B502023F669}"/>
                  </a:ext>
                </a:extLst>
              </p:cNvPr>
              <p:cNvSpPr txBox="1"/>
              <p:nvPr/>
            </p:nvSpPr>
            <p:spPr>
              <a:xfrm>
                <a:off x="3669141" y="1947699"/>
                <a:ext cx="2182971" cy="862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180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75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4946DE-1195-FA1E-CF57-2B502023F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141" y="1947699"/>
                <a:ext cx="2182971" cy="8621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82F04D-4DF4-4996-884A-F1A37FD04F0A}"/>
                  </a:ext>
                </a:extLst>
              </p:cNvPr>
              <p:cNvSpPr txBox="1"/>
              <p:nvPr/>
            </p:nvSpPr>
            <p:spPr>
              <a:xfrm>
                <a:off x="6419985" y="1947698"/>
                <a:ext cx="2182971" cy="871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82F04D-4DF4-4996-884A-F1A37FD04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985" y="1947698"/>
                <a:ext cx="2182971" cy="8715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E87F82-0355-F7C0-3CC5-5A2D4832D18D}"/>
                  </a:ext>
                </a:extLst>
              </p:cNvPr>
              <p:cNvSpPr txBox="1"/>
              <p:nvPr/>
            </p:nvSpPr>
            <p:spPr>
              <a:xfrm>
                <a:off x="9170829" y="1947698"/>
                <a:ext cx="2182971" cy="862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190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E87F82-0355-F7C0-3CC5-5A2D4832D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829" y="1947698"/>
                <a:ext cx="2182971" cy="86215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99D0C4A-1558-DA9D-3EF8-C5EE29A4C536}"/>
                  </a:ext>
                </a:extLst>
              </p:cNvPr>
              <p:cNvSpPr txBox="1"/>
              <p:nvPr/>
            </p:nvSpPr>
            <p:spPr>
              <a:xfrm>
                <a:off x="586380" y="2152402"/>
                <a:ext cx="1922872" cy="68974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3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3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3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3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99D0C4A-1558-DA9D-3EF8-C5EE29A4C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80" y="2152402"/>
                <a:ext cx="1922872" cy="6897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241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132371-7102-129C-6B6C-379624671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6F285-39F0-C04A-067E-77629F08B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/>
                </a:solidFill>
              </a:rPr>
              <a:t>M-step: Update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736017-CDA2-2EFA-3C4B-13A9100B0741}"/>
                  </a:ext>
                </a:extLst>
              </p:cNvPr>
              <p:cNvSpPr txBox="1"/>
              <p:nvPr/>
            </p:nvSpPr>
            <p:spPr>
              <a:xfrm>
                <a:off x="397533" y="3429000"/>
                <a:ext cx="6022452" cy="819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PH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sz="28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PH" sz="28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PH" sz="28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PH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H" sz="28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PH" sz="28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PH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PH" sz="28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GB" sz="2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5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736017-CDA2-2EFA-3C4B-13A9100B0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33" y="3429000"/>
                <a:ext cx="6022452" cy="8195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4D4F42-C73C-2E1C-1832-11F2138882ED}"/>
                  </a:ext>
                </a:extLst>
              </p:cNvPr>
              <p:cNvSpPr txBox="1"/>
              <p:nvPr/>
            </p:nvSpPr>
            <p:spPr>
              <a:xfrm>
                <a:off x="6909974" y="3582612"/>
                <a:ext cx="42881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PH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5]</m:t>
                      </m:r>
                    </m:oMath>
                  </m:oMathPara>
                </a14:m>
                <a:endParaRPr lang="en-PH" sz="25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4D4F42-C73C-2E1C-1832-11F213888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974" y="3582612"/>
                <a:ext cx="428811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738155B-57C7-0E4E-A9D2-548B1F8B7158}"/>
                  </a:ext>
                </a:extLst>
              </p:cNvPr>
              <p:cNvSpPr txBox="1"/>
              <p:nvPr/>
            </p:nvSpPr>
            <p:spPr>
              <a:xfrm>
                <a:off x="2053577" y="4528058"/>
                <a:ext cx="8084845" cy="819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PH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𝑚𝑒𝑛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8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5, 5</m:t>
                          </m:r>
                        </m:e>
                      </m:d>
                      <m:r>
                        <a:rPr lang="en-PH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PH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PH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738155B-57C7-0E4E-A9D2-548B1F8B7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577" y="4528058"/>
                <a:ext cx="8084845" cy="8195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33A8AD-186F-77C9-D2B9-F562E38FBD19}"/>
                  </a:ext>
                </a:extLst>
              </p:cNvPr>
              <p:cNvSpPr txBox="1"/>
              <p:nvPr/>
            </p:nvSpPr>
            <p:spPr>
              <a:xfrm>
                <a:off x="3669141" y="1947699"/>
                <a:ext cx="2182971" cy="862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180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75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33A8AD-186F-77C9-D2B9-F562E38FB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141" y="1947699"/>
                <a:ext cx="2182971" cy="8621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3800B0-FBA0-A4A9-8613-9B6E365EAA86}"/>
                  </a:ext>
                </a:extLst>
              </p:cNvPr>
              <p:cNvSpPr txBox="1"/>
              <p:nvPr/>
            </p:nvSpPr>
            <p:spPr>
              <a:xfrm>
                <a:off x="6419985" y="1947698"/>
                <a:ext cx="2182971" cy="871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3800B0-FBA0-A4A9-8613-9B6E365EA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985" y="1947698"/>
                <a:ext cx="2182971" cy="8715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A625B1-C0D8-C654-40F0-22C68441BD33}"/>
                  </a:ext>
                </a:extLst>
              </p:cNvPr>
              <p:cNvSpPr txBox="1"/>
              <p:nvPr/>
            </p:nvSpPr>
            <p:spPr>
              <a:xfrm>
                <a:off x="9170829" y="1947698"/>
                <a:ext cx="2182971" cy="862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PH" sz="3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190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A625B1-C0D8-C654-40F0-22C68441B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829" y="1947698"/>
                <a:ext cx="2182971" cy="86215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A0E5AF-A0C5-139F-2DEF-2D0007AE7D66}"/>
                  </a:ext>
                </a:extLst>
              </p:cNvPr>
              <p:cNvSpPr txBox="1"/>
              <p:nvPr/>
            </p:nvSpPr>
            <p:spPr>
              <a:xfrm>
                <a:off x="586380" y="2152402"/>
                <a:ext cx="1922872" cy="68974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3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3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3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3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A0E5AF-A0C5-139F-2DEF-2D0007AE7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80" y="2152402"/>
                <a:ext cx="1922872" cy="6897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959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A10E0-422F-C323-A6FB-004955595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4EA39-C433-6769-9B5A-BB607C958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/>
                </a:solidFill>
              </a:rPr>
              <a:t>M-step: Update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DCA907-1A07-BC6E-F103-82650B613236}"/>
                  </a:ext>
                </a:extLst>
              </p:cNvPr>
              <p:cNvSpPr txBox="1"/>
              <p:nvPr/>
            </p:nvSpPr>
            <p:spPr>
              <a:xfrm>
                <a:off x="2678191" y="1917444"/>
                <a:ext cx="6835618" cy="116743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PH" sz="3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PH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PH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𝑖𝑐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PH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PH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DCA907-1A07-BC6E-F103-82650B613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191" y="1917444"/>
                <a:ext cx="6835618" cy="11674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E2F25D-5074-0504-A668-BC1D2FAF526D}"/>
                  </a:ext>
                </a:extLst>
              </p:cNvPr>
              <p:cNvSpPr txBox="1"/>
              <p:nvPr/>
            </p:nvSpPr>
            <p:spPr>
              <a:xfrm>
                <a:off x="3128765" y="3243007"/>
                <a:ext cx="7022400" cy="95987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PH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PH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E2F25D-5074-0504-A668-BC1D2FAF5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765" y="3243007"/>
                <a:ext cx="7022400" cy="9598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4F9B12-5461-39BA-9C10-11120AC454C4}"/>
                  </a:ext>
                </a:extLst>
              </p:cNvPr>
              <p:cNvSpPr txBox="1"/>
              <p:nvPr/>
            </p:nvSpPr>
            <p:spPr>
              <a:xfrm>
                <a:off x="3128765" y="4414998"/>
                <a:ext cx="3868383" cy="9596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  <m:mr>
                              <m:e>
                                <m: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4F9B12-5461-39BA-9C10-11120AC45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765" y="4414998"/>
                <a:ext cx="3868383" cy="9596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90CE0F9-1135-5662-9A57-C0CAC7482870}"/>
                  </a:ext>
                </a:extLst>
              </p:cNvPr>
              <p:cNvSpPr txBox="1"/>
              <p:nvPr/>
            </p:nvSpPr>
            <p:spPr>
              <a:xfrm>
                <a:off x="3062504" y="5586797"/>
                <a:ext cx="5061078" cy="88966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6.67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brk m:alnAt="7"/>
                                  </m:rP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67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6.67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6.67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90CE0F9-1135-5662-9A57-C0CAC7482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504" y="5586797"/>
                <a:ext cx="5061078" cy="8896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381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8EDE56-DD1F-5339-6517-986F1B78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4B8F-8F2A-6914-6998-694964C0F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/>
                </a:solidFill>
              </a:rPr>
              <a:t>M-step: Update parameters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8D2576-7BDA-8FEF-C5DF-611CBE561786}"/>
              </a:ext>
            </a:extLst>
          </p:cNvPr>
          <p:cNvSpPr txBox="1"/>
          <p:nvPr/>
        </p:nvSpPr>
        <p:spPr>
          <a:xfrm>
            <a:off x="1711391" y="3612568"/>
            <a:ext cx="4384609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Get total number of points for each cluster</a:t>
            </a:r>
          </a:p>
        </p:txBody>
      </p:sp>
      <p:pic>
        <p:nvPicPr>
          <p:cNvPr id="13" name="Graphic 12" descr="Badge 1 with solid fill">
            <a:extLst>
              <a:ext uri="{FF2B5EF4-FFF2-40B4-BE49-F238E27FC236}">
                <a16:creationId xmlns:a16="http://schemas.microsoft.com/office/drawing/2014/main" id="{4685B361-6EC0-D19F-1778-A6D111F8E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590" y="2193687"/>
            <a:ext cx="914400" cy="914400"/>
          </a:xfrm>
          <a:prstGeom prst="rect">
            <a:avLst/>
          </a:prstGeom>
        </p:spPr>
      </p:pic>
      <p:pic>
        <p:nvPicPr>
          <p:cNvPr id="15" name="Graphic 14" descr="Badge 4 with solid fill">
            <a:extLst>
              <a:ext uri="{FF2B5EF4-FFF2-40B4-BE49-F238E27FC236}">
                <a16:creationId xmlns:a16="http://schemas.microsoft.com/office/drawing/2014/main" id="{A18692FF-1ED7-8A16-67AC-3759B86A46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1600" y="4758999"/>
            <a:ext cx="914400" cy="914400"/>
          </a:xfrm>
          <a:prstGeom prst="rect">
            <a:avLst/>
          </a:prstGeom>
        </p:spPr>
      </p:pic>
      <p:pic>
        <p:nvPicPr>
          <p:cNvPr id="17" name="Graphic 16" descr="Badge 3 with solid fill">
            <a:extLst>
              <a:ext uri="{FF2B5EF4-FFF2-40B4-BE49-F238E27FC236}">
                <a16:creationId xmlns:a16="http://schemas.microsoft.com/office/drawing/2014/main" id="{9A3392AF-88FC-606D-A227-9E7056C4CE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1286" y="2193687"/>
            <a:ext cx="914400" cy="914400"/>
          </a:xfrm>
          <a:prstGeom prst="rect">
            <a:avLst/>
          </a:prstGeom>
        </p:spPr>
      </p:pic>
      <p:pic>
        <p:nvPicPr>
          <p:cNvPr id="19" name="Graphic 18" descr="Badge with solid fill">
            <a:extLst>
              <a:ext uri="{FF2B5EF4-FFF2-40B4-BE49-F238E27FC236}">
                <a16:creationId xmlns:a16="http://schemas.microsoft.com/office/drawing/2014/main" id="{0311C603-6C3D-D5DD-53D0-1628914B25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848" y="4776095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67829C1-D186-A2CD-2307-9F8B7A3FFB46}"/>
              </a:ext>
            </a:extLst>
          </p:cNvPr>
          <p:cNvSpPr txBox="1"/>
          <p:nvPr/>
        </p:nvSpPr>
        <p:spPr>
          <a:xfrm>
            <a:off x="7750290" y="3443400"/>
            <a:ext cx="1713199" cy="64633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Updated means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F9E107-D884-545A-D2EA-252352EE91E3}"/>
              </a:ext>
            </a:extLst>
          </p:cNvPr>
          <p:cNvSpPr txBox="1"/>
          <p:nvPr/>
        </p:nvSpPr>
        <p:spPr>
          <a:xfrm>
            <a:off x="1711391" y="6225169"/>
            <a:ext cx="2981793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Updated mixing coefficients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48DF44-AA7C-140B-1F60-787435B958BC}"/>
              </a:ext>
            </a:extLst>
          </p:cNvPr>
          <p:cNvSpPr txBox="1"/>
          <p:nvPr/>
        </p:nvSpPr>
        <p:spPr>
          <a:xfrm>
            <a:off x="7239550" y="6200860"/>
            <a:ext cx="3323684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Updated covariance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0E4A08-A13E-2B6A-1317-C61B97782773}"/>
                  </a:ext>
                </a:extLst>
              </p:cNvPr>
              <p:cNvSpPr txBox="1"/>
              <p:nvPr/>
            </p:nvSpPr>
            <p:spPr>
              <a:xfrm>
                <a:off x="6292722" y="5228566"/>
                <a:ext cx="5061078" cy="88966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6.67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brk m:alnAt="7"/>
                                  </m:rP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67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6.67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6.67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0E4A08-A13E-2B6A-1317-C61B97782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722" y="5228566"/>
                <a:ext cx="5061078" cy="88966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AD00ED-0761-6A46-44EB-BB1147FF26FC}"/>
                  </a:ext>
                </a:extLst>
              </p:cNvPr>
              <p:cNvSpPr txBox="1"/>
              <p:nvPr/>
            </p:nvSpPr>
            <p:spPr>
              <a:xfrm>
                <a:off x="6292722" y="4256272"/>
                <a:ext cx="5061078" cy="88966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brk m:alnAt="7"/>
                                  </m:rP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PH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67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brk m:alnAt="7"/>
                                  </m:rP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67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6.67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6.67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AD00ED-0761-6A46-44EB-BB1147FF2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722" y="4256272"/>
                <a:ext cx="5061078" cy="88966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6B14E0-255C-E7CB-76E5-5E13F393A428}"/>
                  </a:ext>
                </a:extLst>
              </p:cNvPr>
              <p:cNvSpPr txBox="1"/>
              <p:nvPr/>
            </p:nvSpPr>
            <p:spPr>
              <a:xfrm>
                <a:off x="7239550" y="2234559"/>
                <a:ext cx="2363718" cy="68974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3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3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3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3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6B14E0-255C-E7CB-76E5-5E13F393A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550" y="2234559"/>
                <a:ext cx="2363718" cy="68974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3A6778-6127-D93D-CB28-C9E7646F8218}"/>
                  </a:ext>
                </a:extLst>
              </p:cNvPr>
              <p:cNvSpPr txBox="1"/>
              <p:nvPr/>
            </p:nvSpPr>
            <p:spPr>
              <a:xfrm>
                <a:off x="9947132" y="2234559"/>
                <a:ext cx="1922872" cy="689741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3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3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2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3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3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3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3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3A6778-6127-D93D-CB28-C9E7646F8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132" y="2234559"/>
                <a:ext cx="1922872" cy="68974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DB1F65-EA56-46F2-3970-C8DB4E89E0EA}"/>
                  </a:ext>
                </a:extLst>
              </p:cNvPr>
              <p:cNvSpPr txBox="1"/>
              <p:nvPr/>
            </p:nvSpPr>
            <p:spPr>
              <a:xfrm>
                <a:off x="1784188" y="4758999"/>
                <a:ext cx="2623850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DB1F65-EA56-46F2-3970-C8DB4E89E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188" y="4758999"/>
                <a:ext cx="2623850" cy="55399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8588E0-C93B-D6F7-7655-A05BEDA8AFB4}"/>
                  </a:ext>
                </a:extLst>
              </p:cNvPr>
              <p:cNvSpPr txBox="1"/>
              <p:nvPr/>
            </p:nvSpPr>
            <p:spPr>
              <a:xfrm>
                <a:off x="1784188" y="5545060"/>
                <a:ext cx="2205829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0.5</m:t>
                      </m:r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8588E0-C93B-D6F7-7655-A05BEDA8A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188" y="5545060"/>
                <a:ext cx="2205829" cy="55399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35DF1C8-65C6-E29C-F61C-B65C129C95B3}"/>
                  </a:ext>
                </a:extLst>
              </p:cNvPr>
              <p:cNvSpPr txBox="1"/>
              <p:nvPr/>
            </p:nvSpPr>
            <p:spPr>
              <a:xfrm>
                <a:off x="1608248" y="2098751"/>
                <a:ext cx="2782071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35DF1C8-65C6-E29C-F61C-B65C129C9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248" y="2098751"/>
                <a:ext cx="2782071" cy="55399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8EF041B-5604-E8C3-FAB4-41B2A1DB0524}"/>
                  </a:ext>
                </a:extLst>
              </p:cNvPr>
              <p:cNvSpPr txBox="1"/>
              <p:nvPr/>
            </p:nvSpPr>
            <p:spPr>
              <a:xfrm>
                <a:off x="1622010" y="2826507"/>
                <a:ext cx="2146426" cy="553998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PH" sz="3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8EF041B-5604-E8C3-FAB4-41B2A1DB0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010" y="2826507"/>
                <a:ext cx="2146426" cy="55399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6463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87F642-16FA-BAAF-49CA-70CD224D9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35FCF8E-E0DE-70D7-940A-091856872A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094103"/>
              </p:ext>
            </p:extLst>
          </p:nvPr>
        </p:nvGraphicFramePr>
        <p:xfrm>
          <a:off x="2391974" y="989889"/>
          <a:ext cx="8681701" cy="522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DB7DB4-E232-084E-70E1-7D7AFDD24CB7}"/>
                  </a:ext>
                </a:extLst>
              </p:cNvPr>
              <p:cNvSpPr txBox="1"/>
              <p:nvPr/>
            </p:nvSpPr>
            <p:spPr>
              <a:xfrm>
                <a:off x="920299" y="3221251"/>
                <a:ext cx="1300387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1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𝑾𝒆𝒊𝒈𝒉𝒕</m:t>
                      </m:r>
                    </m:oMath>
                  </m:oMathPara>
                </a14:m>
                <a:endParaRPr lang="en-PH" sz="21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C7932A-0791-7FA9-4516-245BB39EC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299" y="3221251"/>
                <a:ext cx="1300387" cy="415498"/>
              </a:xfrm>
              <a:prstGeom prst="rect">
                <a:avLst/>
              </a:prstGeom>
              <a:blipFill>
                <a:blip r:embed="rId3"/>
                <a:stretch>
                  <a:fillRect b="-1449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D1A5CC-16DE-1FE3-7875-CFE6833C2863}"/>
                  </a:ext>
                </a:extLst>
              </p:cNvPr>
              <p:cNvSpPr txBox="1"/>
              <p:nvPr/>
            </p:nvSpPr>
            <p:spPr>
              <a:xfrm>
                <a:off x="6121223" y="6217238"/>
                <a:ext cx="1223201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1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𝑯𝒆𝒊𝒈𝒉𝒕</m:t>
                      </m:r>
                    </m:oMath>
                  </m:oMathPara>
                </a14:m>
                <a:endParaRPr lang="en-PH" sz="21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6C1001-B9E1-5CA2-F64B-6BDA72B7A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223" y="6217238"/>
                <a:ext cx="1223201" cy="415498"/>
              </a:xfrm>
              <a:prstGeom prst="rect">
                <a:avLst/>
              </a:prstGeom>
              <a:blipFill>
                <a:blip r:embed="rId4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55631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0225A0-4F78-9B89-1B82-BE62E82C0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CEC31-A727-70FC-C8D3-DC649F3FF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/>
                </a:solidFill>
              </a:rPr>
              <a:t>New cluster parameters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AA74076-87C3-F00C-9028-7E1882AD40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2559953"/>
              </p:ext>
            </p:extLst>
          </p:nvPr>
        </p:nvGraphicFramePr>
        <p:xfrm>
          <a:off x="838200" y="2331720"/>
          <a:ext cx="10515600" cy="10972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8494718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6683008"/>
                    </a:ext>
                  </a:extLst>
                </a:gridCol>
                <a:gridCol w="3585882">
                  <a:extLst>
                    <a:ext uri="{9D8B030D-6E8A-4147-A177-3AD203B41FA5}">
                      <a16:colId xmlns:a16="http://schemas.microsoft.com/office/drawing/2014/main" val="163687087"/>
                    </a:ext>
                  </a:extLst>
                </a:gridCol>
                <a:gridCol w="1671918">
                  <a:extLst>
                    <a:ext uri="{9D8B030D-6E8A-4147-A177-3AD203B41FA5}">
                      <a16:colId xmlns:a16="http://schemas.microsoft.com/office/drawing/2014/main" val="4871651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Cluster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b="1" dirty="0">
                          <a:solidFill>
                            <a:schemeClr val="bg1"/>
                          </a:solidFill>
                        </a:rPr>
                        <a:t>μ (</a:t>
                      </a: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mean)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b="1" dirty="0">
                          <a:solidFill>
                            <a:schemeClr val="bg1"/>
                          </a:solidFill>
                        </a:rPr>
                        <a:t>Σ (</a:t>
                      </a: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covariance)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b="1" dirty="0">
                          <a:solidFill>
                            <a:schemeClr val="bg1"/>
                          </a:solidFill>
                        </a:rPr>
                        <a:t>π (</a:t>
                      </a: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prior)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931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women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[165,60]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[[16.67, 16.67], [16.67, 16.67]]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0.5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928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men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>
                          <a:solidFill>
                            <a:schemeClr val="bg1"/>
                          </a:solidFill>
                        </a:rPr>
                        <a:t>[185, 80]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[[16.67, 16.67], [16.67, 16.67]]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</a:rPr>
                        <a:t>0.5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2343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4C5C87-1EFB-AA97-C256-D3B720B4CD52}"/>
                  </a:ext>
                </a:extLst>
              </p:cNvPr>
              <p:cNvSpPr txBox="1"/>
              <p:nvPr/>
            </p:nvSpPr>
            <p:spPr>
              <a:xfrm>
                <a:off x="838200" y="3911600"/>
                <a:ext cx="2744726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=[162, 57]</m:t>
                      </m:r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C19AA-9995-3E1D-F1DF-E1E42F20E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11600"/>
                <a:ext cx="2744726" cy="384721"/>
              </a:xfrm>
              <a:prstGeom prst="rect">
                <a:avLst/>
              </a:prstGeom>
              <a:blipFill>
                <a:blip r:embed="rId2"/>
                <a:stretch>
                  <a:fillRect l="-1382" t="-6452" r="-3687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DD49EB-600A-EAEE-D254-92823BF2FEA2}"/>
                  </a:ext>
                </a:extLst>
              </p:cNvPr>
              <p:cNvSpPr txBox="1"/>
              <p:nvPr/>
            </p:nvSpPr>
            <p:spPr>
              <a:xfrm>
                <a:off x="6550378" y="3911599"/>
                <a:ext cx="241611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=[185, 80]</m:t>
                      </m:r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FB19E1-7C8B-2C2D-28AE-F2EEDD18A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378" y="3911599"/>
                <a:ext cx="2416111" cy="384721"/>
              </a:xfrm>
              <a:prstGeom prst="rect">
                <a:avLst/>
              </a:prstGeom>
              <a:blipFill>
                <a:blip r:embed="rId3"/>
                <a:stretch>
                  <a:fillRect l="-1571" t="-6452" r="-4188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2F8C4E-F838-05B5-5C33-3977B26DD8B0}"/>
                  </a:ext>
                </a:extLst>
              </p:cNvPr>
              <p:cNvSpPr txBox="1"/>
              <p:nvPr/>
            </p:nvSpPr>
            <p:spPr>
              <a:xfrm>
                <a:off x="838200" y="4560946"/>
                <a:ext cx="3733394" cy="6415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brk m:alnAt="7"/>
                                  </m:rP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PH" sz="25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67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6.67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6.67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6.67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2F8C4E-F838-05B5-5C33-3977B26DD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60946"/>
                <a:ext cx="3733394" cy="6415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FC2250-8C19-812A-6712-6AB921CFB361}"/>
                  </a:ext>
                </a:extLst>
              </p:cNvPr>
              <p:cNvSpPr txBox="1"/>
              <p:nvPr/>
            </p:nvSpPr>
            <p:spPr>
              <a:xfrm>
                <a:off x="838200" y="5467093"/>
                <a:ext cx="2061334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1F2F79-D1DC-0036-3431-D8762F896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67093"/>
                <a:ext cx="2061334" cy="384721"/>
              </a:xfrm>
              <a:prstGeom prst="rect">
                <a:avLst/>
              </a:prstGeom>
              <a:blipFill>
                <a:blip r:embed="rId5"/>
                <a:stretch>
                  <a:fillRect l="-2454" r="-3067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6E3B2F-6013-0D44-90B8-6DD8741853ED}"/>
                  </a:ext>
                </a:extLst>
              </p:cNvPr>
              <p:cNvSpPr txBox="1"/>
              <p:nvPr/>
            </p:nvSpPr>
            <p:spPr>
              <a:xfrm>
                <a:off x="6553210" y="4560946"/>
                <a:ext cx="3364704" cy="6415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6.67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6.67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6.67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PH" sz="25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6.67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6E3B2F-6013-0D44-90B8-6DD874185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10" y="4560946"/>
                <a:ext cx="3364704" cy="6415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F928D9-FBB3-C01D-0AA8-90C7EBF68A19}"/>
                  </a:ext>
                </a:extLst>
              </p:cNvPr>
              <p:cNvSpPr txBox="1"/>
              <p:nvPr/>
            </p:nvSpPr>
            <p:spPr>
              <a:xfrm>
                <a:off x="6553210" y="5467093"/>
                <a:ext cx="1692643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𝑚𝑒𝑛</m:t>
                          </m:r>
                        </m:sub>
                      </m:sSub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FFF466-3207-D99D-A177-2D92D64E2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10" y="5467093"/>
                <a:ext cx="1692643" cy="384721"/>
              </a:xfrm>
              <a:prstGeom prst="rect">
                <a:avLst/>
              </a:prstGeom>
              <a:blipFill>
                <a:blip r:embed="rId7"/>
                <a:stretch>
                  <a:fillRect l="-2985" r="-3731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AB73DA-357F-E3C1-433E-267C4AA33FA4}"/>
                  </a:ext>
                </a:extLst>
              </p:cNvPr>
              <p:cNvSpPr txBox="1"/>
              <p:nvPr/>
            </p:nvSpPr>
            <p:spPr>
              <a:xfrm>
                <a:off x="6550378" y="6146832"/>
                <a:ext cx="222972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  <m:r>
                            <a:rPr lang="en-US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86C425B-5074-7441-EBCB-4A26E448A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378" y="6146832"/>
                <a:ext cx="2229728" cy="4770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108A75-C4D3-E896-25D0-E9D18A09DAA4}"/>
                  </a:ext>
                </a:extLst>
              </p:cNvPr>
              <p:cNvSpPr txBox="1"/>
              <p:nvPr/>
            </p:nvSpPr>
            <p:spPr>
              <a:xfrm>
                <a:off x="838200" y="6031631"/>
                <a:ext cx="2976418" cy="4770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  <m:r>
                            <a:rPr lang="en-US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PH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5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𝑤𝑜𝑚𝑒𝑛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F616F5-4649-7599-F40B-FD25D63CB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031631"/>
                <a:ext cx="2976418" cy="4770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0310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4474</TotalTime>
  <Words>1066</Words>
  <Application>Microsoft Macintosh PowerPoint</Application>
  <PresentationFormat>Widescreen</PresentationFormat>
  <Paragraphs>300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Office Theme</vt:lpstr>
      <vt:lpstr>GMM Example</vt:lpstr>
      <vt:lpstr>Example Dataset</vt:lpstr>
      <vt:lpstr>PowerPoint Presentation</vt:lpstr>
      <vt:lpstr>Initialize cluster parameters</vt:lpstr>
      <vt:lpstr>Compute the Gaussian density for each sample</vt:lpstr>
      <vt:lpstr>Compute the Gaussian density for each sample</vt:lpstr>
      <vt:lpstr>Compute the Gaussian density for each sample</vt:lpstr>
      <vt:lpstr>Compute the Gaussian density for each sample</vt:lpstr>
      <vt:lpstr>Compute the Gaussian density for each sample</vt:lpstr>
      <vt:lpstr>Compute the Gaussian density for each sample</vt:lpstr>
      <vt:lpstr>Compute the Gaussian density for each sample</vt:lpstr>
      <vt:lpstr>Compute the Gaussian density for each sample</vt:lpstr>
      <vt:lpstr>Compute the Gaussian density for each sample</vt:lpstr>
      <vt:lpstr>Compute the Gaussian density for each sample</vt:lpstr>
      <vt:lpstr>E-step: Compute responsibilities</vt:lpstr>
      <vt:lpstr>E-step: Compute responsibilities</vt:lpstr>
      <vt:lpstr>E-step: Compute responsibilities</vt:lpstr>
      <vt:lpstr>M-step: Update parameters</vt:lpstr>
      <vt:lpstr>M-step: Update parameters</vt:lpstr>
      <vt:lpstr>M-step: Update parameters</vt:lpstr>
      <vt:lpstr>M-step: Update parameters</vt:lpstr>
      <vt:lpstr>M-step: Update parameters</vt:lpstr>
      <vt:lpstr>M-step: Update parameters</vt:lpstr>
      <vt:lpstr>M-step: Update parameters</vt:lpstr>
      <vt:lpstr>M-step: Update parameters</vt:lpstr>
      <vt:lpstr>M-step: Update parameters</vt:lpstr>
      <vt:lpstr>M-step: Update parameters</vt:lpstr>
      <vt:lpstr>M-step: Update parameters</vt:lpstr>
      <vt:lpstr>M-step: Update parameters</vt:lpstr>
      <vt:lpstr>M-step: Update parameters</vt:lpstr>
      <vt:lpstr>M-step: Update parameters</vt:lpstr>
      <vt:lpstr>PowerPoint Presentation</vt:lpstr>
      <vt:lpstr>New cluster parameters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Elizer Jr. D. Ponio</cp:lastModifiedBy>
  <cp:revision>536</cp:revision>
  <dcterms:created xsi:type="dcterms:W3CDTF">2024-08-08T01:29:50Z</dcterms:created>
  <dcterms:modified xsi:type="dcterms:W3CDTF">2026-01-23T05:51:01Z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