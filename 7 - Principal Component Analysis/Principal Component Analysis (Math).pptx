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drawings/drawing1.xml" ContentType="application/vnd.openxmlformats-officedocument.drawingml.chartshapes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1"/>
  </p:notesMasterIdLst>
  <p:sldIdLst>
    <p:sldId id="257" r:id="rId2"/>
    <p:sldId id="263" r:id="rId3"/>
    <p:sldId id="337" r:id="rId4"/>
    <p:sldId id="338" r:id="rId5"/>
    <p:sldId id="265" r:id="rId6"/>
    <p:sldId id="266" r:id="rId7"/>
    <p:sldId id="267" r:id="rId8"/>
    <p:sldId id="268" r:id="rId9"/>
    <p:sldId id="269" r:id="rId10"/>
    <p:sldId id="270" r:id="rId11"/>
    <p:sldId id="318" r:id="rId12"/>
    <p:sldId id="341" r:id="rId13"/>
    <p:sldId id="322" r:id="rId14"/>
    <p:sldId id="323" r:id="rId15"/>
    <p:sldId id="324" r:id="rId16"/>
    <p:sldId id="274" r:id="rId17"/>
    <p:sldId id="275" r:id="rId18"/>
    <p:sldId id="276" r:id="rId19"/>
    <p:sldId id="277" r:id="rId20"/>
    <p:sldId id="278" r:id="rId21"/>
    <p:sldId id="314" r:id="rId22"/>
    <p:sldId id="313" r:id="rId23"/>
    <p:sldId id="312" r:id="rId24"/>
    <p:sldId id="281" r:id="rId25"/>
    <p:sldId id="282" r:id="rId26"/>
    <p:sldId id="283" r:id="rId27"/>
    <p:sldId id="307" r:id="rId28"/>
    <p:sldId id="309" r:id="rId29"/>
    <p:sldId id="284" r:id="rId30"/>
    <p:sldId id="285" r:id="rId31"/>
    <p:sldId id="339" r:id="rId32"/>
    <p:sldId id="286" r:id="rId33"/>
    <p:sldId id="340" r:id="rId34"/>
    <p:sldId id="287" r:id="rId35"/>
    <p:sldId id="289" r:id="rId36"/>
    <p:sldId id="342" r:id="rId37"/>
    <p:sldId id="291" r:id="rId38"/>
    <p:sldId id="296" r:id="rId39"/>
    <p:sldId id="295" r:id="rId40"/>
    <p:sldId id="294" r:id="rId41"/>
    <p:sldId id="298" r:id="rId42"/>
    <p:sldId id="299" r:id="rId43"/>
    <p:sldId id="300" r:id="rId44"/>
    <p:sldId id="325" r:id="rId45"/>
    <p:sldId id="326" r:id="rId46"/>
    <p:sldId id="333" r:id="rId47"/>
    <p:sldId id="334" r:id="rId48"/>
    <p:sldId id="335" r:id="rId49"/>
    <p:sldId id="328" r:id="rId50"/>
    <p:sldId id="329" r:id="rId51"/>
    <p:sldId id="331" r:id="rId52"/>
    <p:sldId id="332" r:id="rId53"/>
    <p:sldId id="301" r:id="rId54"/>
    <p:sldId id="302" r:id="rId55"/>
    <p:sldId id="303" r:id="rId56"/>
    <p:sldId id="304" r:id="rId57"/>
    <p:sldId id="305" r:id="rId58"/>
    <p:sldId id="320" r:id="rId59"/>
    <p:sldId id="321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85"/>
    <p:restoredTop sz="93729" autoAdjust="0"/>
  </p:normalViewPr>
  <p:slideViewPr>
    <p:cSldViewPr snapToGrid="0">
      <p:cViewPr varScale="1">
        <p:scale>
          <a:sx n="141" d="100"/>
          <a:sy n="141" d="100"/>
        </p:scale>
        <p:origin x="180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Relationship Id="rId4" Type="http://schemas.openxmlformats.org/officeDocument/2006/relationships/chartUserShapes" Target="../drawings/drawing1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2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-4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6428330797079801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6428330797079801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4</c:v>
                </c:pt>
                <c:pt idx="1">
                  <c:v>-9</c:v>
                </c:pt>
                <c:pt idx="2">
                  <c:v>-4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3</c:v>
                </c:pt>
                <c:pt idx="1">
                  <c:v>-4</c:v>
                </c:pt>
                <c:pt idx="2">
                  <c:v>-3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0.48333</cdr:x>
      <cdr:y>0.46124</cdr:y>
    </cdr:from>
    <cdr:to>
      <cdr:x>0.51667</cdr:x>
      <cdr:y>0.49457</cdr:y>
    </cdr:to>
    <cdr:sp macro="" textlink="">
      <cdr:nvSpPr>
        <cdr:cNvPr id="2" name="Oval 1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2610000" y="2490682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/>
        </a:p>
      </cdr:txBody>
    </cdr:sp>
  </cdr:relSizeAnchor>
  <cdr:relSizeAnchor xmlns:cdr="http://schemas.openxmlformats.org/drawingml/2006/chartDrawing">
    <cdr:from>
      <cdr:x>0.67184</cdr:x>
      <cdr:y>0.32498</cdr:y>
    </cdr:from>
    <cdr:to>
      <cdr:x>0.70517</cdr:x>
      <cdr:y>0.35831</cdr:y>
    </cdr:to>
    <cdr:sp macro="" textlink="">
      <cdr:nvSpPr>
        <cdr:cNvPr id="3" name="Oval 2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3627934" y="1754876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/>
        </a:p>
      </cdr:txBody>
    </cdr:sp>
  </cdr:relSizeAnchor>
  <cdr:relSizeAnchor xmlns:cdr="http://schemas.openxmlformats.org/drawingml/2006/chartDrawing">
    <cdr:from>
      <cdr:x>0.90644</cdr:x>
      <cdr:y>0.27956</cdr:y>
    </cdr:from>
    <cdr:to>
      <cdr:x>0.93977</cdr:x>
      <cdr:y>0.31289</cdr:y>
    </cdr:to>
    <cdr:sp macro="" textlink="">
      <cdr:nvSpPr>
        <cdr:cNvPr id="4" name="Oval 3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4894758" y="1509607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 dirty="0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781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49CEF-E98E-7129-1037-B2EC86148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0BE66-4989-BF1D-B295-9FE6A0E48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1404C-9DFA-6692-E1D8-785927063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3140E-884C-ABC0-4D3F-362BA9115A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4413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7DE2-9A90-6E4C-8932-E990E2FB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40731-5223-CEA1-1B1E-11C5774D29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7B6547-7F11-558A-DE44-3A09FCFFA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953128-C2BE-AE66-F882-826421E6A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7149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439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	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chart" Target="../charts/chart1.xml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34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chart" Target="../charts/chart2.xml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8.png"/><Relationship Id="rId3" Type="http://schemas.openxmlformats.org/officeDocument/2006/relationships/chart" Target="../charts/chart3.xml"/><Relationship Id="rId7" Type="http://schemas.openxmlformats.org/officeDocument/2006/relationships/image" Target="../media/image37.png"/><Relationship Id="rId12" Type="http://schemas.openxmlformats.org/officeDocument/2006/relationships/image" Target="../media/image47.png"/><Relationship Id="rId2" Type="http://schemas.openxmlformats.org/officeDocument/2006/relationships/image" Target="../media/image34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chart" Target="../charts/chart4.xml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png"/><Relationship Id="rId3" Type="http://schemas.openxmlformats.org/officeDocument/2006/relationships/chart" Target="../charts/chart5.xml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2" Type="http://schemas.openxmlformats.org/officeDocument/2006/relationships/image" Target="../media/image32.png"/><Relationship Id="rId16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5" Type="http://schemas.openxmlformats.org/officeDocument/2006/relationships/image" Target="../media/image59.png"/><Relationship Id="rId10" Type="http://schemas.openxmlformats.org/officeDocument/2006/relationships/image" Target="../media/image54.png"/><Relationship Id="rId4" Type="http://schemas.openxmlformats.org/officeDocument/2006/relationships/chart" Target="../charts/chart6.xml"/><Relationship Id="rId9" Type="http://schemas.openxmlformats.org/officeDocument/2006/relationships/image" Target="../media/image53.png"/><Relationship Id="rId1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chart" Target="../charts/chart9.xml"/><Relationship Id="rId7" Type="http://schemas.openxmlformats.org/officeDocument/2006/relationships/image" Target="../media/image6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chart" Target="../charts/chart1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8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0.png"/><Relationship Id="rId5" Type="http://schemas.openxmlformats.org/officeDocument/2006/relationships/image" Target="../media/image590.png"/><Relationship Id="rId4" Type="http://schemas.openxmlformats.org/officeDocument/2006/relationships/image" Target="../media/image58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30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71.sv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640.png"/><Relationship Id="rId9" Type="http://schemas.openxmlformats.org/officeDocument/2006/relationships/image" Target="../media/image69.sv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2" Type="http://schemas.openxmlformats.org/officeDocument/2006/relationships/image" Target="../media/image72.png"/><Relationship Id="rId16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98.png"/><Relationship Id="rId18" Type="http://schemas.openxmlformats.org/officeDocument/2006/relationships/image" Target="../media/image103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12" Type="http://schemas.openxmlformats.org/officeDocument/2006/relationships/image" Target="../media/image97.png"/><Relationship Id="rId17" Type="http://schemas.openxmlformats.org/officeDocument/2006/relationships/image" Target="../media/image102.png"/><Relationship Id="rId2" Type="http://schemas.openxmlformats.org/officeDocument/2006/relationships/image" Target="../media/image87.png"/><Relationship Id="rId16" Type="http://schemas.openxmlformats.org/officeDocument/2006/relationships/image" Target="../media/image101.png"/><Relationship Id="rId20" Type="http://schemas.openxmlformats.org/officeDocument/2006/relationships/image" Target="../media/image10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1.png"/><Relationship Id="rId11" Type="http://schemas.openxmlformats.org/officeDocument/2006/relationships/image" Target="../media/image96.png"/><Relationship Id="rId5" Type="http://schemas.openxmlformats.org/officeDocument/2006/relationships/image" Target="../media/image90.png"/><Relationship Id="rId15" Type="http://schemas.openxmlformats.org/officeDocument/2006/relationships/image" Target="../media/image100.png"/><Relationship Id="rId10" Type="http://schemas.openxmlformats.org/officeDocument/2006/relationships/image" Target="../media/image95.png"/><Relationship Id="rId19" Type="http://schemas.openxmlformats.org/officeDocument/2006/relationships/image" Target="../media/image104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Relationship Id="rId14" Type="http://schemas.openxmlformats.org/officeDocument/2006/relationships/image" Target="../media/image99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16.png"/><Relationship Id="rId18" Type="http://schemas.openxmlformats.org/officeDocument/2006/relationships/image" Target="../media/image121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17" Type="http://schemas.openxmlformats.org/officeDocument/2006/relationships/image" Target="../media/image120.png"/><Relationship Id="rId2" Type="http://schemas.openxmlformats.org/officeDocument/2006/relationships/image" Target="../media/image87.png"/><Relationship Id="rId16" Type="http://schemas.openxmlformats.org/officeDocument/2006/relationships/image" Target="../media/image119.png"/><Relationship Id="rId20" Type="http://schemas.openxmlformats.org/officeDocument/2006/relationships/image" Target="../media/image10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108.png"/><Relationship Id="rId15" Type="http://schemas.openxmlformats.org/officeDocument/2006/relationships/image" Target="../media/image118.png"/><Relationship Id="rId10" Type="http://schemas.openxmlformats.org/officeDocument/2006/relationships/image" Target="../media/image113.png"/><Relationship Id="rId19" Type="http://schemas.openxmlformats.org/officeDocument/2006/relationships/image" Target="../media/image104.png"/><Relationship Id="rId4" Type="http://schemas.openxmlformats.org/officeDocument/2006/relationships/image" Target="../media/image107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3" Type="http://schemas.openxmlformats.org/officeDocument/2006/relationships/image" Target="../media/image123.png"/><Relationship Id="rId7" Type="http://schemas.openxmlformats.org/officeDocument/2006/relationships/image" Target="../media/image127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10" Type="http://schemas.openxmlformats.org/officeDocument/2006/relationships/image" Target="../media/image130.png"/><Relationship Id="rId4" Type="http://schemas.openxmlformats.org/officeDocument/2006/relationships/image" Target="../media/image124.png"/><Relationship Id="rId9" Type="http://schemas.openxmlformats.org/officeDocument/2006/relationships/image" Target="../media/image129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3" Type="http://schemas.openxmlformats.org/officeDocument/2006/relationships/image" Target="../media/image132.png"/><Relationship Id="rId7" Type="http://schemas.openxmlformats.org/officeDocument/2006/relationships/image" Target="../media/image13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4.png"/><Relationship Id="rId5" Type="http://schemas.openxmlformats.org/officeDocument/2006/relationships/image" Target="../media/image133.png"/><Relationship Id="rId10" Type="http://schemas.openxmlformats.org/officeDocument/2006/relationships/image" Target="../media/image138.png"/><Relationship Id="rId4" Type="http://schemas.openxmlformats.org/officeDocument/2006/relationships/image" Target="../media/image113.png"/><Relationship Id="rId9" Type="http://schemas.openxmlformats.org/officeDocument/2006/relationships/image" Target="../media/image1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4.xml"/><Relationship Id="rId5" Type="http://schemas.openxmlformats.org/officeDocument/2006/relationships/image" Target="../media/image140.png"/><Relationship Id="rId4" Type="http://schemas.openxmlformats.org/officeDocument/2006/relationships/image" Target="../media/image14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5.xml"/><Relationship Id="rId5" Type="http://schemas.openxmlformats.org/officeDocument/2006/relationships/image" Target="../media/image140.png"/><Relationship Id="rId4" Type="http://schemas.openxmlformats.org/officeDocument/2006/relationships/image" Target="../media/image14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6.xml"/><Relationship Id="rId5" Type="http://schemas.openxmlformats.org/officeDocument/2006/relationships/image" Target="../media/image144.png"/><Relationship Id="rId4" Type="http://schemas.openxmlformats.org/officeDocument/2006/relationships/image" Target="../media/image1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9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0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0.png"/><Relationship Id="rId5" Type="http://schemas.openxmlformats.org/officeDocument/2006/relationships/image" Target="../media/image1300.png"/><Relationship Id="rId4" Type="http://schemas.openxmlformats.org/officeDocument/2006/relationships/image" Target="../media/image129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0.png"/><Relationship Id="rId5" Type="http://schemas.openxmlformats.org/officeDocument/2006/relationships/image" Target="../media/image1300.png"/><Relationship Id="rId4" Type="http://schemas.openxmlformats.org/officeDocument/2006/relationships/image" Target="../media/image129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Principal Component Analysis (Math)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AB3F01-B55F-9A63-14C3-6FC44C166E39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Projecting Data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PCA Concepts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Mean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 Matrix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Linear Transformation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Eigenvalues and Eigenvectors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How PCA Works?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F040CE-CACD-0DC8-2221-0DE503F00D88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1157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421A9-7C0B-B52C-A63A-371E8C707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Projecting Data 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BFC21-D7AF-8056-B10F-6787CF82E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84708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Projecting data in PCA is the process of transforming high-dimensional data onto a lower-dimensional space (a "subspace") using new axes called </a:t>
            </a:r>
            <a:r>
              <a:rPr lang="en-US" b="1" dirty="0"/>
              <a:t>principal components (PCs)</a:t>
            </a:r>
            <a:r>
              <a:rPr lang="en-US" dirty="0"/>
              <a:t>, </a:t>
            </a:r>
            <a:endParaRPr lang="en-PH" dirty="0"/>
          </a:p>
        </p:txBody>
      </p:sp>
      <p:pic>
        <p:nvPicPr>
          <p:cNvPr id="5" name="Picture 4" descr="A diagram of weight and height&#10;&#10;AI-generated content may be incorrect.">
            <a:extLst>
              <a:ext uri="{FF2B5EF4-FFF2-40B4-BE49-F238E27FC236}">
                <a16:creationId xmlns:a16="http://schemas.microsoft.com/office/drawing/2014/main" id="{70FEB2D3-ECF1-1D7A-B209-85F1E4189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280" y="1739764"/>
            <a:ext cx="51435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904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1055C-2E37-FA6C-05F6-F835ECFCD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D2D0F-76F3-2A2C-47A3-1F3F0AE05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Projecting Data 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078AF-5B82-29C0-160E-F512AE587F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84708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Principal components (PCs)</a:t>
            </a:r>
            <a:r>
              <a:rPr lang="en-US" dirty="0"/>
              <a:t> are directions of maximum data variance, effectively creating a "shadow" where data points are represented by their scores (coordinates) along these new axes, reducing complexity while keeping essential information for tasks like visualization or modeling.</a:t>
            </a:r>
            <a:endParaRPr lang="en-PH" dirty="0"/>
          </a:p>
        </p:txBody>
      </p:sp>
      <p:pic>
        <p:nvPicPr>
          <p:cNvPr id="5" name="Picture 4" descr="A diagram of weight and height&#10;&#10;AI-generated content may be incorrect.">
            <a:extLst>
              <a:ext uri="{FF2B5EF4-FFF2-40B4-BE49-F238E27FC236}">
                <a16:creationId xmlns:a16="http://schemas.microsoft.com/office/drawing/2014/main" id="{3EFFA107-0E8F-2624-1173-4026EA8BC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089" y="1746537"/>
            <a:ext cx="51435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659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D6A0E6-016E-09A9-0F2C-1BDD7997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4B750F-96BF-546F-E944-B2629BF8F12E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3F6EA9B-9CAA-3A11-4FCB-C96B26C00A29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4EC084B-FD8D-E966-D2AA-B7483FF4E6E3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E4D745-1CD2-FC38-262B-4342E95D6F20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pic>
        <p:nvPicPr>
          <p:cNvPr id="39" name="Picture 38" descr="A cartoon of a house&#10;&#10;Description automatically generated">
            <a:extLst>
              <a:ext uri="{FF2B5EF4-FFF2-40B4-BE49-F238E27FC236}">
                <a16:creationId xmlns:a16="http://schemas.microsoft.com/office/drawing/2014/main" id="{410A022E-B165-020C-0AD2-DE2567DDC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244387"/>
            <a:ext cx="720000" cy="720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3995C059-498F-3C44-15EB-F62C8DDE2CFC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81E2C0F-F732-C71C-A486-8DA53EBD8196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AEFEC5-D80D-BF5C-0972-5EA09CE607BD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7C7C4B0-C03D-810B-FD7F-4A2383E477DD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49397F4-935D-D3BA-0219-DA266314F68F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E3E938-CA24-3E77-0489-5D4B4D02273E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32BDC8-59CE-5FF4-6BF9-69E27E428ABA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EE6E9F-73B5-9123-66FF-0A2809A1FE4C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984BEDD-BEC5-9CAF-8C24-CEEF2DF98A20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80" name="Picture 79" descr="A cartoon of a house&#10;&#10;Description automatically generated">
            <a:extLst>
              <a:ext uri="{FF2B5EF4-FFF2-40B4-BE49-F238E27FC236}">
                <a16:creationId xmlns:a16="http://schemas.microsoft.com/office/drawing/2014/main" id="{D8370CDA-273C-BD2C-9338-08186A1D8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2709000"/>
            <a:ext cx="828000" cy="828000"/>
          </a:xfrm>
          <a:prstGeom prst="rect">
            <a:avLst/>
          </a:prstGeom>
        </p:spPr>
      </p:pic>
      <p:pic>
        <p:nvPicPr>
          <p:cNvPr id="81" name="Picture 80" descr="A cartoon of a house&#10;&#10;Description automatically generated">
            <a:extLst>
              <a:ext uri="{FF2B5EF4-FFF2-40B4-BE49-F238E27FC236}">
                <a16:creationId xmlns:a16="http://schemas.microsoft.com/office/drawing/2014/main" id="{2DD9E989-6A91-56D8-2C49-5298C4735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202012"/>
            <a:ext cx="1008000" cy="1008000"/>
          </a:xfrm>
          <a:prstGeom prst="rect">
            <a:avLst/>
          </a:prstGeom>
        </p:spPr>
      </p:pic>
      <p:pic>
        <p:nvPicPr>
          <p:cNvPr id="82" name="Picture 81" descr="A cartoon of a house&#10;&#10;Description automatically generated">
            <a:extLst>
              <a:ext uri="{FF2B5EF4-FFF2-40B4-BE49-F238E27FC236}">
                <a16:creationId xmlns:a16="http://schemas.microsoft.com/office/drawing/2014/main" id="{572604F0-287C-6EF1-1456-1393C8B69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800539"/>
            <a:ext cx="1188000" cy="1188000"/>
          </a:xfrm>
          <a:prstGeom prst="rect">
            <a:avLst/>
          </a:prstGeom>
        </p:spPr>
      </p:pic>
      <p:pic>
        <p:nvPicPr>
          <p:cNvPr id="83" name="Picture 82" descr="A cartoon of a house&#10;&#10;Description automatically generated">
            <a:extLst>
              <a:ext uri="{FF2B5EF4-FFF2-40B4-BE49-F238E27FC236}">
                <a16:creationId xmlns:a16="http://schemas.microsoft.com/office/drawing/2014/main" id="{F301A0B7-3275-AF26-5352-BD841EBED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600865"/>
            <a:ext cx="1620000" cy="1620000"/>
          </a:xfrm>
          <a:prstGeom prst="rect">
            <a:avLst/>
          </a:prstGeom>
        </p:spPr>
      </p:pic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D7E3B07-2508-6C92-1112-C0A460A2C41A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695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7D227A-21C4-7E2C-66ED-23E6DD0CA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D71A3D1-2D97-14A5-F47C-CEB47020A330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CFF771D-0166-B3ED-458E-68A8852FEBAE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484A28E6-21B2-209F-96B9-3BDD7AE4310B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ABCFD1-EE21-6A1B-31DB-6E53E4186ECD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pic>
        <p:nvPicPr>
          <p:cNvPr id="39" name="Picture 38" descr="A cartoon of a house&#10;&#10;Description automatically generated">
            <a:extLst>
              <a:ext uri="{FF2B5EF4-FFF2-40B4-BE49-F238E27FC236}">
                <a16:creationId xmlns:a16="http://schemas.microsoft.com/office/drawing/2014/main" id="{C4782217-E2F9-AEB0-D31E-D11BAB36D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244387"/>
            <a:ext cx="720000" cy="720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FD55BCFB-5931-EE06-C8C5-5F2B2D447008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FF3DF72-1BE7-4362-5F65-543DFF3904DC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BF2D831-0859-B66A-E68C-983CC1B195F8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E6490A-727E-E314-2E4C-FC88B8BCB7E4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EE582F-AB44-9F1E-FE2F-17757464DD34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C94B8F-A29A-20F1-3D96-85012C63456E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8E9DA6F-AF16-28DE-5284-4C825EA3B61F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BCFE8D6-4F59-7D33-02A9-22E379D1973D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4DAA710-81DD-8E42-0839-8B4F30B9BA23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80" name="Picture 79" descr="A cartoon of a house&#10;&#10;Description automatically generated">
            <a:extLst>
              <a:ext uri="{FF2B5EF4-FFF2-40B4-BE49-F238E27FC236}">
                <a16:creationId xmlns:a16="http://schemas.microsoft.com/office/drawing/2014/main" id="{AF1165AF-471C-8584-0337-6300E5F94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2709000"/>
            <a:ext cx="828000" cy="828000"/>
          </a:xfrm>
          <a:prstGeom prst="rect">
            <a:avLst/>
          </a:prstGeom>
        </p:spPr>
      </p:pic>
      <p:pic>
        <p:nvPicPr>
          <p:cNvPr id="81" name="Picture 80" descr="A cartoon of a house&#10;&#10;Description automatically generated">
            <a:extLst>
              <a:ext uri="{FF2B5EF4-FFF2-40B4-BE49-F238E27FC236}">
                <a16:creationId xmlns:a16="http://schemas.microsoft.com/office/drawing/2014/main" id="{912ECC80-C30D-EF3E-C005-FFD3C0608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202012"/>
            <a:ext cx="1008000" cy="1008000"/>
          </a:xfrm>
          <a:prstGeom prst="rect">
            <a:avLst/>
          </a:prstGeom>
        </p:spPr>
      </p:pic>
      <p:pic>
        <p:nvPicPr>
          <p:cNvPr id="82" name="Picture 81" descr="A cartoon of a house&#10;&#10;Description automatically generated">
            <a:extLst>
              <a:ext uri="{FF2B5EF4-FFF2-40B4-BE49-F238E27FC236}">
                <a16:creationId xmlns:a16="http://schemas.microsoft.com/office/drawing/2014/main" id="{8B47F8D4-57D2-DD49-E368-C0533CC46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800539"/>
            <a:ext cx="1188000" cy="1188000"/>
          </a:xfrm>
          <a:prstGeom prst="rect">
            <a:avLst/>
          </a:prstGeom>
        </p:spPr>
      </p:pic>
      <p:pic>
        <p:nvPicPr>
          <p:cNvPr id="83" name="Picture 82" descr="A cartoon of a house&#10;&#10;Description automatically generated">
            <a:extLst>
              <a:ext uri="{FF2B5EF4-FFF2-40B4-BE49-F238E27FC236}">
                <a16:creationId xmlns:a16="http://schemas.microsoft.com/office/drawing/2014/main" id="{EE2F1A0B-F8F6-113E-EB1A-4C4FB9BA2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600865"/>
            <a:ext cx="1620000" cy="1620000"/>
          </a:xfrm>
          <a:prstGeom prst="rect">
            <a:avLst/>
          </a:prstGeom>
        </p:spPr>
      </p:pic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CE7310D-1F5F-B5C5-1991-E41028458059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769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3.7037E-6 L 0.00066 0.058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289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07407E-6 L -0.00013 0.1474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7361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4.44444E-6 L -0.00026 0.1055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5278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2.59259E-6 L -0.00039 -0.08658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432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4.44444E-6 L 0.00013 0.09814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E2CF4EE-0FDE-5B93-82FA-30352332A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C12880-1CE4-17AC-A60F-0DBED4606939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BC56B10-707B-70B3-7116-3C4FE6B2A192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B7BCD3A-1EF9-3951-6E33-FC25CEDF449A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F35D0F-0DCC-A68B-0B46-CB5D759F1221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C4C00A3-6F4A-8F1D-8A45-2462ACF0EE05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B393F2-2E63-0C93-B148-F50DC7909F15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1690831-920A-2D20-831F-49A04255833A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DD634B-4507-A8DB-A2F0-7F9E64B340FC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7658019-1DB1-76C4-7AF1-F9995CB505B9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9DF415D-D976-BB5D-12AB-45CA8810C3DB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51D9A2-4AE0-1E4F-DDD0-F9EBC97A462E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D299103-9DC7-8804-77AE-5219C723541A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DC138E8-4167-5660-77C9-4A0D368BBF95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2" name="Picture 1" descr="A cartoon of a house&#10;&#10;Description automatically generated">
            <a:extLst>
              <a:ext uri="{FF2B5EF4-FFF2-40B4-BE49-F238E27FC236}">
                <a16:creationId xmlns:a16="http://schemas.microsoft.com/office/drawing/2014/main" id="{11B90CC2-0A5C-E25F-F3ED-2A4D7DC4F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642486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BB17934B-B562-D4E0-354F-B42AD30A8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3719571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5FD68536-D729-1D2A-CB7E-BF15AF49B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925000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CC7C3901-6BEE-462F-E363-82EA20857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202012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D383A71C-D253-5AB2-F314-3657F15DD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1285950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28C341-05F1-0C18-23C9-7CBCEB4260CA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316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023416-D6B9-1E51-4915-3CD185016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D5D26BF-E7AC-4C03-727C-9D87E9AE7494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C133114-39A0-01EA-36F4-B08C543D2E67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0F3B2AB-FDBF-4BB8-1239-2C05BCA0DFA1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29E478-C47B-B92F-2C0B-32342840DCD6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917F1B-51B2-116D-9492-064D948D472F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62ABFAA-0021-6590-2DE6-76405A16599C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DFA62E-FC3E-3D74-2C14-0B871F26D6F6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9CCF180-27AA-F559-CB07-8E764CF06AA0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B66515F-EDF5-1D56-E9AB-E1E1C06D5F94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187225-8D25-61CF-8D0C-65A3606C1348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7D939A6-F236-8F75-6A8A-0EDAF1019C71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5342128-C8D0-0960-A5F9-D446A453C736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AD062AC-8972-8755-311A-4BB667C3EEA1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2" name="Picture 1" descr="A cartoon of a house&#10;&#10;Description automatically generated">
            <a:extLst>
              <a:ext uri="{FF2B5EF4-FFF2-40B4-BE49-F238E27FC236}">
                <a16:creationId xmlns:a16="http://schemas.microsoft.com/office/drawing/2014/main" id="{C380A2D6-48DF-3951-4CDA-F13051DCB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642486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BF4A6D72-37A7-35C1-1165-4E090F4F7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3719571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EEF04F19-F124-E80A-0B09-5FE882C49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925000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08B9FB6-0FB8-5AB4-E3F8-B56E463AC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202012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93C3FEC7-6543-ECDD-48F5-55CAE6A7A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1285950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81CBF3-CAF7-6051-888F-89D268E49561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476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37" grpId="0"/>
      <p:bldP spid="69" grpId="0"/>
      <p:bldP spid="70" grpId="0"/>
      <p:bldP spid="71" grpId="0"/>
      <p:bldP spid="72" grpId="0"/>
      <p:bldP spid="73" grpId="0"/>
      <p:bldP spid="75" grpId="0"/>
      <p:bldP spid="76" grpId="0"/>
      <p:bldP spid="77" grpId="0"/>
      <p:bldP spid="7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1AB97B-ADD6-EBD4-CD4E-30891B62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29288B8-B841-7E7E-D0E1-CBC9DEF6102D}"/>
              </a:ext>
            </a:extLst>
          </p:cNvPr>
          <p:cNvGrpSpPr/>
          <p:nvPr/>
        </p:nvGrpSpPr>
        <p:grpSpPr>
          <a:xfrm>
            <a:off x="2088544" y="1285950"/>
            <a:ext cx="9433172" cy="4448101"/>
            <a:chOff x="2088544" y="1285950"/>
            <a:chExt cx="9433172" cy="4448101"/>
          </a:xfrm>
        </p:grpSpPr>
        <p:pic>
          <p:nvPicPr>
            <p:cNvPr id="2" name="Picture 1" descr="A cartoon of a house&#10;&#10;Description automatically generated">
              <a:extLst>
                <a:ext uri="{FF2B5EF4-FFF2-40B4-BE49-F238E27FC236}">
                  <a16:creationId xmlns:a16="http://schemas.microsoft.com/office/drawing/2014/main" id="{42BA81B2-AA71-50BA-5B80-00A4DA87E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1179" y="4642486"/>
              <a:ext cx="720000" cy="72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" name="Picture 3" descr="A cartoon of a house&#10;&#10;Description automatically generated">
              <a:extLst>
                <a:ext uri="{FF2B5EF4-FFF2-40B4-BE49-F238E27FC236}">
                  <a16:creationId xmlns:a16="http://schemas.microsoft.com/office/drawing/2014/main" id="{5897CADD-FB49-273F-EFE5-DF3404223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2988" y="3719571"/>
              <a:ext cx="828000" cy="82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CBF264BA-39B8-015C-95AF-6303E95DE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9373" y="2925000"/>
              <a:ext cx="1008000" cy="100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E1E8997D-92EA-6F35-4CF2-E4DC1F38F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88846" y="2202012"/>
              <a:ext cx="1188000" cy="118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Picture 7" descr="A cartoon of a house&#10;&#10;Description automatically generated">
              <a:extLst>
                <a:ext uri="{FF2B5EF4-FFF2-40B4-BE49-F238E27FC236}">
                  <a16:creationId xmlns:a16="http://schemas.microsoft.com/office/drawing/2014/main" id="{63023B68-BB8D-7C07-FF47-DC180BD9E0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08319" y="1285950"/>
              <a:ext cx="1620000" cy="16200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07ED627-6B2F-7C32-7039-310505FD1B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8544" y="1788316"/>
              <a:ext cx="9433172" cy="3945735"/>
            </a:xfrm>
            <a:prstGeom prst="line">
              <a:avLst/>
            </a:prstGeom>
            <a:ln w="571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7655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F584CA2-4E54-81E2-8FAC-71A133D8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4D6AF52-95B9-9015-0758-C1360C7EC186}"/>
              </a:ext>
            </a:extLst>
          </p:cNvPr>
          <p:cNvGrpSpPr/>
          <p:nvPr/>
        </p:nvGrpSpPr>
        <p:grpSpPr>
          <a:xfrm>
            <a:off x="2088544" y="1285950"/>
            <a:ext cx="9433172" cy="4448101"/>
            <a:chOff x="2088544" y="1285950"/>
            <a:chExt cx="9433172" cy="4448101"/>
          </a:xfrm>
        </p:grpSpPr>
        <p:pic>
          <p:nvPicPr>
            <p:cNvPr id="2" name="Picture 1" descr="A cartoon of a house&#10;&#10;Description automatically generated">
              <a:extLst>
                <a:ext uri="{FF2B5EF4-FFF2-40B4-BE49-F238E27FC236}">
                  <a16:creationId xmlns:a16="http://schemas.microsoft.com/office/drawing/2014/main" id="{185FE15F-8211-5A87-FFBB-F4C6B402D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1179" y="4642486"/>
              <a:ext cx="720000" cy="72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" name="Picture 3" descr="A cartoon of a house&#10;&#10;Description automatically generated">
              <a:extLst>
                <a:ext uri="{FF2B5EF4-FFF2-40B4-BE49-F238E27FC236}">
                  <a16:creationId xmlns:a16="http://schemas.microsoft.com/office/drawing/2014/main" id="{21A85269-72C8-115D-A6CD-1EBF50857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2988" y="3719571"/>
              <a:ext cx="828000" cy="82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BCB15CF6-FD8C-584A-B72D-470D24028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9373" y="2925000"/>
              <a:ext cx="1008000" cy="100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4A1E4B15-0573-F6CB-58E6-51686EDB9D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88846" y="2202012"/>
              <a:ext cx="1188000" cy="118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Picture 7" descr="A cartoon of a house&#10;&#10;Description automatically generated">
              <a:extLst>
                <a:ext uri="{FF2B5EF4-FFF2-40B4-BE49-F238E27FC236}">
                  <a16:creationId xmlns:a16="http://schemas.microsoft.com/office/drawing/2014/main" id="{03673ED5-CB18-940C-87DE-8F4CB298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08319" y="1285950"/>
              <a:ext cx="1620000" cy="16200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A828B4F-3DB2-D40A-9507-19F8CCAFFE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8544" y="1788316"/>
              <a:ext cx="9433172" cy="3945735"/>
            </a:xfrm>
            <a:prstGeom prst="line">
              <a:avLst/>
            </a:prstGeom>
            <a:ln w="571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BF018E8-C91C-5F90-FA83-0B496771E97C}"/>
              </a:ext>
            </a:extLst>
          </p:cNvPr>
          <p:cNvSpPr txBox="1"/>
          <p:nvPr/>
        </p:nvSpPr>
        <p:spPr>
          <a:xfrm>
            <a:off x="5766988" y="4663757"/>
            <a:ext cx="1972814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 dimension</a:t>
            </a:r>
          </a:p>
        </p:txBody>
      </p:sp>
    </p:spTree>
    <p:extLst>
      <p:ext uri="{BB962C8B-B14F-4D97-AF65-F5344CB8AC3E}">
        <p14:creationId xmlns:p14="http://schemas.microsoft.com/office/powerpoint/2010/main" val="3046030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380000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8C8F4-24C8-D3D1-362D-C6131274D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</a:t>
            </a:r>
            <a:endParaRPr lang="en-PH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D7752B-EC8C-2997-9970-1AA8229C88F2}"/>
              </a:ext>
            </a:extLst>
          </p:cNvPr>
          <p:cNvSpPr txBox="1"/>
          <p:nvPr/>
        </p:nvSpPr>
        <p:spPr>
          <a:xfrm>
            <a:off x="1201121" y="3954105"/>
            <a:ext cx="192331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One feature </a:t>
            </a:r>
          </a:p>
          <a:p>
            <a:pPr algn="ctr"/>
            <a:r>
              <a:rPr lang="en-US" sz="1500" dirty="0"/>
              <a:t>(</a:t>
            </a:r>
            <a:r>
              <a:rPr lang="en-US" sz="1500" b="1" dirty="0"/>
              <a:t>Height</a:t>
            </a:r>
            <a:r>
              <a:rPr lang="en-US" sz="1500" dirty="0"/>
              <a:t>) </a:t>
            </a:r>
            <a:endParaRPr lang="en-PH" sz="1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50054-8CD5-0ECA-7788-2FE2BBD43479}"/>
              </a:ext>
            </a:extLst>
          </p:cNvPr>
          <p:cNvSpPr txBox="1"/>
          <p:nvPr/>
        </p:nvSpPr>
        <p:spPr>
          <a:xfrm>
            <a:off x="5165526" y="3953983"/>
            <a:ext cx="2909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Two features </a:t>
            </a:r>
          </a:p>
          <a:p>
            <a:pPr algn="ctr"/>
            <a:r>
              <a:rPr lang="en-US" sz="1500" dirty="0"/>
              <a:t>(</a:t>
            </a:r>
            <a:r>
              <a:rPr lang="en-US" sz="1500" b="1" dirty="0"/>
              <a:t>Height</a:t>
            </a:r>
            <a:r>
              <a:rPr lang="en-US" sz="1500" dirty="0"/>
              <a:t> and </a:t>
            </a:r>
            <a:r>
              <a:rPr lang="en-US" sz="1500" b="1" dirty="0"/>
              <a:t>Weight</a:t>
            </a:r>
            <a:r>
              <a:rPr lang="en-US" sz="1500" dirty="0"/>
              <a:t>) </a:t>
            </a:r>
            <a:endParaRPr lang="en-PH" sz="15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62AB02-C0CB-3E3B-02A1-9B4178A2F596}"/>
              </a:ext>
            </a:extLst>
          </p:cNvPr>
          <p:cNvSpPr txBox="1"/>
          <p:nvPr/>
        </p:nvSpPr>
        <p:spPr>
          <a:xfrm>
            <a:off x="9229102" y="3953983"/>
            <a:ext cx="24311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Three features</a:t>
            </a:r>
          </a:p>
          <a:p>
            <a:pPr algn="ctr"/>
            <a:r>
              <a:rPr lang="en-US" sz="1500" dirty="0"/>
              <a:t> (</a:t>
            </a:r>
            <a:r>
              <a:rPr lang="en-US" sz="1500" b="1" dirty="0"/>
              <a:t>Height</a:t>
            </a:r>
            <a:r>
              <a:rPr lang="en-US" sz="1500" dirty="0"/>
              <a:t>, </a:t>
            </a:r>
            <a:r>
              <a:rPr lang="en-US" sz="1500" b="1" dirty="0"/>
              <a:t>Weight</a:t>
            </a:r>
            <a:r>
              <a:rPr lang="en-US" sz="1500" dirty="0"/>
              <a:t> and </a:t>
            </a:r>
            <a:r>
              <a:rPr lang="en-US" sz="1500" b="1" dirty="0"/>
              <a:t>Age</a:t>
            </a:r>
            <a:r>
              <a:rPr lang="en-US" sz="1500" dirty="0"/>
              <a:t>)</a:t>
            </a:r>
            <a:endParaRPr lang="en-PH" sz="1500" dirty="0"/>
          </a:p>
        </p:txBody>
      </p:sp>
      <p:pic>
        <p:nvPicPr>
          <p:cNvPr id="7" name="Picture 6" descr="A graph with blue dots&#10;&#10;AI-generated content may be incorrect.">
            <a:extLst>
              <a:ext uri="{FF2B5EF4-FFF2-40B4-BE49-F238E27FC236}">
                <a16:creationId xmlns:a16="http://schemas.microsoft.com/office/drawing/2014/main" id="{B6030F64-FF9F-BF3D-40C4-DB6D56BC8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6457" y="1599322"/>
            <a:ext cx="2496482" cy="2160000"/>
          </a:xfrm>
          <a:prstGeom prst="rect">
            <a:avLst/>
          </a:prstGeom>
        </p:spPr>
      </p:pic>
      <p:pic>
        <p:nvPicPr>
          <p:cNvPr id="8" name="Picture 7" descr="A line with numbers and text&#10;&#10;AI-generated content may be incorrect.">
            <a:extLst>
              <a:ext uri="{FF2B5EF4-FFF2-40B4-BE49-F238E27FC236}">
                <a16:creationId xmlns:a16="http://schemas.microsoft.com/office/drawing/2014/main" id="{EE7633B1-1610-EEE9-1C44-332B2A5D99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673" t="34238" r="9637" b="26738"/>
          <a:stretch>
            <a:fillRect/>
          </a:stretch>
        </p:blipFill>
        <p:spPr>
          <a:xfrm>
            <a:off x="567656" y="3142777"/>
            <a:ext cx="3190240" cy="457200"/>
          </a:xfrm>
          <a:prstGeom prst="rect">
            <a:avLst/>
          </a:prstGeom>
        </p:spPr>
      </p:pic>
      <p:pic>
        <p:nvPicPr>
          <p:cNvPr id="9" name="Picture 8" descr="A diagram of weight scale&#10;&#10;AI-generated content may be incorrect.">
            <a:extLst>
              <a:ext uri="{FF2B5EF4-FFF2-40B4-BE49-F238E27FC236}">
                <a16:creationId xmlns:a16="http://schemas.microsoft.com/office/drawing/2014/main" id="{67196C03-ADAC-0C39-6696-9C8D5BAA0F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9843" y="1687343"/>
            <a:ext cx="3100766" cy="216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0E6BBE3-65F2-F741-7204-05A9F591976B}"/>
              </a:ext>
            </a:extLst>
          </p:cNvPr>
          <p:cNvSpPr txBox="1"/>
          <p:nvPr/>
        </p:nvSpPr>
        <p:spPr>
          <a:xfrm>
            <a:off x="1236345" y="5278633"/>
            <a:ext cx="9719310" cy="477054"/>
          </a:xfrm>
          <a:custGeom>
            <a:avLst/>
            <a:gdLst>
              <a:gd name="connsiteX0" fmla="*/ 0 w 9719310"/>
              <a:gd name="connsiteY0" fmla="*/ 0 h 477054"/>
              <a:gd name="connsiteX1" fmla="*/ 766110 w 9719310"/>
              <a:gd name="connsiteY1" fmla="*/ 0 h 477054"/>
              <a:gd name="connsiteX2" fmla="*/ 1532221 w 9719310"/>
              <a:gd name="connsiteY2" fmla="*/ 0 h 477054"/>
              <a:gd name="connsiteX3" fmla="*/ 2201138 w 9719310"/>
              <a:gd name="connsiteY3" fmla="*/ 0 h 477054"/>
              <a:gd name="connsiteX4" fmla="*/ 2772862 w 9719310"/>
              <a:gd name="connsiteY4" fmla="*/ 0 h 477054"/>
              <a:gd name="connsiteX5" fmla="*/ 3150200 w 9719310"/>
              <a:gd name="connsiteY5" fmla="*/ 0 h 477054"/>
              <a:gd name="connsiteX6" fmla="*/ 3527538 w 9719310"/>
              <a:gd name="connsiteY6" fmla="*/ 0 h 477054"/>
              <a:gd name="connsiteX7" fmla="*/ 3904876 w 9719310"/>
              <a:gd name="connsiteY7" fmla="*/ 0 h 477054"/>
              <a:gd name="connsiteX8" fmla="*/ 4670986 w 9719310"/>
              <a:gd name="connsiteY8" fmla="*/ 0 h 477054"/>
              <a:gd name="connsiteX9" fmla="*/ 5437096 w 9719310"/>
              <a:gd name="connsiteY9" fmla="*/ 0 h 477054"/>
              <a:gd name="connsiteX10" fmla="*/ 5814434 w 9719310"/>
              <a:gd name="connsiteY10" fmla="*/ 0 h 477054"/>
              <a:gd name="connsiteX11" fmla="*/ 6288965 w 9719310"/>
              <a:gd name="connsiteY11" fmla="*/ 0 h 477054"/>
              <a:gd name="connsiteX12" fmla="*/ 6957883 w 9719310"/>
              <a:gd name="connsiteY12" fmla="*/ 0 h 477054"/>
              <a:gd name="connsiteX13" fmla="*/ 7529607 w 9719310"/>
              <a:gd name="connsiteY13" fmla="*/ 0 h 477054"/>
              <a:gd name="connsiteX14" fmla="*/ 7906945 w 9719310"/>
              <a:gd name="connsiteY14" fmla="*/ 0 h 477054"/>
              <a:gd name="connsiteX15" fmla="*/ 8478669 w 9719310"/>
              <a:gd name="connsiteY15" fmla="*/ 0 h 477054"/>
              <a:gd name="connsiteX16" fmla="*/ 9719310 w 9719310"/>
              <a:gd name="connsiteY16" fmla="*/ 0 h 477054"/>
              <a:gd name="connsiteX17" fmla="*/ 9719310 w 9719310"/>
              <a:gd name="connsiteY17" fmla="*/ 477054 h 477054"/>
              <a:gd name="connsiteX18" fmla="*/ 8953200 w 9719310"/>
              <a:gd name="connsiteY18" fmla="*/ 477054 h 477054"/>
              <a:gd name="connsiteX19" fmla="*/ 8478669 w 9719310"/>
              <a:gd name="connsiteY19" fmla="*/ 477054 h 477054"/>
              <a:gd name="connsiteX20" fmla="*/ 7906945 w 9719310"/>
              <a:gd name="connsiteY20" fmla="*/ 477054 h 477054"/>
              <a:gd name="connsiteX21" fmla="*/ 7238027 w 9719310"/>
              <a:gd name="connsiteY21" fmla="*/ 477054 h 477054"/>
              <a:gd name="connsiteX22" fmla="*/ 6471917 w 9719310"/>
              <a:gd name="connsiteY22" fmla="*/ 477054 h 477054"/>
              <a:gd name="connsiteX23" fmla="*/ 5900193 w 9719310"/>
              <a:gd name="connsiteY23" fmla="*/ 477054 h 477054"/>
              <a:gd name="connsiteX24" fmla="*/ 5620048 w 9719310"/>
              <a:gd name="connsiteY24" fmla="*/ 477054 h 477054"/>
              <a:gd name="connsiteX25" fmla="*/ 5339903 w 9719310"/>
              <a:gd name="connsiteY25" fmla="*/ 477054 h 477054"/>
              <a:gd name="connsiteX26" fmla="*/ 4573793 w 9719310"/>
              <a:gd name="connsiteY26" fmla="*/ 477054 h 477054"/>
              <a:gd name="connsiteX27" fmla="*/ 4099262 w 9719310"/>
              <a:gd name="connsiteY27" fmla="*/ 477054 h 477054"/>
              <a:gd name="connsiteX28" fmla="*/ 3527538 w 9719310"/>
              <a:gd name="connsiteY28" fmla="*/ 477054 h 477054"/>
              <a:gd name="connsiteX29" fmla="*/ 3150200 w 9719310"/>
              <a:gd name="connsiteY29" fmla="*/ 477054 h 477054"/>
              <a:gd name="connsiteX30" fmla="*/ 2870055 w 9719310"/>
              <a:gd name="connsiteY30" fmla="*/ 477054 h 477054"/>
              <a:gd name="connsiteX31" fmla="*/ 2492717 w 9719310"/>
              <a:gd name="connsiteY31" fmla="*/ 477054 h 477054"/>
              <a:gd name="connsiteX32" fmla="*/ 1920993 w 9719310"/>
              <a:gd name="connsiteY32" fmla="*/ 477054 h 477054"/>
              <a:gd name="connsiteX33" fmla="*/ 1543655 w 9719310"/>
              <a:gd name="connsiteY33" fmla="*/ 477054 h 477054"/>
              <a:gd name="connsiteX34" fmla="*/ 777545 w 9719310"/>
              <a:gd name="connsiteY34" fmla="*/ 477054 h 477054"/>
              <a:gd name="connsiteX35" fmla="*/ 0 w 9719310"/>
              <a:gd name="connsiteY35" fmla="*/ 477054 h 477054"/>
              <a:gd name="connsiteX36" fmla="*/ 0 w 9719310"/>
              <a:gd name="connsiteY36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9719310" h="477054" extrusionOk="0">
                <a:moveTo>
                  <a:pt x="0" y="0"/>
                </a:moveTo>
                <a:cubicBezTo>
                  <a:pt x="270594" y="-12581"/>
                  <a:pt x="384918" y="86466"/>
                  <a:pt x="766110" y="0"/>
                </a:cubicBezTo>
                <a:cubicBezTo>
                  <a:pt x="1147302" y="-86466"/>
                  <a:pt x="1329288" y="42607"/>
                  <a:pt x="1532221" y="0"/>
                </a:cubicBezTo>
                <a:cubicBezTo>
                  <a:pt x="1735154" y="-42607"/>
                  <a:pt x="1950550" y="20512"/>
                  <a:pt x="2201138" y="0"/>
                </a:cubicBezTo>
                <a:cubicBezTo>
                  <a:pt x="2451726" y="-20512"/>
                  <a:pt x="2575631" y="14155"/>
                  <a:pt x="2772862" y="0"/>
                </a:cubicBezTo>
                <a:cubicBezTo>
                  <a:pt x="2970093" y="-14155"/>
                  <a:pt x="2970749" y="2909"/>
                  <a:pt x="3150200" y="0"/>
                </a:cubicBezTo>
                <a:cubicBezTo>
                  <a:pt x="3329651" y="-2909"/>
                  <a:pt x="3358298" y="9511"/>
                  <a:pt x="3527538" y="0"/>
                </a:cubicBezTo>
                <a:cubicBezTo>
                  <a:pt x="3696778" y="-9511"/>
                  <a:pt x="3817143" y="17286"/>
                  <a:pt x="3904876" y="0"/>
                </a:cubicBezTo>
                <a:cubicBezTo>
                  <a:pt x="3992609" y="-17286"/>
                  <a:pt x="4483060" y="48913"/>
                  <a:pt x="4670986" y="0"/>
                </a:cubicBezTo>
                <a:cubicBezTo>
                  <a:pt x="4858912" y="-48913"/>
                  <a:pt x="5272327" y="27140"/>
                  <a:pt x="5437096" y="0"/>
                </a:cubicBezTo>
                <a:cubicBezTo>
                  <a:pt x="5601865" y="-27140"/>
                  <a:pt x="5681366" y="25179"/>
                  <a:pt x="5814434" y="0"/>
                </a:cubicBezTo>
                <a:cubicBezTo>
                  <a:pt x="5947502" y="-25179"/>
                  <a:pt x="6072320" y="49732"/>
                  <a:pt x="6288965" y="0"/>
                </a:cubicBezTo>
                <a:cubicBezTo>
                  <a:pt x="6505610" y="-49732"/>
                  <a:pt x="6703177" y="76370"/>
                  <a:pt x="6957883" y="0"/>
                </a:cubicBezTo>
                <a:cubicBezTo>
                  <a:pt x="7212589" y="-76370"/>
                  <a:pt x="7347493" y="1552"/>
                  <a:pt x="7529607" y="0"/>
                </a:cubicBezTo>
                <a:cubicBezTo>
                  <a:pt x="7711721" y="-1552"/>
                  <a:pt x="7824624" y="5697"/>
                  <a:pt x="7906945" y="0"/>
                </a:cubicBezTo>
                <a:cubicBezTo>
                  <a:pt x="7989266" y="-5697"/>
                  <a:pt x="8196788" y="31893"/>
                  <a:pt x="8478669" y="0"/>
                </a:cubicBezTo>
                <a:cubicBezTo>
                  <a:pt x="8760550" y="-31893"/>
                  <a:pt x="9371099" y="142272"/>
                  <a:pt x="9719310" y="0"/>
                </a:cubicBezTo>
                <a:cubicBezTo>
                  <a:pt x="9744652" y="215080"/>
                  <a:pt x="9674116" y="241454"/>
                  <a:pt x="9719310" y="477054"/>
                </a:cubicBezTo>
                <a:cubicBezTo>
                  <a:pt x="9352978" y="503632"/>
                  <a:pt x="9316200" y="431637"/>
                  <a:pt x="8953200" y="477054"/>
                </a:cubicBezTo>
                <a:cubicBezTo>
                  <a:pt x="8590200" y="522471"/>
                  <a:pt x="8701103" y="422685"/>
                  <a:pt x="8478669" y="477054"/>
                </a:cubicBezTo>
                <a:cubicBezTo>
                  <a:pt x="8256235" y="531423"/>
                  <a:pt x="8159708" y="441842"/>
                  <a:pt x="7906945" y="477054"/>
                </a:cubicBezTo>
                <a:cubicBezTo>
                  <a:pt x="7654182" y="512266"/>
                  <a:pt x="7521821" y="452733"/>
                  <a:pt x="7238027" y="477054"/>
                </a:cubicBezTo>
                <a:cubicBezTo>
                  <a:pt x="6954233" y="501375"/>
                  <a:pt x="6766470" y="475845"/>
                  <a:pt x="6471917" y="477054"/>
                </a:cubicBezTo>
                <a:cubicBezTo>
                  <a:pt x="6177364" y="478263"/>
                  <a:pt x="6113173" y="444096"/>
                  <a:pt x="5900193" y="477054"/>
                </a:cubicBezTo>
                <a:cubicBezTo>
                  <a:pt x="5687213" y="510012"/>
                  <a:pt x="5684555" y="464136"/>
                  <a:pt x="5620048" y="477054"/>
                </a:cubicBezTo>
                <a:cubicBezTo>
                  <a:pt x="5555541" y="489972"/>
                  <a:pt x="5469053" y="444896"/>
                  <a:pt x="5339903" y="477054"/>
                </a:cubicBezTo>
                <a:cubicBezTo>
                  <a:pt x="5210754" y="509212"/>
                  <a:pt x="4741949" y="400629"/>
                  <a:pt x="4573793" y="477054"/>
                </a:cubicBezTo>
                <a:cubicBezTo>
                  <a:pt x="4405637" y="553479"/>
                  <a:pt x="4298256" y="435869"/>
                  <a:pt x="4099262" y="477054"/>
                </a:cubicBezTo>
                <a:cubicBezTo>
                  <a:pt x="3900268" y="518239"/>
                  <a:pt x="3669778" y="411189"/>
                  <a:pt x="3527538" y="477054"/>
                </a:cubicBezTo>
                <a:cubicBezTo>
                  <a:pt x="3385298" y="542919"/>
                  <a:pt x="3253644" y="463851"/>
                  <a:pt x="3150200" y="477054"/>
                </a:cubicBezTo>
                <a:cubicBezTo>
                  <a:pt x="3046756" y="490257"/>
                  <a:pt x="2992112" y="445019"/>
                  <a:pt x="2870055" y="477054"/>
                </a:cubicBezTo>
                <a:cubicBezTo>
                  <a:pt x="2747998" y="509089"/>
                  <a:pt x="2579348" y="460273"/>
                  <a:pt x="2492717" y="477054"/>
                </a:cubicBezTo>
                <a:cubicBezTo>
                  <a:pt x="2406086" y="493835"/>
                  <a:pt x="2178577" y="444070"/>
                  <a:pt x="1920993" y="477054"/>
                </a:cubicBezTo>
                <a:cubicBezTo>
                  <a:pt x="1663409" y="510038"/>
                  <a:pt x="1726488" y="438143"/>
                  <a:pt x="1543655" y="477054"/>
                </a:cubicBezTo>
                <a:cubicBezTo>
                  <a:pt x="1360822" y="515965"/>
                  <a:pt x="1131812" y="459934"/>
                  <a:pt x="777545" y="477054"/>
                </a:cubicBezTo>
                <a:cubicBezTo>
                  <a:pt x="423278" y="494174"/>
                  <a:pt x="271128" y="425633"/>
                  <a:pt x="0" y="477054"/>
                </a:cubicBezTo>
                <a:cubicBezTo>
                  <a:pt x="-57150" y="351676"/>
                  <a:pt x="34718" y="145785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For datasets with more than </a:t>
            </a:r>
            <a:r>
              <a:rPr lang="en-PH" sz="2500" b="1" dirty="0"/>
              <a:t>three features</a:t>
            </a:r>
            <a:r>
              <a:rPr lang="en-PH" sz="2500" dirty="0"/>
              <a:t>, we simply cannot draw it.</a:t>
            </a:r>
          </a:p>
        </p:txBody>
      </p:sp>
    </p:spTree>
    <p:extLst>
      <p:ext uri="{BB962C8B-B14F-4D97-AF65-F5344CB8AC3E}">
        <p14:creationId xmlns:p14="http://schemas.microsoft.com/office/powerpoint/2010/main" val="420631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57188-5DB0-619E-343E-50C78701A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957E480-D39A-2571-F26D-C5B51534B503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Projecting Data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PCA Concepts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Mean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 Matrix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Linear Transformation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Eigenvalues and Eigenvectors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How PCA Works?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B8AF8D-C299-7663-6DF3-E4A623D6D05E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118129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36CCC-249B-D8DB-0C8E-961C6C15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FF1F0-4B68-17D5-FD6F-BB6EC66B0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 dirty="0"/>
          </a:p>
        </p:txBody>
      </p:sp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C6AA110D-996C-7AEE-2BAF-FE58894C7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000" y="3202015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17841BC1-54CF-59ED-3508-BA529BF51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6000" y="3106738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F70ED9F5-D12D-F69A-8A34-C9103DEA9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000" y="3047419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BFD3D48E-DC11-C283-1EE4-3EB5B38C9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8000" y="2879850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25" name="Picture 24" descr="A cartoon of a house&#10;&#10;Description automatically generated">
            <a:extLst>
              <a:ext uri="{FF2B5EF4-FFF2-40B4-BE49-F238E27FC236}">
                <a16:creationId xmlns:a16="http://schemas.microsoft.com/office/drawing/2014/main" id="{1A11155A-9721-33B6-7667-0A482FF91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4000" y="2641093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ADB7A66-8D75-2D0E-8677-C0650907603C}"/>
              </a:ext>
            </a:extLst>
          </p:cNvPr>
          <p:cNvCxnSpPr>
            <a:cxnSpLocks/>
          </p:cNvCxnSpPr>
          <p:nvPr/>
        </p:nvCxnSpPr>
        <p:spPr>
          <a:xfrm flipV="1">
            <a:off x="948267" y="3549771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09B2DA7-FC99-27FC-7502-06589CDA0311}"/>
              </a:ext>
            </a:extLst>
          </p:cNvPr>
          <p:cNvSpPr txBox="1"/>
          <p:nvPr/>
        </p:nvSpPr>
        <p:spPr>
          <a:xfrm>
            <a:off x="1343951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021024-7699-3971-9995-53F59F98CDE0}"/>
              </a:ext>
            </a:extLst>
          </p:cNvPr>
          <p:cNvSpPr txBox="1"/>
          <p:nvPr/>
        </p:nvSpPr>
        <p:spPr>
          <a:xfrm>
            <a:off x="3237925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AF6614-025C-656A-421E-E8EF5C3048D3}"/>
              </a:ext>
            </a:extLst>
          </p:cNvPr>
          <p:cNvSpPr txBox="1"/>
          <p:nvPr/>
        </p:nvSpPr>
        <p:spPr>
          <a:xfrm>
            <a:off x="5265765" y="4047246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BFB038-94B2-E28C-71F7-9154DEA3A115}"/>
              </a:ext>
            </a:extLst>
          </p:cNvPr>
          <p:cNvSpPr txBox="1"/>
          <p:nvPr/>
        </p:nvSpPr>
        <p:spPr>
          <a:xfrm>
            <a:off x="7476597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C9F440-3347-C849-75FC-17C8007104B6}"/>
              </a:ext>
            </a:extLst>
          </p:cNvPr>
          <p:cNvSpPr txBox="1"/>
          <p:nvPr/>
        </p:nvSpPr>
        <p:spPr>
          <a:xfrm>
            <a:off x="9945395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6824ABD-270B-E003-72E9-FB7CDA87C181}"/>
                  </a:ext>
                </a:extLst>
              </p:cNvPr>
              <p:cNvSpPr txBox="1"/>
              <p:nvPr/>
            </p:nvSpPr>
            <p:spPr>
              <a:xfrm>
                <a:off x="4403511" y="5012570"/>
                <a:ext cx="4438331" cy="7305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𝑴𝒆𝒂𝒏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1+2+3+4+5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6824ABD-270B-E003-72E9-FB7CDA87C1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511" y="5012570"/>
                <a:ext cx="4438331" cy="7305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E1A4DDAF-2EA5-7AE2-8722-E7F82439C4FB}"/>
              </a:ext>
            </a:extLst>
          </p:cNvPr>
          <p:cNvSpPr txBox="1"/>
          <p:nvPr/>
        </p:nvSpPr>
        <p:spPr>
          <a:xfrm>
            <a:off x="961156" y="2609848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C00000"/>
                </a:solidFill>
              </a:rPr>
              <a:t>House 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B1EA51-0370-42EC-4FA2-743B2B46B52B}"/>
              </a:ext>
            </a:extLst>
          </p:cNvPr>
          <p:cNvSpPr txBox="1"/>
          <p:nvPr/>
        </p:nvSpPr>
        <p:spPr>
          <a:xfrm>
            <a:off x="2938480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27525BE-23B4-4568-78A0-586A77918146}"/>
              </a:ext>
            </a:extLst>
          </p:cNvPr>
          <p:cNvSpPr txBox="1"/>
          <p:nvPr/>
        </p:nvSpPr>
        <p:spPr>
          <a:xfrm>
            <a:off x="5025625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DFE5F1-4D58-6D6B-2558-DEE987CEB09B}"/>
              </a:ext>
            </a:extLst>
          </p:cNvPr>
          <p:cNvSpPr txBox="1"/>
          <p:nvPr/>
        </p:nvSpPr>
        <p:spPr>
          <a:xfrm>
            <a:off x="7288692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62649B-68C4-EDB2-2901-0466AA312B44}"/>
              </a:ext>
            </a:extLst>
          </p:cNvPr>
          <p:cNvSpPr txBox="1"/>
          <p:nvPr/>
        </p:nvSpPr>
        <p:spPr>
          <a:xfrm>
            <a:off x="9736502" y="2594059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00B050"/>
                </a:solidFill>
              </a:rPr>
              <a:t>House 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E31906-0529-2E01-FBD1-59FC3B0ABD90}"/>
              </a:ext>
            </a:extLst>
          </p:cNvPr>
          <p:cNvSpPr txBox="1"/>
          <p:nvPr/>
        </p:nvSpPr>
        <p:spPr>
          <a:xfrm>
            <a:off x="4403511" y="5890428"/>
            <a:ext cx="3729559" cy="553998"/>
          </a:xfrm>
          <a:custGeom>
            <a:avLst/>
            <a:gdLst>
              <a:gd name="connsiteX0" fmla="*/ 0 w 3729559"/>
              <a:gd name="connsiteY0" fmla="*/ 0 h 553998"/>
              <a:gd name="connsiteX1" fmla="*/ 696184 w 3729559"/>
              <a:gd name="connsiteY1" fmla="*/ 0 h 553998"/>
              <a:gd name="connsiteX2" fmla="*/ 1317778 w 3729559"/>
              <a:gd name="connsiteY2" fmla="*/ 0 h 553998"/>
              <a:gd name="connsiteX3" fmla="*/ 1976666 w 3729559"/>
              <a:gd name="connsiteY3" fmla="*/ 0 h 553998"/>
              <a:gd name="connsiteX4" fmla="*/ 2486373 w 3729559"/>
              <a:gd name="connsiteY4" fmla="*/ 0 h 553998"/>
              <a:gd name="connsiteX5" fmla="*/ 3033375 w 3729559"/>
              <a:gd name="connsiteY5" fmla="*/ 0 h 553998"/>
              <a:gd name="connsiteX6" fmla="*/ 3729559 w 3729559"/>
              <a:gd name="connsiteY6" fmla="*/ 0 h 553998"/>
              <a:gd name="connsiteX7" fmla="*/ 3729559 w 3729559"/>
              <a:gd name="connsiteY7" fmla="*/ 553998 h 553998"/>
              <a:gd name="connsiteX8" fmla="*/ 3145261 w 3729559"/>
              <a:gd name="connsiteY8" fmla="*/ 553998 h 553998"/>
              <a:gd name="connsiteX9" fmla="*/ 2523668 w 3729559"/>
              <a:gd name="connsiteY9" fmla="*/ 553998 h 553998"/>
              <a:gd name="connsiteX10" fmla="*/ 1976666 w 3729559"/>
              <a:gd name="connsiteY10" fmla="*/ 553998 h 553998"/>
              <a:gd name="connsiteX11" fmla="*/ 1355073 w 3729559"/>
              <a:gd name="connsiteY11" fmla="*/ 553998 h 553998"/>
              <a:gd name="connsiteX12" fmla="*/ 770776 w 3729559"/>
              <a:gd name="connsiteY12" fmla="*/ 553998 h 553998"/>
              <a:gd name="connsiteX13" fmla="*/ 0 w 3729559"/>
              <a:gd name="connsiteY13" fmla="*/ 553998 h 553998"/>
              <a:gd name="connsiteX14" fmla="*/ 0 w 3729559"/>
              <a:gd name="connsiteY14" fmla="*/ 0 h 553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729559" h="553998" extrusionOk="0">
                <a:moveTo>
                  <a:pt x="0" y="0"/>
                </a:moveTo>
                <a:cubicBezTo>
                  <a:pt x="189150" y="-20076"/>
                  <a:pt x="385722" y="9401"/>
                  <a:pt x="696184" y="0"/>
                </a:cubicBezTo>
                <a:cubicBezTo>
                  <a:pt x="1006646" y="-9401"/>
                  <a:pt x="1012250" y="24333"/>
                  <a:pt x="1317778" y="0"/>
                </a:cubicBezTo>
                <a:cubicBezTo>
                  <a:pt x="1623306" y="-24333"/>
                  <a:pt x="1770324" y="13710"/>
                  <a:pt x="1976666" y="0"/>
                </a:cubicBezTo>
                <a:cubicBezTo>
                  <a:pt x="2183008" y="-13710"/>
                  <a:pt x="2378216" y="-2081"/>
                  <a:pt x="2486373" y="0"/>
                </a:cubicBezTo>
                <a:cubicBezTo>
                  <a:pt x="2594530" y="2081"/>
                  <a:pt x="2824995" y="2562"/>
                  <a:pt x="3033375" y="0"/>
                </a:cubicBezTo>
                <a:cubicBezTo>
                  <a:pt x="3241755" y="-2562"/>
                  <a:pt x="3548609" y="18460"/>
                  <a:pt x="3729559" y="0"/>
                </a:cubicBezTo>
                <a:cubicBezTo>
                  <a:pt x="3714453" y="267575"/>
                  <a:pt x="3708571" y="280489"/>
                  <a:pt x="3729559" y="553998"/>
                </a:cubicBezTo>
                <a:cubicBezTo>
                  <a:pt x="3572033" y="574760"/>
                  <a:pt x="3424007" y="526407"/>
                  <a:pt x="3145261" y="553998"/>
                </a:cubicBezTo>
                <a:cubicBezTo>
                  <a:pt x="2866515" y="581589"/>
                  <a:pt x="2653660" y="562476"/>
                  <a:pt x="2523668" y="553998"/>
                </a:cubicBezTo>
                <a:cubicBezTo>
                  <a:pt x="2393676" y="545520"/>
                  <a:pt x="2116829" y="565693"/>
                  <a:pt x="1976666" y="553998"/>
                </a:cubicBezTo>
                <a:cubicBezTo>
                  <a:pt x="1836503" y="542303"/>
                  <a:pt x="1555731" y="551036"/>
                  <a:pt x="1355073" y="553998"/>
                </a:cubicBezTo>
                <a:cubicBezTo>
                  <a:pt x="1154415" y="556960"/>
                  <a:pt x="921938" y="530117"/>
                  <a:pt x="770776" y="553998"/>
                </a:cubicBezTo>
                <a:cubicBezTo>
                  <a:pt x="619614" y="577879"/>
                  <a:pt x="171688" y="545452"/>
                  <a:pt x="0" y="553998"/>
                </a:cubicBezTo>
                <a:cubicBezTo>
                  <a:pt x="11662" y="402030"/>
                  <a:pt x="9133" y="11239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5554960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3000" b="1" dirty="0">
                <a:solidFill>
                  <a:srgbClr val="FFC000"/>
                </a:solidFill>
              </a:rPr>
              <a:t>House C </a:t>
            </a:r>
            <a:r>
              <a:rPr lang="en-PH" sz="3000" dirty="0"/>
              <a:t>is the mean</a:t>
            </a:r>
          </a:p>
        </p:txBody>
      </p:sp>
    </p:spTree>
    <p:extLst>
      <p:ext uri="{BB962C8B-B14F-4D97-AF65-F5344CB8AC3E}">
        <p14:creationId xmlns:p14="http://schemas.microsoft.com/office/powerpoint/2010/main" val="1426472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F6F9D-8C60-F256-212E-16BE36C93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in One Dimension</a:t>
            </a:r>
            <a:endParaRPr lang="en-PH" dirty="0"/>
          </a:p>
        </p:txBody>
      </p:sp>
      <p:pic>
        <p:nvPicPr>
          <p:cNvPr id="44" name="Picture 43" descr="A cartoon of a house&#10;&#10;Description automatically generated">
            <a:extLst>
              <a:ext uri="{FF2B5EF4-FFF2-40B4-BE49-F238E27FC236}">
                <a16:creationId xmlns:a16="http://schemas.microsoft.com/office/drawing/2014/main" id="{6484A52A-D0B5-925B-3650-445796EE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920" y="2617577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45" name="Picture 44" descr="A cartoon of a house&#10;&#10;Description automatically generated">
            <a:extLst>
              <a:ext uri="{FF2B5EF4-FFF2-40B4-BE49-F238E27FC236}">
                <a16:creationId xmlns:a16="http://schemas.microsoft.com/office/drawing/2014/main" id="{1A3A4A9E-A1E8-E1F2-22B8-F7212D62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2558258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46" name="Picture 45" descr="A cartoon of a house&#10;&#10;Description automatically generated">
            <a:extLst>
              <a:ext uri="{FF2B5EF4-FFF2-40B4-BE49-F238E27FC236}">
                <a16:creationId xmlns:a16="http://schemas.microsoft.com/office/drawing/2014/main" id="{15FF58EB-E343-3591-5AAD-306709940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9920" y="2390689"/>
            <a:ext cx="1188000" cy="1188000"/>
          </a:xfrm>
          <a:prstGeom prst="rect">
            <a:avLst/>
          </a:prstGeom>
          <a:ln>
            <a:noFill/>
          </a:ln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35B2C92-02AD-19E6-F956-53ADF36819D0}"/>
              </a:ext>
            </a:extLst>
          </p:cNvPr>
          <p:cNvCxnSpPr>
            <a:cxnSpLocks/>
          </p:cNvCxnSpPr>
          <p:nvPr/>
        </p:nvCxnSpPr>
        <p:spPr>
          <a:xfrm flipV="1">
            <a:off x="1070187" y="3060610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42C3DD3-9EAC-3B3C-E715-7FD31ACD9CE2}"/>
                  </a:ext>
                </a:extLst>
              </p:cNvPr>
              <p:cNvSpPr txBox="1"/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42C3DD3-9EAC-3B3C-E715-7FD31ACD9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21F6AB4D-572D-5DA2-037E-83637C76A06B}"/>
              </a:ext>
            </a:extLst>
          </p:cNvPr>
          <p:cNvGrpSpPr/>
          <p:nvPr/>
        </p:nvGrpSpPr>
        <p:grpSpPr>
          <a:xfrm>
            <a:off x="3885262" y="2547526"/>
            <a:ext cx="1316448" cy="258022"/>
            <a:chOff x="3894666" y="2424536"/>
            <a:chExt cx="1316448" cy="258022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B81572C-6DC9-38C1-380A-1B0FF3EF4323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14B5D90-D7AA-18A4-4F8D-E563CDBAFA0A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133E706-2465-55D3-8B45-0C2CFCEB6EA4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0C66AA5-080E-7E49-0A54-E1DCC265A89F}"/>
              </a:ext>
            </a:extLst>
          </p:cNvPr>
          <p:cNvGrpSpPr/>
          <p:nvPr/>
        </p:nvGrpSpPr>
        <p:grpSpPr>
          <a:xfrm>
            <a:off x="6003722" y="2547526"/>
            <a:ext cx="1316448" cy="258022"/>
            <a:chOff x="3894666" y="2424536"/>
            <a:chExt cx="1316448" cy="258022"/>
          </a:xfrm>
        </p:grpSpPr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BCAD0BDA-3D7A-58F5-F54C-0F7EE51401C0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DD1BB87-7942-F373-1F1C-3D5FF40F66FB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868AB81-A156-DF26-1E0C-826ED43A9709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4541D0DD-B6F3-AA7E-F17F-080A224AD1A7}"/>
              </a:ext>
            </a:extLst>
          </p:cNvPr>
          <p:cNvSpPr txBox="1"/>
          <p:nvPr/>
        </p:nvSpPr>
        <p:spPr>
          <a:xfrm>
            <a:off x="4404262" y="22965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D5EE77-D2D4-324D-D5AB-51CB5BA6EB7C}"/>
              </a:ext>
            </a:extLst>
          </p:cNvPr>
          <p:cNvSpPr txBox="1"/>
          <p:nvPr/>
        </p:nvSpPr>
        <p:spPr>
          <a:xfrm>
            <a:off x="6577802" y="231981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D8CA13-84ED-A455-8A12-D64BA16108EF}"/>
              </a:ext>
            </a:extLst>
          </p:cNvPr>
          <p:cNvSpPr txBox="1"/>
          <p:nvPr/>
        </p:nvSpPr>
        <p:spPr>
          <a:xfrm>
            <a:off x="3056734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1F7C7B1-B472-0098-49D5-7FF584507F29}"/>
              </a:ext>
            </a:extLst>
          </p:cNvPr>
          <p:cNvSpPr txBox="1"/>
          <p:nvPr/>
        </p:nvSpPr>
        <p:spPr>
          <a:xfrm>
            <a:off x="5143879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D4832E-C4D2-BC10-1E3C-C8DA0777B833}"/>
              </a:ext>
            </a:extLst>
          </p:cNvPr>
          <p:cNvSpPr txBox="1"/>
          <p:nvPr/>
        </p:nvSpPr>
        <p:spPr>
          <a:xfrm>
            <a:off x="7406946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10829CC-5717-C14A-25A8-B71E5299F5CE}"/>
              </a:ext>
            </a:extLst>
          </p:cNvPr>
          <p:cNvSpPr txBox="1"/>
          <p:nvPr/>
        </p:nvSpPr>
        <p:spPr>
          <a:xfrm>
            <a:off x="7744728" y="1127668"/>
            <a:ext cx="3784332" cy="1246495"/>
          </a:xfrm>
          <a:custGeom>
            <a:avLst/>
            <a:gdLst>
              <a:gd name="connsiteX0" fmla="*/ 0 w 3784332"/>
              <a:gd name="connsiteY0" fmla="*/ 0 h 1246495"/>
              <a:gd name="connsiteX1" fmla="*/ 616305 w 3784332"/>
              <a:gd name="connsiteY1" fmla="*/ 0 h 1246495"/>
              <a:gd name="connsiteX2" fmla="*/ 1232611 w 3784332"/>
              <a:gd name="connsiteY2" fmla="*/ 0 h 1246495"/>
              <a:gd name="connsiteX3" fmla="*/ 1811073 w 3784332"/>
              <a:gd name="connsiteY3" fmla="*/ 0 h 1246495"/>
              <a:gd name="connsiteX4" fmla="*/ 2351692 w 3784332"/>
              <a:gd name="connsiteY4" fmla="*/ 0 h 1246495"/>
              <a:gd name="connsiteX5" fmla="*/ 2816624 w 3784332"/>
              <a:gd name="connsiteY5" fmla="*/ 0 h 1246495"/>
              <a:gd name="connsiteX6" fmla="*/ 3281556 w 3784332"/>
              <a:gd name="connsiteY6" fmla="*/ 0 h 1246495"/>
              <a:gd name="connsiteX7" fmla="*/ 3784332 w 3784332"/>
              <a:gd name="connsiteY7" fmla="*/ 0 h 1246495"/>
              <a:gd name="connsiteX8" fmla="*/ 3784332 w 3784332"/>
              <a:gd name="connsiteY8" fmla="*/ 440428 h 1246495"/>
              <a:gd name="connsiteX9" fmla="*/ 3784332 w 3784332"/>
              <a:gd name="connsiteY9" fmla="*/ 868392 h 1246495"/>
              <a:gd name="connsiteX10" fmla="*/ 3784332 w 3784332"/>
              <a:gd name="connsiteY10" fmla="*/ 1246495 h 1246495"/>
              <a:gd name="connsiteX11" fmla="*/ 3357243 w 3784332"/>
              <a:gd name="connsiteY11" fmla="*/ 1246495 h 1246495"/>
              <a:gd name="connsiteX12" fmla="*/ 2892311 w 3784332"/>
              <a:gd name="connsiteY12" fmla="*/ 1246495 h 1246495"/>
              <a:gd name="connsiteX13" fmla="*/ 2276005 w 3784332"/>
              <a:gd name="connsiteY13" fmla="*/ 1246495 h 1246495"/>
              <a:gd name="connsiteX14" fmla="*/ 1659700 w 3784332"/>
              <a:gd name="connsiteY14" fmla="*/ 1246495 h 1246495"/>
              <a:gd name="connsiteX15" fmla="*/ 1081238 w 3784332"/>
              <a:gd name="connsiteY15" fmla="*/ 1246495 h 1246495"/>
              <a:gd name="connsiteX16" fmla="*/ 578462 w 3784332"/>
              <a:gd name="connsiteY16" fmla="*/ 1246495 h 1246495"/>
              <a:gd name="connsiteX17" fmla="*/ 0 w 3784332"/>
              <a:gd name="connsiteY17" fmla="*/ 1246495 h 1246495"/>
              <a:gd name="connsiteX18" fmla="*/ 0 w 3784332"/>
              <a:gd name="connsiteY18" fmla="*/ 818532 h 1246495"/>
              <a:gd name="connsiteX19" fmla="*/ 0 w 3784332"/>
              <a:gd name="connsiteY19" fmla="*/ 427963 h 1246495"/>
              <a:gd name="connsiteX20" fmla="*/ 0 w 3784332"/>
              <a:gd name="connsiteY20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784332" h="1246495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829823" y="195153"/>
                  <a:pt x="3745918" y="346982"/>
                  <a:pt x="3784332" y="440428"/>
                </a:cubicBezTo>
                <a:cubicBezTo>
                  <a:pt x="3822746" y="533874"/>
                  <a:pt x="3745950" y="666246"/>
                  <a:pt x="3784332" y="868392"/>
                </a:cubicBezTo>
                <a:cubicBezTo>
                  <a:pt x="3822714" y="1070538"/>
                  <a:pt x="3764060" y="1118799"/>
                  <a:pt x="3784332" y="1246495"/>
                </a:cubicBezTo>
                <a:cubicBezTo>
                  <a:pt x="3574989" y="1248362"/>
                  <a:pt x="3569394" y="1231447"/>
                  <a:pt x="3357243" y="1246495"/>
                </a:cubicBezTo>
                <a:cubicBezTo>
                  <a:pt x="3145092" y="1261543"/>
                  <a:pt x="3077068" y="1211000"/>
                  <a:pt x="2892311" y="1246495"/>
                </a:cubicBezTo>
                <a:cubicBezTo>
                  <a:pt x="2707554" y="1281990"/>
                  <a:pt x="2463197" y="1194064"/>
                  <a:pt x="2276005" y="1246495"/>
                </a:cubicBezTo>
                <a:cubicBezTo>
                  <a:pt x="2088813" y="1298926"/>
                  <a:pt x="1787489" y="1180343"/>
                  <a:pt x="1659700" y="1246495"/>
                </a:cubicBezTo>
                <a:cubicBezTo>
                  <a:pt x="1531911" y="1312647"/>
                  <a:pt x="1226335" y="1184480"/>
                  <a:pt x="1081238" y="1246495"/>
                </a:cubicBezTo>
                <a:cubicBezTo>
                  <a:pt x="936141" y="1308510"/>
                  <a:pt x="826402" y="1231578"/>
                  <a:pt x="578462" y="1246495"/>
                </a:cubicBezTo>
                <a:cubicBezTo>
                  <a:pt x="330522" y="1261412"/>
                  <a:pt x="281410" y="1185177"/>
                  <a:pt x="0" y="1246495"/>
                </a:cubicBezTo>
                <a:cubicBezTo>
                  <a:pt x="-35733" y="1085493"/>
                  <a:pt x="30553" y="997779"/>
                  <a:pt x="0" y="818532"/>
                </a:cubicBezTo>
                <a:cubicBezTo>
                  <a:pt x="-30553" y="639285"/>
                  <a:pt x="30556" y="529569"/>
                  <a:pt x="0" y="427963"/>
                </a:cubicBezTo>
                <a:cubicBezTo>
                  <a:pt x="-30556" y="326357"/>
                  <a:pt x="4289" y="10220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rgbClr val="FF0000"/>
                </a:solidFill>
              </a:rPr>
              <a:t>House B </a:t>
            </a:r>
            <a:r>
              <a:rPr lang="en-PH" sz="2500" dirty="0"/>
              <a:t>and</a:t>
            </a:r>
            <a:r>
              <a:rPr lang="en-PH" sz="2500" b="1" dirty="0">
                <a:solidFill>
                  <a:srgbClr val="FFC000"/>
                </a:solidFill>
              </a:rPr>
              <a:t> </a:t>
            </a:r>
            <a:r>
              <a:rPr lang="en-PH" sz="2500" b="1" dirty="0">
                <a:solidFill>
                  <a:srgbClr val="92D050"/>
                </a:solidFill>
              </a:rPr>
              <a:t>House D </a:t>
            </a:r>
            <a:r>
              <a:rPr lang="en-PH" sz="2500" dirty="0"/>
              <a:t>is 1 point away from the </a:t>
            </a:r>
            <a:r>
              <a:rPr lang="en-PH" sz="2500" b="1" dirty="0">
                <a:solidFill>
                  <a:srgbClr val="FFC000"/>
                </a:solidFill>
              </a:rPr>
              <a:t>mean</a:t>
            </a:r>
          </a:p>
        </p:txBody>
      </p:sp>
    </p:spTree>
    <p:extLst>
      <p:ext uri="{BB962C8B-B14F-4D97-AF65-F5344CB8AC3E}">
        <p14:creationId xmlns:p14="http://schemas.microsoft.com/office/powerpoint/2010/main" val="171461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7" grpId="0"/>
      <p:bldP spid="58" grpId="0"/>
      <p:bldP spid="59" grpId="0"/>
      <p:bldP spid="60" grpId="0"/>
      <p:bldP spid="61" grpId="0"/>
      <p:bldP spid="6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2B03-94F3-550F-DF8E-638658EAC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3FA70-E655-53C0-9FD6-A6C0823E7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in One Dimension</a:t>
            </a:r>
            <a:endParaRPr lang="en-PH" dirty="0"/>
          </a:p>
        </p:txBody>
      </p: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41E249F-8A18-CB09-1479-B39C5D7168F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117920" y="2617577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47ABE87E-91F9-8A90-9C90-089B09A4D59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2558258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DB5AE1A6-989D-FA5B-9122-93E94B963FB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29920" y="2390689"/>
            <a:ext cx="1188000" cy="1188000"/>
          </a:xfrm>
          <a:prstGeom prst="rect">
            <a:avLst/>
          </a:prstGeom>
          <a:ln>
            <a:noFill/>
          </a:ln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999FCE9-6ECA-94C1-9E6E-E09FE648BCDF}"/>
              </a:ext>
            </a:extLst>
          </p:cNvPr>
          <p:cNvCxnSpPr>
            <a:cxnSpLocks/>
          </p:cNvCxnSpPr>
          <p:nvPr/>
        </p:nvCxnSpPr>
        <p:spPr>
          <a:xfrm flipV="1">
            <a:off x="1070187" y="3060610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CEFC66-C68D-F822-E6DD-9F4A4300E998}"/>
                  </a:ext>
                </a:extLst>
              </p:cNvPr>
              <p:cNvSpPr txBox="1"/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CEFC66-C68D-F822-E6DD-9F4A4300E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C3FFB975-D481-96C9-7561-C0CC42640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920" y="4601579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56A8D95-5DAC-CF48-0172-17234BC12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4446983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A08D7CD-3209-F44A-77E0-057E58F42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920" y="4040657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6BF875-1733-27BA-EA59-4FB620E1E93E}"/>
              </a:ext>
            </a:extLst>
          </p:cNvPr>
          <p:cNvCxnSpPr>
            <a:cxnSpLocks/>
          </p:cNvCxnSpPr>
          <p:nvPr/>
        </p:nvCxnSpPr>
        <p:spPr>
          <a:xfrm flipV="1">
            <a:off x="1070187" y="4949335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1695FF-A464-D57A-4DD9-B49784968017}"/>
                  </a:ext>
                </a:extLst>
              </p:cNvPr>
              <p:cNvSpPr txBox="1"/>
              <p:nvPr/>
            </p:nvSpPr>
            <p:spPr>
              <a:xfrm>
                <a:off x="3431111" y="5600149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1695FF-A464-D57A-4DD9-B49784968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5600149"/>
                <a:ext cx="4313617" cy="7719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5CF83E73-5CD7-8957-CE9C-F731186EB6F6}"/>
              </a:ext>
            </a:extLst>
          </p:cNvPr>
          <p:cNvGrpSpPr/>
          <p:nvPr/>
        </p:nvGrpSpPr>
        <p:grpSpPr>
          <a:xfrm>
            <a:off x="3885262" y="2547526"/>
            <a:ext cx="1316448" cy="258022"/>
            <a:chOff x="3894666" y="2424536"/>
            <a:chExt cx="1316448" cy="258022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928935-93C1-8140-4B9A-6D684EDF9CD5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BE3D0A7-B285-B5A1-F9AF-ABD4F4D836E8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B1C6CCE-50B8-2C4F-3363-92D075D783EE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18827C0-D76B-0E60-C77B-EDE635346242}"/>
              </a:ext>
            </a:extLst>
          </p:cNvPr>
          <p:cNvGrpSpPr/>
          <p:nvPr/>
        </p:nvGrpSpPr>
        <p:grpSpPr>
          <a:xfrm>
            <a:off x="6003722" y="2547526"/>
            <a:ext cx="1316448" cy="258022"/>
            <a:chOff x="3894666" y="2424536"/>
            <a:chExt cx="1316448" cy="25802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2BE9DE-EB4E-081F-2534-43E8865DA930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F88FE7F-27D6-523F-6B7F-9148A18316F3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6B15A6C-D42B-B465-DEF4-8D519FAC87B3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85F4F8-7B3B-2EB7-A1DE-6898FE6D0E77}"/>
              </a:ext>
            </a:extLst>
          </p:cNvPr>
          <p:cNvGrpSpPr/>
          <p:nvPr/>
        </p:nvGrpSpPr>
        <p:grpSpPr>
          <a:xfrm>
            <a:off x="1948992" y="4628111"/>
            <a:ext cx="3110687" cy="258022"/>
            <a:chOff x="3894666" y="2424536"/>
            <a:chExt cx="1316448" cy="25802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BE87BDA-1150-9E76-1763-DFFC1BE19667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ABBD8C7-25F6-FE48-15BB-0B3F430797D9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1B2F285-E5AA-B539-D84B-8CDC57F2C9C7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E038892-DC49-9C65-3D05-42EE7E37B7E9}"/>
              </a:ext>
            </a:extLst>
          </p:cNvPr>
          <p:cNvGrpSpPr/>
          <p:nvPr/>
        </p:nvGrpSpPr>
        <p:grpSpPr>
          <a:xfrm>
            <a:off x="6064858" y="4628111"/>
            <a:ext cx="3528722" cy="258022"/>
            <a:chOff x="3894666" y="2424536"/>
            <a:chExt cx="1316448" cy="25802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33943D2-E9FA-562C-5A84-952702C52E57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FB78A70-F16C-D81B-BD6D-1E75FDFF663A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28AAE80-562A-2956-3786-A46D2FF10EE4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EF3547DC-17FF-4538-DB4E-53380C6C0803}"/>
              </a:ext>
            </a:extLst>
          </p:cNvPr>
          <p:cNvSpPr txBox="1"/>
          <p:nvPr/>
        </p:nvSpPr>
        <p:spPr>
          <a:xfrm>
            <a:off x="4404262" y="22965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848B2C-DF8B-C1AB-7E63-912BB2586D44}"/>
              </a:ext>
            </a:extLst>
          </p:cNvPr>
          <p:cNvSpPr txBox="1"/>
          <p:nvPr/>
        </p:nvSpPr>
        <p:spPr>
          <a:xfrm>
            <a:off x="6577802" y="231981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617EE2-93F1-8AF0-DFF6-C6D0CB73183F}"/>
              </a:ext>
            </a:extLst>
          </p:cNvPr>
          <p:cNvSpPr txBox="1"/>
          <p:nvPr/>
        </p:nvSpPr>
        <p:spPr>
          <a:xfrm>
            <a:off x="3377871" y="437716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A68235-C25E-3243-92E6-877660E93AF3}"/>
              </a:ext>
            </a:extLst>
          </p:cNvPr>
          <p:cNvSpPr txBox="1"/>
          <p:nvPr/>
        </p:nvSpPr>
        <p:spPr>
          <a:xfrm>
            <a:off x="7813498" y="44236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/>
              <a:t>2</a:t>
            </a:r>
            <a:endParaRPr lang="en-PH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B00043-7C8F-5650-E082-6422EB12475E}"/>
              </a:ext>
            </a:extLst>
          </p:cNvPr>
          <p:cNvSpPr txBox="1"/>
          <p:nvPr/>
        </p:nvSpPr>
        <p:spPr>
          <a:xfrm>
            <a:off x="3056734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C2D0CC-E08A-159E-34C3-6D84B94577F9}"/>
              </a:ext>
            </a:extLst>
          </p:cNvPr>
          <p:cNvSpPr txBox="1"/>
          <p:nvPr/>
        </p:nvSpPr>
        <p:spPr>
          <a:xfrm>
            <a:off x="5143879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DE5CC2-22B8-B6A5-1502-E424E4BDFEC6}"/>
              </a:ext>
            </a:extLst>
          </p:cNvPr>
          <p:cNvSpPr txBox="1"/>
          <p:nvPr/>
        </p:nvSpPr>
        <p:spPr>
          <a:xfrm>
            <a:off x="7406946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E564AA-65D8-0C1B-40A3-BF601894BF0C}"/>
              </a:ext>
            </a:extLst>
          </p:cNvPr>
          <p:cNvSpPr txBox="1"/>
          <p:nvPr/>
        </p:nvSpPr>
        <p:spPr>
          <a:xfrm>
            <a:off x="1149760" y="4271930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C00000"/>
                </a:solidFill>
              </a:rPr>
              <a:t>House 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FC601C-2E05-2234-9476-2ED99AF21306}"/>
              </a:ext>
            </a:extLst>
          </p:cNvPr>
          <p:cNvSpPr txBox="1"/>
          <p:nvPr/>
        </p:nvSpPr>
        <p:spPr>
          <a:xfrm>
            <a:off x="5214229" y="4253805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155931-AD92-AA94-3D99-A6D9DAAEA336}"/>
              </a:ext>
            </a:extLst>
          </p:cNvPr>
          <p:cNvSpPr txBox="1"/>
          <p:nvPr/>
        </p:nvSpPr>
        <p:spPr>
          <a:xfrm>
            <a:off x="9895600" y="4042545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00B050"/>
                </a:solidFill>
              </a:rPr>
              <a:t>House 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481F06-1D41-69FA-0247-C92F6AD85D85}"/>
              </a:ext>
            </a:extLst>
          </p:cNvPr>
          <p:cNvSpPr txBox="1"/>
          <p:nvPr/>
        </p:nvSpPr>
        <p:spPr>
          <a:xfrm>
            <a:off x="7559040" y="1201225"/>
            <a:ext cx="3970020" cy="861774"/>
          </a:xfrm>
          <a:custGeom>
            <a:avLst/>
            <a:gdLst>
              <a:gd name="connsiteX0" fmla="*/ 0 w 3970020"/>
              <a:gd name="connsiteY0" fmla="*/ 0 h 861774"/>
              <a:gd name="connsiteX1" fmla="*/ 646546 w 3970020"/>
              <a:gd name="connsiteY1" fmla="*/ 0 h 861774"/>
              <a:gd name="connsiteX2" fmla="*/ 1293092 w 3970020"/>
              <a:gd name="connsiteY2" fmla="*/ 0 h 861774"/>
              <a:gd name="connsiteX3" fmla="*/ 1899938 w 3970020"/>
              <a:gd name="connsiteY3" fmla="*/ 0 h 861774"/>
              <a:gd name="connsiteX4" fmla="*/ 2467084 w 3970020"/>
              <a:gd name="connsiteY4" fmla="*/ 0 h 861774"/>
              <a:gd name="connsiteX5" fmla="*/ 2954829 w 3970020"/>
              <a:gd name="connsiteY5" fmla="*/ 0 h 861774"/>
              <a:gd name="connsiteX6" fmla="*/ 3442574 w 3970020"/>
              <a:gd name="connsiteY6" fmla="*/ 0 h 861774"/>
              <a:gd name="connsiteX7" fmla="*/ 3970020 w 3970020"/>
              <a:gd name="connsiteY7" fmla="*/ 0 h 861774"/>
              <a:gd name="connsiteX8" fmla="*/ 3970020 w 3970020"/>
              <a:gd name="connsiteY8" fmla="*/ 448122 h 861774"/>
              <a:gd name="connsiteX9" fmla="*/ 3970020 w 3970020"/>
              <a:gd name="connsiteY9" fmla="*/ 861774 h 861774"/>
              <a:gd name="connsiteX10" fmla="*/ 3521975 w 3970020"/>
              <a:gd name="connsiteY10" fmla="*/ 861774 h 861774"/>
              <a:gd name="connsiteX11" fmla="*/ 2875429 w 3970020"/>
              <a:gd name="connsiteY11" fmla="*/ 861774 h 861774"/>
              <a:gd name="connsiteX12" fmla="*/ 2387683 w 3970020"/>
              <a:gd name="connsiteY12" fmla="*/ 861774 h 861774"/>
              <a:gd name="connsiteX13" fmla="*/ 1741137 w 3970020"/>
              <a:gd name="connsiteY13" fmla="*/ 861774 h 861774"/>
              <a:gd name="connsiteX14" fmla="*/ 1094591 w 3970020"/>
              <a:gd name="connsiteY14" fmla="*/ 861774 h 861774"/>
              <a:gd name="connsiteX15" fmla="*/ 487745 w 3970020"/>
              <a:gd name="connsiteY15" fmla="*/ 861774 h 861774"/>
              <a:gd name="connsiteX16" fmla="*/ 0 w 3970020"/>
              <a:gd name="connsiteY16" fmla="*/ 861774 h 861774"/>
              <a:gd name="connsiteX17" fmla="*/ 0 w 3970020"/>
              <a:gd name="connsiteY17" fmla="*/ 422269 h 861774"/>
              <a:gd name="connsiteX18" fmla="*/ 0 w 3970020"/>
              <a:gd name="connsiteY18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970020" h="861774" extrusionOk="0">
                <a:moveTo>
                  <a:pt x="0" y="0"/>
                </a:moveTo>
                <a:cubicBezTo>
                  <a:pt x="225301" y="-56052"/>
                  <a:pt x="423477" y="22285"/>
                  <a:pt x="646546" y="0"/>
                </a:cubicBezTo>
                <a:cubicBezTo>
                  <a:pt x="869615" y="-22285"/>
                  <a:pt x="1122595" y="17446"/>
                  <a:pt x="1293092" y="0"/>
                </a:cubicBezTo>
                <a:cubicBezTo>
                  <a:pt x="1463589" y="-17446"/>
                  <a:pt x="1772448" y="19933"/>
                  <a:pt x="1899938" y="0"/>
                </a:cubicBezTo>
                <a:cubicBezTo>
                  <a:pt x="2027428" y="-19933"/>
                  <a:pt x="2186180" y="17267"/>
                  <a:pt x="2467084" y="0"/>
                </a:cubicBezTo>
                <a:cubicBezTo>
                  <a:pt x="2747988" y="-17267"/>
                  <a:pt x="2793722" y="43311"/>
                  <a:pt x="2954829" y="0"/>
                </a:cubicBezTo>
                <a:cubicBezTo>
                  <a:pt x="3115936" y="-43311"/>
                  <a:pt x="3251460" y="18901"/>
                  <a:pt x="3442574" y="0"/>
                </a:cubicBezTo>
                <a:cubicBezTo>
                  <a:pt x="3633688" y="-18901"/>
                  <a:pt x="3762788" y="33476"/>
                  <a:pt x="3970020" y="0"/>
                </a:cubicBezTo>
                <a:cubicBezTo>
                  <a:pt x="3971070" y="159120"/>
                  <a:pt x="3949848" y="353239"/>
                  <a:pt x="3970020" y="448122"/>
                </a:cubicBezTo>
                <a:cubicBezTo>
                  <a:pt x="3990192" y="543005"/>
                  <a:pt x="3942686" y="778302"/>
                  <a:pt x="3970020" y="861774"/>
                </a:cubicBezTo>
                <a:cubicBezTo>
                  <a:pt x="3763019" y="875000"/>
                  <a:pt x="3740771" y="833728"/>
                  <a:pt x="3521975" y="861774"/>
                </a:cubicBezTo>
                <a:cubicBezTo>
                  <a:pt x="3303180" y="889820"/>
                  <a:pt x="3074082" y="851261"/>
                  <a:pt x="2875429" y="861774"/>
                </a:cubicBezTo>
                <a:cubicBezTo>
                  <a:pt x="2676776" y="872287"/>
                  <a:pt x="2533472" y="822954"/>
                  <a:pt x="2387683" y="861774"/>
                </a:cubicBezTo>
                <a:cubicBezTo>
                  <a:pt x="2241894" y="900594"/>
                  <a:pt x="1888601" y="807367"/>
                  <a:pt x="1741137" y="861774"/>
                </a:cubicBezTo>
                <a:cubicBezTo>
                  <a:pt x="1593673" y="916181"/>
                  <a:pt x="1368558" y="784809"/>
                  <a:pt x="1094591" y="861774"/>
                </a:cubicBezTo>
                <a:cubicBezTo>
                  <a:pt x="820624" y="938739"/>
                  <a:pt x="696935" y="805575"/>
                  <a:pt x="487745" y="861774"/>
                </a:cubicBezTo>
                <a:cubicBezTo>
                  <a:pt x="278555" y="917973"/>
                  <a:pt x="226256" y="856894"/>
                  <a:pt x="0" y="861774"/>
                </a:cubicBezTo>
                <a:cubicBezTo>
                  <a:pt x="-19973" y="647132"/>
                  <a:pt x="6320" y="557084"/>
                  <a:pt x="0" y="422269"/>
                </a:cubicBezTo>
                <a:cubicBezTo>
                  <a:pt x="-6320" y="287454"/>
                  <a:pt x="41897" y="12238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rgbClr val="C00000"/>
                </a:solidFill>
              </a:rPr>
              <a:t>House A </a:t>
            </a:r>
            <a:r>
              <a:rPr lang="en-PH" sz="2500" dirty="0"/>
              <a:t>and</a:t>
            </a:r>
            <a:r>
              <a:rPr lang="en-PH" sz="2500" b="1" dirty="0">
                <a:solidFill>
                  <a:srgbClr val="00B050"/>
                </a:solidFill>
              </a:rPr>
              <a:t> House E</a:t>
            </a:r>
            <a:r>
              <a:rPr lang="en-PH" sz="2500" b="1" dirty="0">
                <a:solidFill>
                  <a:srgbClr val="92D050"/>
                </a:solidFill>
              </a:rPr>
              <a:t> </a:t>
            </a:r>
            <a:r>
              <a:rPr lang="en-PH" sz="2500" dirty="0"/>
              <a:t>is 2 points away from the </a:t>
            </a:r>
            <a:r>
              <a:rPr lang="en-PH" sz="2500" b="1" dirty="0">
                <a:solidFill>
                  <a:srgbClr val="FFC000"/>
                </a:solidFill>
              </a:rPr>
              <a:t>mean</a:t>
            </a:r>
          </a:p>
        </p:txBody>
      </p:sp>
    </p:spTree>
    <p:extLst>
      <p:ext uri="{BB962C8B-B14F-4D97-AF65-F5344CB8AC3E}">
        <p14:creationId xmlns:p14="http://schemas.microsoft.com/office/powerpoint/2010/main" val="3174186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4" grpId="0"/>
      <p:bldP spid="35" grpId="0"/>
      <p:bldP spid="39" grpId="0"/>
      <p:bldP spid="40" grpId="0"/>
      <p:bldP spid="41" grpId="0"/>
      <p:bldP spid="4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B91100-7A94-6A30-C17A-2211F4DD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77803E-7DE0-C972-4A09-CA6DD0CA5FC0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487071-525D-FD73-4170-E74C61F7F814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7902A966-83C9-0733-DC4E-52CB20DEF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D3DDF62D-2D8E-2DBE-FDB9-5C7725E7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93D43E70-76A2-0751-D725-8343F9C67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60F19CBE-BF57-1958-358A-5394AB8CD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F810EB1C-517B-3CA8-7EDD-898BDA1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E0D62348-70BA-3C8F-828D-D370A13C1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84BE2268-5EC4-1C0D-13D6-3790E7C94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701D38-AAC4-FB5A-AFA4-6C55E020F8F5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How about the variance for two-dimensional data? Can we use the same method?</a:t>
            </a:r>
          </a:p>
        </p:txBody>
      </p:sp>
    </p:spTree>
    <p:extLst>
      <p:ext uri="{BB962C8B-B14F-4D97-AF65-F5344CB8AC3E}">
        <p14:creationId xmlns:p14="http://schemas.microsoft.com/office/powerpoint/2010/main" val="281024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DBFEE4-5F89-0FDF-7430-7F9D61A1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749CA69-3518-32C1-89D3-CBE8DFECE842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A7EE54CD-2A41-5C87-82E6-7931747CA0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BCAC3579-9866-FB0B-5A9F-9D975BD45E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0F561291-C920-FAA3-F1AA-2640A1FEC8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6E70F36D-DA27-362B-519D-232144CC14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D368573B-0557-B05E-73DF-D24E186860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3564EDB8-3BE0-0393-A391-3C22B6053D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5AEB47DA-9B4A-92B0-451C-39EFD82CB7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E8F2FDB-0665-288E-8ED2-6AF2F6492C73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35223E9-BC1D-2771-A718-76FD50600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6AB55F7B-12EB-A946-2E63-6617FFC72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19" name="Picture 18" descr="A cartoon of a house&#10;&#10;Description automatically generated">
            <a:extLst>
              <a:ext uri="{FF2B5EF4-FFF2-40B4-BE49-F238E27FC236}">
                <a16:creationId xmlns:a16="http://schemas.microsoft.com/office/drawing/2014/main" id="{6A9F4CB6-7949-51D5-45FD-47D3F8C965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DA7567B6-BDBB-15A3-124F-1DE90D596B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3C44CDC-C38E-EC1E-E820-955943D215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C87D861A-0C6D-88B7-E8C9-A9CD846054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B72EBC92-C982-E842-89A8-1D54FE9C36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7C9CF2-C017-5178-5714-0857AADFD94D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For two-dimensional data, we need to get the variance of the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  <a:r>
              <a:rPr lang="en-PH" sz="2500" b="1" dirty="0">
                <a:solidFill>
                  <a:srgbClr val="002060"/>
                </a:solidFill>
              </a:rPr>
              <a:t>x-axis (x-variance)</a:t>
            </a:r>
            <a:r>
              <a:rPr lang="en-PH" sz="2500" dirty="0">
                <a:solidFill>
                  <a:srgbClr val="002060"/>
                </a:solidFill>
              </a:rPr>
              <a:t>….</a:t>
            </a:r>
          </a:p>
        </p:txBody>
      </p:sp>
    </p:spTree>
    <p:extLst>
      <p:ext uri="{BB962C8B-B14F-4D97-AF65-F5344CB8AC3E}">
        <p14:creationId xmlns:p14="http://schemas.microsoft.com/office/powerpoint/2010/main" val="387663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2.22222E-6 L 2.5E-6 0.2592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963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81481E-6 L 2.5E-6 0.3669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8333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4.07407E-6 L 4.16667E-7 0.24236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106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3.7037E-7 L -0.00013 0.20231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1011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-4.81481E-6 L -0.00027 0.3669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1833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7.40741E-7 L 1.25E-6 0.26065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3032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1.85185E-6 L 0.00221 0.4129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" y="2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90E6DBA-111F-E1BA-1210-4D8C8D24E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06AD0EF-A0F6-B42A-B5C5-70D20CEC5359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55F0334F-636F-1523-15C1-BEC332EEC7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59CBE193-96F2-6B39-8342-57B1461583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9A976CA3-480A-91AD-19CB-F4DA4E9D4C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915F10F7-80F1-2B05-E39B-2A7FF5F46B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BB16D30E-8328-2FAF-26F1-7D76ABA246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FB691D04-AA40-1EFF-44BA-3821CFC3F4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ED7AD9C3-CE1C-EF8D-EE6D-51E38BBE83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6737F52-F7EE-CB1D-6049-CADBB636AC12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63ED36E-F4B6-ABC7-B6E2-F84FCE612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79878691-E9BD-0A1E-382A-11F4AEBA3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" name="Picture 4" descr="A cartoon of a house&#10;&#10;Description automatically generated">
            <a:extLst>
              <a:ext uri="{FF2B5EF4-FFF2-40B4-BE49-F238E27FC236}">
                <a16:creationId xmlns:a16="http://schemas.microsoft.com/office/drawing/2014/main" id="{744AD8A4-35A4-A8C5-B904-9F38873E3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9247AA7E-E1C5-9C96-F5AF-8D0A42F62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42C73A9B-BACC-8583-2E47-643BB72B9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009F0BFD-589A-51B2-6BDB-BC31B1BBB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9E35CCE4-73D6-35FA-E8E5-F2516B3C7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453A1836-1635-BF88-22D6-8306628991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79" y="4771558"/>
            <a:ext cx="531769" cy="377380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53601E3-4126-3E76-5694-4B7A2EA36A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3" y="4771558"/>
            <a:ext cx="557211" cy="371475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D0483495-3254-A1AE-78E8-FD238324F4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4771558"/>
            <a:ext cx="557205" cy="371475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73A7E8A0-020B-FEAE-829C-3268348C37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4771557"/>
            <a:ext cx="557206" cy="371475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A3FBF643-FE48-D3BF-98FF-34373F4392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4771557"/>
            <a:ext cx="557206" cy="371475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2DE9DCE1-7A6A-DF7E-DA37-75094E6E80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4762129"/>
            <a:ext cx="557207" cy="380903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51048E0A-9C3C-6B36-8457-A388BBA924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4762128"/>
            <a:ext cx="557212" cy="38090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60E3F0C-CCA4-4B1C-C1E1-8327459B690B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the of the </a:t>
            </a:r>
            <a:r>
              <a:rPr lang="en-PH" sz="2500" b="1" dirty="0">
                <a:solidFill>
                  <a:srgbClr val="002060"/>
                </a:solidFill>
              </a:rPr>
              <a:t>y-axis (y-variance)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58076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2.22222E-6 L -0.1694 -0.0004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77" y="-23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81481E-6 L -0.24466 0.00024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40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4.07407E-6 L -0.27786 0.00046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893" y="23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3.7037E-7 L -0.33919 -0.0004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966" y="-23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-4.81481E-6 L -0.3737 0.00116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685" y="4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7.40741E-7 L -0.4319 -7.40741E-7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602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1.85185E-6 L -0.47018 0.0011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516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C44624-FF3F-3E9D-068F-C84B142B5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74A0EF0-5506-675D-09C9-AB5CEF4B19C5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5FA9045B-CFCB-E985-46CB-64D48F8C41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A42D830C-419A-4F4A-1DC4-E542A1C0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801F7023-006E-966A-7F2E-C3CFAAFF6F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7C516476-F1E7-D278-8C39-6279285D6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2657F836-8C90-FB4B-ECA6-BD603F722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BD8A150B-B228-856A-61C2-E37996EDB1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8F1FEA30-F290-C777-AB4E-ED23D93316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A560100-1A3B-3DC8-1B4F-5C2A8AAC0D6C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917C58AB-A1E4-AD2A-46F7-0DD37FD03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EB095E43-ACD4-905E-11B0-5507936B5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" name="Picture 4" descr="A cartoon of a house&#10;&#10;Description automatically generated">
            <a:extLst>
              <a:ext uri="{FF2B5EF4-FFF2-40B4-BE49-F238E27FC236}">
                <a16:creationId xmlns:a16="http://schemas.microsoft.com/office/drawing/2014/main" id="{9C3CFF32-F451-08E9-2E76-519DFA5E1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E5E4634E-8867-BD55-0636-6655FD755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824B1448-11F3-EC06-F1BF-9F35D960B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8ED42E17-BC3B-D8CE-1A1A-6C28156F4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73692015-6C04-52FA-ED98-0BBA2134C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5B8BDA55-D388-7D8E-5DC3-36C7AAE0C4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79" y="4771558"/>
            <a:ext cx="531769" cy="377380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6EE2DBD6-1732-5DAF-F0F0-01B8C798A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3" y="4771558"/>
            <a:ext cx="557211" cy="371475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4A35FAD-351D-FF29-A03D-23D3425A16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4771558"/>
            <a:ext cx="557205" cy="371475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B6033938-F9AC-89F4-0DA6-B57D87ECE6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4771557"/>
            <a:ext cx="557206" cy="371475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13876CBC-DC25-280F-387F-AB488CD3F0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4771557"/>
            <a:ext cx="557206" cy="371475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4E68A76-A8E7-EA39-14F5-3118D4D330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4762129"/>
            <a:ext cx="557207" cy="380903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CE8D6F46-EEC0-CC9E-3EC6-217081A04E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4762128"/>
            <a:ext cx="557212" cy="380903"/>
          </a:xfrm>
          <a:prstGeom prst="rect">
            <a:avLst/>
          </a:prstGeom>
        </p:spPr>
      </p:pic>
      <p:pic>
        <p:nvPicPr>
          <p:cNvPr id="19" name="Picture 18" descr="A cartoon of a house&#10;&#10;Description automatically generated">
            <a:extLst>
              <a:ext uri="{FF2B5EF4-FFF2-40B4-BE49-F238E27FC236}">
                <a16:creationId xmlns:a16="http://schemas.microsoft.com/office/drawing/2014/main" id="{096CC732-2E3B-2751-F733-3B3D5AD4FA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1749" y="3359944"/>
            <a:ext cx="531769" cy="377380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C3A7C463-E52B-3503-F758-ED3BCB02D1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2548" y="3076003"/>
            <a:ext cx="531769" cy="377380"/>
          </a:xfrm>
          <a:prstGeom prst="rect">
            <a:avLst/>
          </a:prstGeom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89CB18BA-57D9-337E-EF21-2DEEDED90E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0801" y="2982564"/>
            <a:ext cx="531769" cy="377380"/>
          </a:xfrm>
          <a:prstGeom prst="rect">
            <a:avLst/>
          </a:prstGeom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5F70FB8D-B2F2-F006-4969-B2B6AB77F8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4787" y="2961133"/>
            <a:ext cx="531769" cy="377380"/>
          </a:xfrm>
          <a:prstGeom prst="rect">
            <a:avLst/>
          </a:prstGeom>
        </p:spPr>
      </p:pic>
      <p:pic>
        <p:nvPicPr>
          <p:cNvPr id="25" name="Picture 24" descr="A cartoon of a house&#10;&#10;Description automatically generated">
            <a:extLst>
              <a:ext uri="{FF2B5EF4-FFF2-40B4-BE49-F238E27FC236}">
                <a16:creationId xmlns:a16="http://schemas.microsoft.com/office/drawing/2014/main" id="{E03D759C-9FBB-9D32-6120-6EA31979B1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28708" y="2228182"/>
            <a:ext cx="531769" cy="377380"/>
          </a:xfrm>
          <a:prstGeom prst="rect">
            <a:avLst/>
          </a:prstGeom>
        </p:spPr>
      </p:pic>
      <p:pic>
        <p:nvPicPr>
          <p:cNvPr id="26" name="Picture 25" descr="A cartoon of a house&#10;&#10;Description automatically generated">
            <a:extLst>
              <a:ext uri="{FF2B5EF4-FFF2-40B4-BE49-F238E27FC236}">
                <a16:creationId xmlns:a16="http://schemas.microsoft.com/office/drawing/2014/main" id="{CCC6FF55-A213-0011-428F-48CD1A4C3D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1445" y="2219639"/>
            <a:ext cx="531769" cy="377380"/>
          </a:xfrm>
          <a:prstGeom prst="rect">
            <a:avLst/>
          </a:prstGeom>
        </p:spPr>
      </p:pic>
      <p:pic>
        <p:nvPicPr>
          <p:cNvPr id="27" name="Picture 26" descr="A cartoon of a house&#10;&#10;Description automatically generated">
            <a:extLst>
              <a:ext uri="{FF2B5EF4-FFF2-40B4-BE49-F238E27FC236}">
                <a16:creationId xmlns:a16="http://schemas.microsoft.com/office/drawing/2014/main" id="{F8BCE3AC-818F-A4BB-49A0-66C5B70332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2548" y="1903175"/>
            <a:ext cx="531769" cy="37738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36EECB3-74AC-D848-2213-252DC6B1E3CE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the of the </a:t>
            </a:r>
            <a:r>
              <a:rPr lang="en-PH" sz="2500" b="1" dirty="0">
                <a:solidFill>
                  <a:srgbClr val="002060"/>
                </a:solidFill>
              </a:rPr>
              <a:t>y-axis (y-variance)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57620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1320C11-1E70-392E-895B-3D9506052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97D1689-AE8D-9B9B-81A4-3FC891945D3C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6C3053F-028C-06C7-1D3C-508C7B69E6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5333E6D2-75CF-3B19-0BF1-A0768282E568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F0A96F64-7A8A-8809-DF33-0DC350CD9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160EE4EE-CCC9-C798-60ED-73327A33B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792C6523-60E9-0102-45AE-0D2FF18493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4055C0-E063-6287-5337-F6289F08EF9F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5E6D7C2-B65F-A326-E316-D8953931B5B9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CAEE4153-C31E-8BD4-6CF2-6A4EB5549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DF3C373B-EFC3-0263-9982-6C9D39478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3AB405A3-0AA1-2039-CFA8-37B305603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0595A8B-4304-2992-8F04-557978F4A60C}"/>
              </a:ext>
            </a:extLst>
          </p:cNvPr>
          <p:cNvSpPr txBox="1"/>
          <p:nvPr/>
        </p:nvSpPr>
        <p:spPr>
          <a:xfrm>
            <a:off x="1628986" y="4861630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But there will be datasets that are different but will have the same </a:t>
            </a:r>
            <a:r>
              <a:rPr lang="en-PH" sz="2500" b="1" dirty="0">
                <a:solidFill>
                  <a:srgbClr val="002060"/>
                </a:solidFill>
              </a:rPr>
              <a:t>x-variance</a:t>
            </a:r>
            <a:r>
              <a:rPr lang="en-PH" sz="2500" dirty="0"/>
              <a:t> and </a:t>
            </a:r>
            <a:r>
              <a:rPr lang="en-PH" sz="2500" b="1" dirty="0">
                <a:solidFill>
                  <a:srgbClr val="002060"/>
                </a:solidFill>
              </a:rPr>
              <a:t>y-variance</a:t>
            </a:r>
            <a:r>
              <a:rPr lang="en-PH" sz="2500" dirty="0">
                <a:solidFill>
                  <a:srgbClr val="002060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2680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862DE67-3201-F42E-A2C8-3AC8967D1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30299E40-05ED-851E-EFAF-83E34A0F8A20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520B83B-7D32-3AFD-926F-4CC0567C69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9B6FD9B8-D696-04C4-0795-F16ABF17B262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8E49AC01-5C95-9526-5ED3-3F078BBE70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7509C18C-8350-5765-B2E5-B87FDEB22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94BAD834-CB2A-CCBD-15DF-1488E313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A5A2E97-527B-9222-D2A4-B847D2FB22E9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4971B87-5F75-D37E-37D8-99F196EE3C63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7A7F24E9-CD09-0834-E407-8563D7EB0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87FF9666-0FBD-34DB-E2C9-6AD3D57A6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57E4187C-7267-9F5B-0523-E4736FCB5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8670EE7C-A891-4437-19F5-2FC581596E4D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82CC2DC0-F724-AB1E-6CDD-7056073C5095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D8CB6DB3-B026-6464-6E29-421DF07735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5268EC9-8F1B-CA1C-153F-4705A69B8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B51A94C-C298-4C01-C4FE-096B0E1FD3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E2D2E68-A8F4-7453-FD6D-8D2EDC6E1460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68BF6C4-F436-F8DD-8302-D32C91224969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0D6CE7E-216D-F8D3-6D24-C3919444E491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C1590BC7-C212-7ADD-E51A-89791178E0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A47163D5-18E3-6781-BCF1-0042874A7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2C569D57-0CF4-97DD-C3A3-896A35642C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C4BD155-D8E4-0A82-D78E-C1495AB2A7B6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CCD9FEB-3036-AB7B-C8C3-3CDE68353F7B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66E23B3-BE69-6D0C-ABE3-4CB8E59D4194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68B1D9B5-3BBA-D2AC-F837-3F3D62E9A0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29C3D92-2A6E-4620-1551-5DD9C7EDAE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CA2024AB-A878-DCA1-998F-B939A37A8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528C7B6-0A6F-68DD-841A-3BE5C35BC073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F56A991-B15E-1F66-27E0-0E35497B73B1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3F30B8B0-2066-7E9B-ED65-3C38DE7B45D9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D7EE3B67-B33B-F2FE-B5D6-FDE4A71E24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502582A-480B-1FE1-9356-D6B3368063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191217EE-AD30-6E19-CCE9-250FA0CB80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61A1690-7221-AA45-1D6D-88BFBED8F1C7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6EDB04A-9FCE-E4F7-F278-9EDAE1540EC6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60771389-6DA3-870F-B395-EB387D5D09FF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CB4FB06F-CDC1-C339-4B2F-566DD31C5D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522A653-6B24-4F4E-EA6F-F5AE496CFA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D742B0F8-9E36-F76E-6114-291EC788CC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4D529B3-0BD6-81FE-CFC0-3F15AD21B321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354DE3A-CFF4-13E8-6798-98E7B5DABBB9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1493FB6-C2E1-6837-BB6F-0A7945609E9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AE1C3F80-8CBD-EEA3-7339-D783D30F6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162A8FC3-D4F7-8B50-9939-802ABCD424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2DA88C18-4E8C-A660-FE35-FA48BAEC03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760CB19-A00A-9715-2110-3449A2E225F1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26C4CEC-356E-2C63-05B9-3C7CF5FC7258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283886FA-B145-1594-1E23-91F5719C4CA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EEFAAD2-6851-35CC-3B9F-CB4411072B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1A655C0-EDAA-E809-FC69-5E25E7532B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08EF8FEC-5C73-9538-50E9-FDFD52A3E2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8B76C65-025B-DC7A-135B-A157957AD96E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48E4461-C06C-D499-201C-58D096220703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99047219-0A55-99F7-BBB2-4B6B97087118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466BACEB-D407-3731-7213-97E2C1CC4E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7F3E24B5-8C14-51BA-5A37-1D8AB56D7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27986AF4-31F6-8D8F-CDD4-BFA07368E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3A62D9E9-979E-0675-00B2-843611C66E8B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7D52960-A5D5-711A-275F-EA82D7578D86}"/>
              </a:ext>
            </a:extLst>
          </p:cNvPr>
          <p:cNvSpPr txBox="1"/>
          <p:nvPr/>
        </p:nvSpPr>
        <p:spPr>
          <a:xfrm>
            <a:off x="1628986" y="4861630"/>
            <a:ext cx="8934027" cy="1246495"/>
          </a:xfrm>
          <a:custGeom>
            <a:avLst/>
            <a:gdLst>
              <a:gd name="connsiteX0" fmla="*/ 0 w 8934027"/>
              <a:gd name="connsiteY0" fmla="*/ 0 h 1246495"/>
              <a:gd name="connsiteX1" fmla="*/ 774282 w 8934027"/>
              <a:gd name="connsiteY1" fmla="*/ 0 h 1246495"/>
              <a:gd name="connsiteX2" fmla="*/ 1548565 w 8934027"/>
              <a:gd name="connsiteY2" fmla="*/ 0 h 1246495"/>
              <a:gd name="connsiteX3" fmla="*/ 2233507 w 8934027"/>
              <a:gd name="connsiteY3" fmla="*/ 0 h 1246495"/>
              <a:gd name="connsiteX4" fmla="*/ 2829109 w 8934027"/>
              <a:gd name="connsiteY4" fmla="*/ 0 h 1246495"/>
              <a:gd name="connsiteX5" fmla="*/ 3246030 w 8934027"/>
              <a:gd name="connsiteY5" fmla="*/ 0 h 1246495"/>
              <a:gd name="connsiteX6" fmla="*/ 3662951 w 8934027"/>
              <a:gd name="connsiteY6" fmla="*/ 0 h 1246495"/>
              <a:gd name="connsiteX7" fmla="*/ 4079872 w 8934027"/>
              <a:gd name="connsiteY7" fmla="*/ 0 h 1246495"/>
              <a:gd name="connsiteX8" fmla="*/ 4854155 w 8934027"/>
              <a:gd name="connsiteY8" fmla="*/ 0 h 1246495"/>
              <a:gd name="connsiteX9" fmla="*/ 5628437 w 8934027"/>
              <a:gd name="connsiteY9" fmla="*/ 0 h 1246495"/>
              <a:gd name="connsiteX10" fmla="*/ 6045358 w 8934027"/>
              <a:gd name="connsiteY10" fmla="*/ 0 h 1246495"/>
              <a:gd name="connsiteX11" fmla="*/ 6551620 w 8934027"/>
              <a:gd name="connsiteY11" fmla="*/ 0 h 1246495"/>
              <a:gd name="connsiteX12" fmla="*/ 7236562 w 8934027"/>
              <a:gd name="connsiteY12" fmla="*/ 0 h 1246495"/>
              <a:gd name="connsiteX13" fmla="*/ 7832164 w 8934027"/>
              <a:gd name="connsiteY13" fmla="*/ 0 h 1246495"/>
              <a:gd name="connsiteX14" fmla="*/ 8249085 w 8934027"/>
              <a:gd name="connsiteY14" fmla="*/ 0 h 1246495"/>
              <a:gd name="connsiteX15" fmla="*/ 8934027 w 8934027"/>
              <a:gd name="connsiteY15" fmla="*/ 0 h 1246495"/>
              <a:gd name="connsiteX16" fmla="*/ 8934027 w 8934027"/>
              <a:gd name="connsiteY16" fmla="*/ 440428 h 1246495"/>
              <a:gd name="connsiteX17" fmla="*/ 8934027 w 8934027"/>
              <a:gd name="connsiteY17" fmla="*/ 855927 h 1246495"/>
              <a:gd name="connsiteX18" fmla="*/ 8934027 w 8934027"/>
              <a:gd name="connsiteY18" fmla="*/ 1246495 h 1246495"/>
              <a:gd name="connsiteX19" fmla="*/ 8338425 w 8934027"/>
              <a:gd name="connsiteY19" fmla="*/ 1246495 h 1246495"/>
              <a:gd name="connsiteX20" fmla="*/ 7742823 w 8934027"/>
              <a:gd name="connsiteY20" fmla="*/ 1246495 h 1246495"/>
              <a:gd name="connsiteX21" fmla="*/ 7057881 w 8934027"/>
              <a:gd name="connsiteY21" fmla="*/ 1246495 h 1246495"/>
              <a:gd name="connsiteX22" fmla="*/ 6283599 w 8934027"/>
              <a:gd name="connsiteY22" fmla="*/ 1246495 h 1246495"/>
              <a:gd name="connsiteX23" fmla="*/ 5687997 w 8934027"/>
              <a:gd name="connsiteY23" fmla="*/ 1246495 h 1246495"/>
              <a:gd name="connsiteX24" fmla="*/ 5360416 w 8934027"/>
              <a:gd name="connsiteY24" fmla="*/ 1246495 h 1246495"/>
              <a:gd name="connsiteX25" fmla="*/ 5032835 w 8934027"/>
              <a:gd name="connsiteY25" fmla="*/ 1246495 h 1246495"/>
              <a:gd name="connsiteX26" fmla="*/ 4258553 w 8934027"/>
              <a:gd name="connsiteY26" fmla="*/ 1246495 h 1246495"/>
              <a:gd name="connsiteX27" fmla="*/ 3752291 w 8934027"/>
              <a:gd name="connsiteY27" fmla="*/ 1246495 h 1246495"/>
              <a:gd name="connsiteX28" fmla="*/ 3156690 w 8934027"/>
              <a:gd name="connsiteY28" fmla="*/ 1246495 h 1246495"/>
              <a:gd name="connsiteX29" fmla="*/ 2739768 w 8934027"/>
              <a:gd name="connsiteY29" fmla="*/ 1246495 h 1246495"/>
              <a:gd name="connsiteX30" fmla="*/ 2412187 w 8934027"/>
              <a:gd name="connsiteY30" fmla="*/ 1246495 h 1246495"/>
              <a:gd name="connsiteX31" fmla="*/ 1995266 w 8934027"/>
              <a:gd name="connsiteY31" fmla="*/ 1246495 h 1246495"/>
              <a:gd name="connsiteX32" fmla="*/ 1399664 w 8934027"/>
              <a:gd name="connsiteY32" fmla="*/ 1246495 h 1246495"/>
              <a:gd name="connsiteX33" fmla="*/ 982743 w 8934027"/>
              <a:gd name="connsiteY33" fmla="*/ 1246495 h 1246495"/>
              <a:gd name="connsiteX34" fmla="*/ 0 w 8934027"/>
              <a:gd name="connsiteY34" fmla="*/ 1246495 h 1246495"/>
              <a:gd name="connsiteX35" fmla="*/ 0 w 8934027"/>
              <a:gd name="connsiteY35" fmla="*/ 830997 h 1246495"/>
              <a:gd name="connsiteX36" fmla="*/ 0 w 8934027"/>
              <a:gd name="connsiteY36" fmla="*/ 427963 h 1246495"/>
              <a:gd name="connsiteX37" fmla="*/ 0 w 8934027"/>
              <a:gd name="connsiteY37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8934027" h="1246495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7390" y="95068"/>
                  <a:pt x="8895087" y="349903"/>
                  <a:pt x="8934027" y="440428"/>
                </a:cubicBezTo>
                <a:cubicBezTo>
                  <a:pt x="8972967" y="530953"/>
                  <a:pt x="8928149" y="705562"/>
                  <a:pt x="8934027" y="855927"/>
                </a:cubicBezTo>
                <a:cubicBezTo>
                  <a:pt x="8939905" y="1006292"/>
                  <a:pt x="8925694" y="1163429"/>
                  <a:pt x="8934027" y="1246495"/>
                </a:cubicBezTo>
                <a:cubicBezTo>
                  <a:pt x="8789729" y="1316554"/>
                  <a:pt x="8568120" y="1207844"/>
                  <a:pt x="8338425" y="1246495"/>
                </a:cubicBezTo>
                <a:cubicBezTo>
                  <a:pt x="8108730" y="1285146"/>
                  <a:pt x="8016852" y="1238447"/>
                  <a:pt x="7742823" y="1246495"/>
                </a:cubicBezTo>
                <a:cubicBezTo>
                  <a:pt x="7468794" y="1254543"/>
                  <a:pt x="7330137" y="1222292"/>
                  <a:pt x="7057881" y="1246495"/>
                </a:cubicBezTo>
                <a:cubicBezTo>
                  <a:pt x="6785625" y="1270698"/>
                  <a:pt x="6568467" y="1244394"/>
                  <a:pt x="6283599" y="1246495"/>
                </a:cubicBezTo>
                <a:cubicBezTo>
                  <a:pt x="5998731" y="1248596"/>
                  <a:pt x="5888150" y="1186485"/>
                  <a:pt x="5687997" y="1246495"/>
                </a:cubicBezTo>
                <a:cubicBezTo>
                  <a:pt x="5487844" y="1306505"/>
                  <a:pt x="5522796" y="1216776"/>
                  <a:pt x="5360416" y="1246495"/>
                </a:cubicBezTo>
                <a:cubicBezTo>
                  <a:pt x="5198036" y="1276214"/>
                  <a:pt x="5119637" y="1215819"/>
                  <a:pt x="5032835" y="1246495"/>
                </a:cubicBezTo>
                <a:cubicBezTo>
                  <a:pt x="4946033" y="1277171"/>
                  <a:pt x="4550447" y="1168389"/>
                  <a:pt x="4258553" y="1246495"/>
                </a:cubicBezTo>
                <a:cubicBezTo>
                  <a:pt x="3966659" y="1324601"/>
                  <a:pt x="3910417" y="1245837"/>
                  <a:pt x="3752291" y="1246495"/>
                </a:cubicBezTo>
                <a:cubicBezTo>
                  <a:pt x="3594165" y="1247153"/>
                  <a:pt x="3356796" y="1205558"/>
                  <a:pt x="3156690" y="1246495"/>
                </a:cubicBezTo>
                <a:cubicBezTo>
                  <a:pt x="2956584" y="1287432"/>
                  <a:pt x="2893883" y="1242183"/>
                  <a:pt x="2739768" y="1246495"/>
                </a:cubicBezTo>
                <a:cubicBezTo>
                  <a:pt x="2585653" y="1250807"/>
                  <a:pt x="2573545" y="1208373"/>
                  <a:pt x="2412187" y="1246495"/>
                </a:cubicBezTo>
                <a:cubicBezTo>
                  <a:pt x="2250829" y="1284617"/>
                  <a:pt x="2199502" y="1232303"/>
                  <a:pt x="1995266" y="1246495"/>
                </a:cubicBezTo>
                <a:cubicBezTo>
                  <a:pt x="1791030" y="1260687"/>
                  <a:pt x="1617613" y="1221395"/>
                  <a:pt x="1399664" y="1246495"/>
                </a:cubicBezTo>
                <a:cubicBezTo>
                  <a:pt x="1181715" y="1271595"/>
                  <a:pt x="1128423" y="1205409"/>
                  <a:pt x="982743" y="1246495"/>
                </a:cubicBezTo>
                <a:cubicBezTo>
                  <a:pt x="837063" y="1287581"/>
                  <a:pt x="341567" y="1144387"/>
                  <a:pt x="0" y="1246495"/>
                </a:cubicBezTo>
                <a:cubicBezTo>
                  <a:pt x="-34572" y="1042784"/>
                  <a:pt x="16246" y="917564"/>
                  <a:pt x="0" y="830997"/>
                </a:cubicBezTo>
                <a:cubicBezTo>
                  <a:pt x="-16246" y="744430"/>
                  <a:pt x="24742" y="514916"/>
                  <a:pt x="0" y="427963"/>
                </a:cubicBezTo>
                <a:cubicBezTo>
                  <a:pt x="-24742" y="341010"/>
                  <a:pt x="31456" y="12408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Look at these two datasets. If you notice they are different from each other, but they will have the same</a:t>
            </a:r>
            <a:r>
              <a:rPr lang="en-PH" sz="2500" b="1" dirty="0"/>
              <a:t> </a:t>
            </a:r>
            <a:r>
              <a:rPr lang="en-PH" sz="2500" b="1" dirty="0">
                <a:solidFill>
                  <a:srgbClr val="002060"/>
                </a:solidFill>
              </a:rPr>
              <a:t>x-variance </a:t>
            </a:r>
            <a:r>
              <a:rPr lang="en-PH" sz="2500" dirty="0"/>
              <a:t>and </a:t>
            </a:r>
            <a:r>
              <a:rPr lang="en-PH" sz="2500" b="1" dirty="0">
                <a:solidFill>
                  <a:srgbClr val="002060"/>
                </a:solidFill>
              </a:rPr>
              <a:t>y-variance</a:t>
            </a:r>
            <a:r>
              <a:rPr lang="en-PH" sz="2500" dirty="0">
                <a:solidFill>
                  <a:srgbClr val="00206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987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85E5828-24B9-39B2-063C-F5E93E73F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C7FE4C73-EA65-AB9A-8BA9-145E52455C7F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6AEC968-0F1E-1B57-35D6-E579B573F4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7EE73712-6205-F6DF-CCD3-543BC5AC3F67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8AC6C230-2570-7785-DCC2-1D20E8457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C43F3A27-3F49-BEF4-61FC-17298F4B9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DD879399-6B16-2B7E-A2C4-61ADD634B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AB01144-1068-1834-6786-0520552BD451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BE56345-6088-47F0-BB91-8DFEC403DF80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989A3F8B-0171-83A0-AFE1-2B72B4BF8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C577A16D-2C26-0F8F-7BEC-F444BC3DF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052D4FDB-85D8-B9EB-BF53-28D14EF1F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267BA3A-3060-654F-9354-74C2523A5501}"/>
                  </a:ext>
                </a:extLst>
              </p:cNvPr>
              <p:cNvSpPr txBox="1"/>
              <p:nvPr/>
            </p:nvSpPr>
            <p:spPr>
              <a:xfrm>
                <a:off x="482091" y="4336990"/>
                <a:ext cx="4699172" cy="154138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267BA3A-3060-654F-9354-74C2523A55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91" y="4336990"/>
                <a:ext cx="4699172" cy="15413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6FCE3D4-F8D4-0BA2-DDC3-838990ABE785}"/>
                  </a:ext>
                </a:extLst>
              </p:cNvPr>
              <p:cNvSpPr txBox="1"/>
              <p:nvPr/>
            </p:nvSpPr>
            <p:spPr>
              <a:xfrm>
                <a:off x="7010739" y="4366140"/>
                <a:ext cx="4795352" cy="14913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eqArr>
                            <m:eqArr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/>
                          </m:eqAr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6FCE3D4-F8D4-0BA2-DDC3-838990ABE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739" y="4366140"/>
                <a:ext cx="4795352" cy="14913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4D28E366-827B-A0AC-229E-0C61D1535E4B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5A59E5B-9C1C-0C9C-8117-795F3AD766B4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514D5E96-6F39-70D2-035B-1F38B96FC5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D5371D6-7EA6-BE46-4FF7-71FB021229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D89E2446-B7A1-26AE-6331-DC06EC9E34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94DE5E3-CA78-7C3F-B711-797CD53258DE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1ECFF35-F5B2-0EC7-752B-4D60A2F01AD9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2F5C841-9A35-12EB-9570-9C7C4B053BAA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E88CB7E2-ED1F-2604-ADF1-45E3682F16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B6BB132F-674F-AD06-E222-F8E8027D83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838112E7-B301-EA83-7913-8C9A2FE456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BF877BC-7876-03E1-EFE5-7DE2B71A5159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AB3F903-994B-2097-B3F5-FD4452FC17E0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9A6BFC0-CF1B-50BD-A854-71495E1DF431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1FEAEF26-6246-F67C-4676-E79588CEB5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11DDBB25-B691-ABE0-D860-77E7E90206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A644C16A-0838-CD11-2FEC-524F70E8EE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02E880D-9D92-39EC-2647-E938E9D392B7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B4BED4B-1A9D-42A7-0EFB-FBB7AFE87714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B8A1CB92-7AD4-E5D6-E305-CBBA7E4508E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26547808-2D2B-9E75-230F-33D2CDAD1F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84CE04CA-14CE-9BBA-567A-03B6FDB670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B3A618F-1805-624B-4D9D-EA7C6BF1BB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80FF4E7-32D6-FCBB-91DE-ACE2A8FF69E4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52A6BAD-0EBD-E3E3-CA3E-2C7FF16A3CBA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AEF5E79-4C96-ABE6-BDE4-8EDA56B4F5C9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BFE21400-EB5A-1C88-4154-E3BD0F87A6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F38EAAB-7F4E-B959-DF51-D7A836B119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1C227897-400C-245B-631C-9C2C599EE5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5755213-4D28-2C67-7F07-C74056DD7D33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5A6F17C-F2D9-9A49-87D1-471F3725371E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89195FE9-01E2-5207-9EF0-DF486B090726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3465072A-F9E0-7A2A-4F2C-28701FBBA8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0CE1A6BF-2D53-D6DB-1503-FCBF61A0B2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25CA51A0-B3A4-10C7-4E75-0FA5D3824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CED83F6-706E-292D-99F0-254EBAFEC7F6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9AEBBD3-FACB-99B9-7297-2D941413BBC5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BFDF74A6-04DD-E188-98B1-885D63843B0D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645E96C0-9F45-026D-E110-D27369F9BB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CCEA29E-C0D8-1C16-6BF5-4C7F1AD9EA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A0E11D59-3B10-F163-E753-37B307012A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C1E4BAF-ACAE-D629-9E26-6D9D6EFD4675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0806905C-511E-954C-9E85-353513F2A3A2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E18BAB18-5C20-D23B-4BBA-9501AC08BDF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2BF86FCA-9BD6-0EA6-3236-038572BA89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97372EB0-890D-D845-5748-CCA0216C9F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D5E9BD0B-F8F3-DDDE-D7FA-8677326F89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A390A7B2-EBEA-52A8-034E-9E48F388F614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131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B6850B-D45E-2854-F7DF-75C74A19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968B4F81-5DCA-8652-2835-35AA72F67027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B1DCBE3-31C1-272E-ACDB-7A032599D0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7D3ADD2A-9922-6C54-2576-B3D0352D4BA1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54F2E392-8CC0-C878-A428-8F7E0E88E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7724F24E-B891-B0C2-1882-01AE41ABA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6CB55A97-2099-DCFA-2F32-FCAFD5642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CEDDB26-5192-FED0-7B28-32C9E525F663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7BF6E6B-18AD-00CD-C1A0-97F32B90007B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6542A34A-286C-667C-1432-8BB76FDDE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C145A058-3CF2-B64C-971D-52636CBE6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95B5AB10-B715-601F-75F4-5988A76C3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0B628A9D-7C0F-CBEA-F499-9DC786257166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D48A14A-545D-A2D9-E39B-3770E0A74A33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9859C42A-B7F5-32AE-F59D-0E464782A4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98830C7-BA84-79D4-D6B5-7654514338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217D5C11-F679-6AD8-03BF-F657B23CB3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D3196E4-857D-2624-37F6-D1E14A2BF09C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1971A08-9387-1F1B-A8F1-8497984B500D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840A7A9-FA4B-9D5C-0ECA-84E7BCF8188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82F45E87-A38B-1B2F-C24F-1FB516C77B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4A2C27C-06B1-8EDD-64AF-39211AB78D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87F84C-0E82-A83C-EDD7-B95B8F29CC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3BBB417-CAB1-6F58-A4CC-5527914CA665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D21E917-2E9E-F7F9-EBA2-697579DE9A97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71B0AD93-A240-CFF8-03BA-E61E18872F27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B48D7651-F1AE-D113-099F-E3261EFCC9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732A851-5ED3-54E1-55A5-7AC088CE84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352512BB-8A70-82AD-F819-6EA2E90B45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172C8C4-454A-1A1A-E35E-3FEFC979E12F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FDCDF6A-E1D9-45EC-113E-63ED17BC00E1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7054FEB-2805-83B9-DED0-845222F152A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1F2867F4-BB91-E88D-5E56-B1BBC4926D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7E859367-DDA1-532F-FE73-2C6D53E8F1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C2D740F-3128-C3B1-B1CD-245FED87DC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B730AFE-C8F2-6A2C-43C1-F719A3CB1D7F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E428745-B2FC-998D-84D7-675193C07739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99834936-80DA-9A29-E8AF-545754B0AD69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7F6EDF8F-DB01-6E6A-215C-76716EF1BD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1097365B-607D-4699-ECE4-101621BEB3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CB9AF398-CC60-487B-68A0-F85DC24CB3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8496B07-957F-DA87-E185-E2C6475DBD13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78D8F1D8-91FC-296D-3FB8-DF2AFAFD557C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17C078D-922A-D38B-5C79-8D691F5A2E2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97B26D93-552B-7DF6-97C2-0D8BBA9FE3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AE0CE82A-A2AA-D02F-9C0C-43D343975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89D9D480-F577-7305-428E-4814DBE09C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47A4E9F-1A3B-F848-5E6B-DCE3F49B1439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65CA96F-071F-C944-73D9-27DAB6A799CF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3FB62304-C7C4-356B-AFDC-CFE97E20F91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417DCA8F-4AE0-7EC9-1D44-44EF85648A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4317570-4F37-AAC2-A03E-816A66D337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A6A16CB0-0BA6-9AC8-9EE7-947545F85C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6F5F566-C876-4CC7-F86C-AC7CE68643A8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D3ADC26-1AFA-FCF1-6CAD-ED6FDC8B1167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D75CA129-5676-84EB-5645-3CCE50E996A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0FC4215C-6F5E-FE3A-3E07-40C5F06C97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403E0237-97B6-B7E4-23A5-69C432B865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4446C1F8-3754-F529-A567-FE08BE0D45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ED5A2DF-3703-B72E-65B1-7F669A07EB5A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D4EDF03-88C4-29D9-81AA-EBE4DCDD08BB}"/>
              </a:ext>
            </a:extLst>
          </p:cNvPr>
          <p:cNvSpPr txBox="1"/>
          <p:nvPr/>
        </p:nvSpPr>
        <p:spPr>
          <a:xfrm>
            <a:off x="1628986" y="4448850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Is there another metric to tell us that these two are different?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6DB38E-C9DF-A16B-9F10-FAC556EFEBA0}"/>
              </a:ext>
            </a:extLst>
          </p:cNvPr>
          <p:cNvSpPr txBox="1"/>
          <p:nvPr/>
        </p:nvSpPr>
        <p:spPr>
          <a:xfrm>
            <a:off x="4213858" y="5218374"/>
            <a:ext cx="3764282" cy="477054"/>
          </a:xfrm>
          <a:custGeom>
            <a:avLst/>
            <a:gdLst>
              <a:gd name="connsiteX0" fmla="*/ 0 w 3764282"/>
              <a:gd name="connsiteY0" fmla="*/ 0 h 477054"/>
              <a:gd name="connsiteX1" fmla="*/ 613040 w 3764282"/>
              <a:gd name="connsiteY1" fmla="*/ 0 h 477054"/>
              <a:gd name="connsiteX2" fmla="*/ 1226080 w 3764282"/>
              <a:gd name="connsiteY2" fmla="*/ 0 h 477054"/>
              <a:gd name="connsiteX3" fmla="*/ 1801478 w 3764282"/>
              <a:gd name="connsiteY3" fmla="*/ 0 h 477054"/>
              <a:gd name="connsiteX4" fmla="*/ 2339232 w 3764282"/>
              <a:gd name="connsiteY4" fmla="*/ 0 h 477054"/>
              <a:gd name="connsiteX5" fmla="*/ 2801701 w 3764282"/>
              <a:gd name="connsiteY5" fmla="*/ 0 h 477054"/>
              <a:gd name="connsiteX6" fmla="*/ 3264170 w 3764282"/>
              <a:gd name="connsiteY6" fmla="*/ 0 h 477054"/>
              <a:gd name="connsiteX7" fmla="*/ 3764282 w 3764282"/>
              <a:gd name="connsiteY7" fmla="*/ 0 h 477054"/>
              <a:gd name="connsiteX8" fmla="*/ 3764282 w 3764282"/>
              <a:gd name="connsiteY8" fmla="*/ 477054 h 477054"/>
              <a:gd name="connsiteX9" fmla="*/ 3188885 w 3764282"/>
              <a:gd name="connsiteY9" fmla="*/ 477054 h 477054"/>
              <a:gd name="connsiteX10" fmla="*/ 2726416 w 3764282"/>
              <a:gd name="connsiteY10" fmla="*/ 477054 h 477054"/>
              <a:gd name="connsiteX11" fmla="*/ 2113375 w 3764282"/>
              <a:gd name="connsiteY11" fmla="*/ 477054 h 477054"/>
              <a:gd name="connsiteX12" fmla="*/ 1650907 w 3764282"/>
              <a:gd name="connsiteY12" fmla="*/ 477054 h 477054"/>
              <a:gd name="connsiteX13" fmla="*/ 1037866 w 3764282"/>
              <a:gd name="connsiteY13" fmla="*/ 477054 h 477054"/>
              <a:gd name="connsiteX14" fmla="*/ 0 w 3764282"/>
              <a:gd name="connsiteY14" fmla="*/ 477054 h 477054"/>
              <a:gd name="connsiteX15" fmla="*/ 0 w 3764282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64282" h="477054" extrusionOk="0">
                <a:moveTo>
                  <a:pt x="0" y="0"/>
                </a:moveTo>
                <a:cubicBezTo>
                  <a:pt x="150329" y="-45632"/>
                  <a:pt x="342301" y="1272"/>
                  <a:pt x="613040" y="0"/>
                </a:cubicBezTo>
                <a:cubicBezTo>
                  <a:pt x="883779" y="-1272"/>
                  <a:pt x="1067052" y="47386"/>
                  <a:pt x="1226080" y="0"/>
                </a:cubicBezTo>
                <a:cubicBezTo>
                  <a:pt x="1385108" y="-47386"/>
                  <a:pt x="1596213" y="57659"/>
                  <a:pt x="1801478" y="0"/>
                </a:cubicBezTo>
                <a:cubicBezTo>
                  <a:pt x="2006743" y="-57659"/>
                  <a:pt x="2229737" y="30709"/>
                  <a:pt x="2339232" y="0"/>
                </a:cubicBezTo>
                <a:cubicBezTo>
                  <a:pt x="2448727" y="-30709"/>
                  <a:pt x="2590722" y="7530"/>
                  <a:pt x="2801701" y="0"/>
                </a:cubicBezTo>
                <a:cubicBezTo>
                  <a:pt x="3012680" y="-7530"/>
                  <a:pt x="3160145" y="12167"/>
                  <a:pt x="3264170" y="0"/>
                </a:cubicBezTo>
                <a:cubicBezTo>
                  <a:pt x="3368195" y="-12167"/>
                  <a:pt x="3612670" y="49192"/>
                  <a:pt x="3764282" y="0"/>
                </a:cubicBezTo>
                <a:cubicBezTo>
                  <a:pt x="3782968" y="178763"/>
                  <a:pt x="3722608" y="238531"/>
                  <a:pt x="3764282" y="477054"/>
                </a:cubicBezTo>
                <a:cubicBezTo>
                  <a:pt x="3587557" y="509901"/>
                  <a:pt x="3390331" y="419143"/>
                  <a:pt x="3188885" y="477054"/>
                </a:cubicBezTo>
                <a:cubicBezTo>
                  <a:pt x="2987439" y="534965"/>
                  <a:pt x="2952939" y="429705"/>
                  <a:pt x="2726416" y="477054"/>
                </a:cubicBezTo>
                <a:cubicBezTo>
                  <a:pt x="2499893" y="524403"/>
                  <a:pt x="2309838" y="447156"/>
                  <a:pt x="2113375" y="477054"/>
                </a:cubicBezTo>
                <a:cubicBezTo>
                  <a:pt x="1916912" y="506952"/>
                  <a:pt x="1802761" y="450228"/>
                  <a:pt x="1650907" y="477054"/>
                </a:cubicBezTo>
                <a:cubicBezTo>
                  <a:pt x="1499053" y="503880"/>
                  <a:pt x="1286931" y="416929"/>
                  <a:pt x="1037866" y="477054"/>
                </a:cubicBezTo>
                <a:cubicBezTo>
                  <a:pt x="788801" y="537179"/>
                  <a:pt x="253956" y="366969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accent6">
                    <a:lumMod val="75000"/>
                  </a:schemeClr>
                </a:solidFill>
              </a:rPr>
              <a:t>Yes! </a:t>
            </a:r>
            <a:r>
              <a:rPr lang="en-PH" sz="2500" dirty="0"/>
              <a:t>Its called </a:t>
            </a:r>
            <a:r>
              <a:rPr lang="en-PH" sz="2500" b="1" dirty="0">
                <a:solidFill>
                  <a:srgbClr val="002060"/>
                </a:solidFill>
              </a:rPr>
              <a:t>covariance</a:t>
            </a:r>
          </a:p>
        </p:txBody>
      </p:sp>
    </p:spTree>
    <p:extLst>
      <p:ext uri="{BB962C8B-B14F-4D97-AF65-F5344CB8AC3E}">
        <p14:creationId xmlns:p14="http://schemas.microsoft.com/office/powerpoint/2010/main" val="384575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360D920-CFE4-3EEC-FF69-9A43B43CF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4220B98-5274-3AD2-399C-9BAC8E86C11D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2F6B63FE-E3A3-C032-4E91-1BF215A118C7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8BA6EFF-6A06-58DE-02DE-AAD11405B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05" y="1447305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482A7A77-5C36-B931-843C-F6D3FCAD3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2835713"/>
            <a:ext cx="444007" cy="402124"/>
          </a:xfrm>
          <a:prstGeom prst="rect">
            <a:avLst/>
          </a:prstGeom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48E8181D-822E-BEC4-10C8-535684053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289" y="144730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2EC1A55-C64F-BD15-BB3E-E6A4A91810FD}"/>
                  </a:ext>
                </a:extLst>
              </p:cNvPr>
              <p:cNvSpPr txBox="1"/>
              <p:nvPr/>
            </p:nvSpPr>
            <p:spPr>
              <a:xfrm>
                <a:off x="3065578" y="1062584"/>
                <a:ext cx="992259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2EC1A55-C64F-BD15-BB3E-E6A4A9181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5578" y="1062584"/>
                <a:ext cx="992259" cy="384721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>
            <a:extLst>
              <a:ext uri="{FF2B5EF4-FFF2-40B4-BE49-F238E27FC236}">
                <a16:creationId xmlns:a16="http://schemas.microsoft.com/office/drawing/2014/main" id="{C3112CD0-74B6-F44F-2ACF-52F7C43AF648}"/>
              </a:ext>
            </a:extLst>
          </p:cNvPr>
          <p:cNvSpPr txBox="1"/>
          <p:nvPr/>
        </p:nvSpPr>
        <p:spPr>
          <a:xfrm>
            <a:off x="257981" y="786593"/>
            <a:ext cx="2054188" cy="1246495"/>
          </a:xfrm>
          <a:custGeom>
            <a:avLst/>
            <a:gdLst>
              <a:gd name="connsiteX0" fmla="*/ 0 w 2054188"/>
              <a:gd name="connsiteY0" fmla="*/ 0 h 1246495"/>
              <a:gd name="connsiteX1" fmla="*/ 554631 w 2054188"/>
              <a:gd name="connsiteY1" fmla="*/ 0 h 1246495"/>
              <a:gd name="connsiteX2" fmla="*/ 1109262 w 2054188"/>
              <a:gd name="connsiteY2" fmla="*/ 0 h 1246495"/>
              <a:gd name="connsiteX3" fmla="*/ 2054188 w 2054188"/>
              <a:gd name="connsiteY3" fmla="*/ 0 h 1246495"/>
              <a:gd name="connsiteX4" fmla="*/ 2054188 w 2054188"/>
              <a:gd name="connsiteY4" fmla="*/ 415498 h 1246495"/>
              <a:gd name="connsiteX5" fmla="*/ 2054188 w 2054188"/>
              <a:gd name="connsiteY5" fmla="*/ 793602 h 1246495"/>
              <a:gd name="connsiteX6" fmla="*/ 2054188 w 2054188"/>
              <a:gd name="connsiteY6" fmla="*/ 1246495 h 1246495"/>
              <a:gd name="connsiteX7" fmla="*/ 1540641 w 2054188"/>
              <a:gd name="connsiteY7" fmla="*/ 1246495 h 1246495"/>
              <a:gd name="connsiteX8" fmla="*/ 1047636 w 2054188"/>
              <a:gd name="connsiteY8" fmla="*/ 1246495 h 1246495"/>
              <a:gd name="connsiteX9" fmla="*/ 534089 w 2054188"/>
              <a:gd name="connsiteY9" fmla="*/ 1246495 h 1246495"/>
              <a:gd name="connsiteX10" fmla="*/ 0 w 2054188"/>
              <a:gd name="connsiteY10" fmla="*/ 1246495 h 1246495"/>
              <a:gd name="connsiteX11" fmla="*/ 0 w 2054188"/>
              <a:gd name="connsiteY11" fmla="*/ 806067 h 1246495"/>
              <a:gd name="connsiteX12" fmla="*/ 0 w 2054188"/>
              <a:gd name="connsiteY12" fmla="*/ 415498 h 1246495"/>
              <a:gd name="connsiteX13" fmla="*/ 0 w 2054188"/>
              <a:gd name="connsiteY13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054188" h="1246495" extrusionOk="0">
                <a:moveTo>
                  <a:pt x="0" y="0"/>
                </a:moveTo>
                <a:cubicBezTo>
                  <a:pt x="244917" y="-50131"/>
                  <a:pt x="277763" y="439"/>
                  <a:pt x="554631" y="0"/>
                </a:cubicBezTo>
                <a:cubicBezTo>
                  <a:pt x="831499" y="-439"/>
                  <a:pt x="842736" y="48956"/>
                  <a:pt x="1109262" y="0"/>
                </a:cubicBezTo>
                <a:cubicBezTo>
                  <a:pt x="1375788" y="-48956"/>
                  <a:pt x="1810144" y="95816"/>
                  <a:pt x="2054188" y="0"/>
                </a:cubicBezTo>
                <a:cubicBezTo>
                  <a:pt x="2100144" y="186887"/>
                  <a:pt x="2005465" y="279662"/>
                  <a:pt x="2054188" y="415498"/>
                </a:cubicBezTo>
                <a:cubicBezTo>
                  <a:pt x="2102911" y="551334"/>
                  <a:pt x="2046457" y="660645"/>
                  <a:pt x="2054188" y="793602"/>
                </a:cubicBezTo>
                <a:cubicBezTo>
                  <a:pt x="2061919" y="926559"/>
                  <a:pt x="2030424" y="1042730"/>
                  <a:pt x="2054188" y="1246495"/>
                </a:cubicBezTo>
                <a:cubicBezTo>
                  <a:pt x="1813824" y="1271629"/>
                  <a:pt x="1784269" y="1242391"/>
                  <a:pt x="1540641" y="1246495"/>
                </a:cubicBezTo>
                <a:cubicBezTo>
                  <a:pt x="1297013" y="1250599"/>
                  <a:pt x="1154868" y="1198436"/>
                  <a:pt x="1047636" y="1246495"/>
                </a:cubicBezTo>
                <a:cubicBezTo>
                  <a:pt x="940404" y="1294554"/>
                  <a:pt x="723410" y="1210066"/>
                  <a:pt x="534089" y="1246495"/>
                </a:cubicBezTo>
                <a:cubicBezTo>
                  <a:pt x="344768" y="1282924"/>
                  <a:pt x="258822" y="1222815"/>
                  <a:pt x="0" y="1246495"/>
                </a:cubicBezTo>
                <a:cubicBezTo>
                  <a:pt x="-13178" y="1040745"/>
                  <a:pt x="52624" y="914642"/>
                  <a:pt x="0" y="806067"/>
                </a:cubicBezTo>
                <a:cubicBezTo>
                  <a:pt x="-52624" y="697492"/>
                  <a:pt x="14132" y="524359"/>
                  <a:pt x="0" y="415498"/>
                </a:cubicBezTo>
                <a:cubicBezTo>
                  <a:pt x="-14132" y="306637"/>
                  <a:pt x="7470" y="2009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Sum of Product of Coordinates</a:t>
            </a:r>
          </a:p>
        </p:txBody>
      </p:sp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6A3DC970-0C51-1B8F-CCA1-47D699C4C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05" y="415118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39A558CE-29D0-5AAD-8A1B-327F98BA0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288" y="4151189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E91FBEF-B9B9-14C5-3ACC-353B00731C7A}"/>
                  </a:ext>
                </a:extLst>
              </p:cNvPr>
              <p:cNvSpPr txBox="1"/>
              <p:nvPr/>
            </p:nvSpPr>
            <p:spPr>
              <a:xfrm>
                <a:off x="6095999" y="2450992"/>
                <a:ext cx="753411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E91FBEF-B9B9-14C5-3ACC-353B00731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450992"/>
                <a:ext cx="753411" cy="384721"/>
              </a:xfrm>
              <a:prstGeom prst="rect">
                <a:avLst/>
              </a:prstGeom>
              <a:blipFill>
                <a:blip r:embed="rId4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5F3E08-085A-1391-ACD5-F5AD9C134F3D}"/>
                  </a:ext>
                </a:extLst>
              </p:cNvPr>
              <p:cNvSpPr txBox="1"/>
              <p:nvPr/>
            </p:nvSpPr>
            <p:spPr>
              <a:xfrm>
                <a:off x="2773318" y="4553313"/>
                <a:ext cx="1284519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−2,−1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5F3E08-085A-1391-ACD5-F5AD9C134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318" y="4553313"/>
                <a:ext cx="1284519" cy="384721"/>
              </a:xfrm>
              <a:prstGeom prst="rect">
                <a:avLst/>
              </a:prstGeom>
              <a:blipFill>
                <a:blip r:embed="rId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7D5BE07-171A-0FB8-6467-DF0190F6767E}"/>
                  </a:ext>
                </a:extLst>
              </p:cNvPr>
              <p:cNvSpPr txBox="1"/>
              <p:nvPr/>
            </p:nvSpPr>
            <p:spPr>
              <a:xfrm>
                <a:off x="7988031" y="4553312"/>
                <a:ext cx="99225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7D5BE07-171A-0FB8-6467-DF0190F67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8031" y="4553312"/>
                <a:ext cx="992258" cy="384721"/>
              </a:xfrm>
              <a:prstGeom prst="rect">
                <a:avLst/>
              </a:prstGeom>
              <a:blipFill>
                <a:blip r:embed="rId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A1D9374-C405-E973-FB0D-5F91471E4802}"/>
                  </a:ext>
                </a:extLst>
              </p:cNvPr>
              <p:cNvSpPr txBox="1"/>
              <p:nvPr/>
            </p:nvSpPr>
            <p:spPr>
              <a:xfrm>
                <a:off x="8271224" y="1070670"/>
                <a:ext cx="753411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A1D9374-C405-E973-FB0D-5F91471E4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24" y="1070670"/>
                <a:ext cx="753411" cy="384721"/>
              </a:xfrm>
              <a:prstGeom prst="rect">
                <a:avLst/>
              </a:prstGeom>
              <a:blipFill>
                <a:blip r:embed="rId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2BF28B8-6462-5AFE-DC81-C2E6C2DD400C}"/>
                  </a:ext>
                </a:extLst>
              </p:cNvPr>
              <p:cNvSpPr txBox="1"/>
              <p:nvPr/>
            </p:nvSpPr>
            <p:spPr>
              <a:xfrm>
                <a:off x="3202640" y="1845523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2BF28B8-6462-5AFE-DC81-C2E6C2DD4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640" y="1845523"/>
                <a:ext cx="718134" cy="3847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3FC1565-B901-17FE-2A3E-1D5CCDC8208D}"/>
                  </a:ext>
                </a:extLst>
              </p:cNvPr>
              <p:cNvSpPr txBox="1"/>
              <p:nvPr/>
            </p:nvSpPr>
            <p:spPr>
              <a:xfrm>
                <a:off x="3202640" y="5025974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3FC1565-B901-17FE-2A3E-1D5CCDC82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640" y="5025974"/>
                <a:ext cx="718134" cy="3847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EDDCA7D-BED0-1F0F-55D3-825186E9C171}"/>
                  </a:ext>
                </a:extLst>
              </p:cNvPr>
              <p:cNvSpPr txBox="1"/>
              <p:nvPr/>
            </p:nvSpPr>
            <p:spPr>
              <a:xfrm>
                <a:off x="8271224" y="1845522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EDDCA7D-BED0-1F0F-55D3-825186E9C1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24" y="1845522"/>
                <a:ext cx="718134" cy="384721"/>
              </a:xfrm>
              <a:prstGeom prst="rect">
                <a:avLst/>
              </a:prstGeom>
              <a:blipFill>
                <a:blip r:embed="rId10"/>
                <a:stretch>
                  <a:fillRect b="-1449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9FCDE6-48F3-C226-0536-D7B4ABE3B512}"/>
                  </a:ext>
                </a:extLst>
              </p:cNvPr>
              <p:cNvSpPr txBox="1"/>
              <p:nvPr/>
            </p:nvSpPr>
            <p:spPr>
              <a:xfrm>
                <a:off x="8149688" y="4938033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9FCDE6-48F3-C226-0536-D7B4ABE3B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688" y="4938033"/>
                <a:ext cx="718134" cy="3847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7667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3D0FE55-F28D-CCF5-44AB-A4D27B925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ADBF3-4C20-24B1-E649-6EBD9FD8066E}"/>
              </a:ext>
            </a:extLst>
          </p:cNvPr>
          <p:cNvCxnSpPr>
            <a:cxnSpLocks/>
          </p:cNvCxnSpPr>
          <p:nvPr/>
        </p:nvCxnSpPr>
        <p:spPr>
          <a:xfrm flipV="1">
            <a:off x="2899131" y="276224"/>
            <a:ext cx="0" cy="3292687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C8A4B0F-E8E5-B0AA-DCCB-DC81CA4277CB}"/>
              </a:ext>
            </a:extLst>
          </p:cNvPr>
          <p:cNvCxnSpPr>
            <a:cxnSpLocks/>
          </p:cNvCxnSpPr>
          <p:nvPr/>
        </p:nvCxnSpPr>
        <p:spPr>
          <a:xfrm>
            <a:off x="171449" y="1820506"/>
            <a:ext cx="5591176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AFA4149-6EAC-3117-4BC7-4BC4FD0CA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695" y="792069"/>
            <a:ext cx="296795" cy="253891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7A92C72E-D36E-7475-4399-14ACFAEA5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733" y="166867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4F16D8-BF85-1780-2957-4AFA1C5547AB}"/>
                  </a:ext>
                </a:extLst>
              </p:cNvPr>
              <p:cNvSpPr txBox="1"/>
              <p:nvPr/>
            </p:nvSpPr>
            <p:spPr>
              <a:xfrm>
                <a:off x="873456" y="549166"/>
                <a:ext cx="7157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4F16D8-BF85-1780-2957-4AFA1C554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456" y="549166"/>
                <a:ext cx="715773" cy="276999"/>
              </a:xfrm>
              <a:prstGeom prst="rect">
                <a:avLst/>
              </a:prstGeom>
              <a:blipFill>
                <a:blip r:embed="rId3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B0ED4648-9754-FB7A-6503-B17C6A4D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772" y="249923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31F0C1-DA6F-1296-C7E3-072511CC766E}"/>
                  </a:ext>
                </a:extLst>
              </p:cNvPr>
              <p:cNvSpPr txBox="1"/>
              <p:nvPr/>
            </p:nvSpPr>
            <p:spPr>
              <a:xfrm>
                <a:off x="2899131" y="1425773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31F0C1-DA6F-1296-C7E3-072511CC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131" y="1425773"/>
                <a:ext cx="542648" cy="276999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FE3EB1-E2E6-A5FA-F1F6-46A037992F5F}"/>
                  </a:ext>
                </a:extLst>
              </p:cNvPr>
              <p:cNvSpPr txBox="1"/>
              <p:nvPr/>
            </p:nvSpPr>
            <p:spPr>
              <a:xfrm>
                <a:off x="4163853" y="2753126"/>
                <a:ext cx="7157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FE3EB1-E2E6-A5FA-F1F6-46A037992F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853" y="2753126"/>
                <a:ext cx="715773" cy="276999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451B7-4BE4-AE6E-D2CB-E792BBA51870}"/>
                  </a:ext>
                </a:extLst>
              </p:cNvPr>
              <p:cNvSpPr txBox="1"/>
              <p:nvPr/>
            </p:nvSpPr>
            <p:spPr>
              <a:xfrm>
                <a:off x="965075" y="104349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451B7-4BE4-AE6E-D2CB-E792BBA51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075" y="1043494"/>
                <a:ext cx="480034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9450D1-AF9D-1D0C-5EC9-E8311BAD4497}"/>
                  </a:ext>
                </a:extLst>
              </p:cNvPr>
              <p:cNvSpPr txBox="1"/>
              <p:nvPr/>
            </p:nvSpPr>
            <p:spPr>
              <a:xfrm>
                <a:off x="4271912" y="2996030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9450D1-AF9D-1D0C-5EC9-E8311BAD44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1912" y="2996030"/>
                <a:ext cx="480034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463B34-346D-9B42-D68E-246C3E6E2010}"/>
              </a:ext>
            </a:extLst>
          </p:cNvPr>
          <p:cNvCxnSpPr>
            <a:cxnSpLocks/>
          </p:cNvCxnSpPr>
          <p:nvPr/>
        </p:nvCxnSpPr>
        <p:spPr>
          <a:xfrm flipV="1">
            <a:off x="9150299" y="276224"/>
            <a:ext cx="0" cy="3292687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FDEB056-E8ED-6814-B9A5-B5533484A377}"/>
              </a:ext>
            </a:extLst>
          </p:cNvPr>
          <p:cNvCxnSpPr>
            <a:cxnSpLocks/>
          </p:cNvCxnSpPr>
          <p:nvPr/>
        </p:nvCxnSpPr>
        <p:spPr>
          <a:xfrm>
            <a:off x="6422617" y="1820506"/>
            <a:ext cx="5591176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D579C069-A0BF-EDBA-7650-91E85781E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901" y="1668676"/>
            <a:ext cx="296795" cy="253891"/>
          </a:xfrm>
          <a:prstGeom prst="rect">
            <a:avLst/>
          </a:prstGeom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58B6552A-CD1B-2D01-493B-2E31787AB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5941" y="792069"/>
            <a:ext cx="296795" cy="253891"/>
          </a:xfrm>
          <a:prstGeom prst="rect">
            <a:avLst/>
          </a:prstGeom>
        </p:spPr>
      </p:pic>
      <p:pic>
        <p:nvPicPr>
          <p:cNvPr id="26" name="Picture 25" descr="A cartoon of a house&#10;&#10;Description automatically generated">
            <a:extLst>
              <a:ext uri="{FF2B5EF4-FFF2-40B4-BE49-F238E27FC236}">
                <a16:creationId xmlns:a16="http://schemas.microsoft.com/office/drawing/2014/main" id="{D21501B3-944B-F895-FF1D-E5E7D843E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863" y="249923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7D6E42-13B0-6154-0F9C-E8D6B13E045C}"/>
                  </a:ext>
                </a:extLst>
              </p:cNvPr>
              <p:cNvSpPr txBox="1"/>
              <p:nvPr/>
            </p:nvSpPr>
            <p:spPr>
              <a:xfrm>
                <a:off x="9150299" y="1425773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7D6E42-13B0-6154-0F9C-E8D6B13E0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0299" y="1425773"/>
                <a:ext cx="542648" cy="276999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C10A73-7951-BAA8-9D4D-79607D8D9EED}"/>
                  </a:ext>
                </a:extLst>
              </p:cNvPr>
              <p:cNvSpPr txBox="1"/>
              <p:nvPr/>
            </p:nvSpPr>
            <p:spPr>
              <a:xfrm>
                <a:off x="6929264" y="2753127"/>
                <a:ext cx="92737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−2,−1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C10A73-7951-BAA8-9D4D-79607D8D9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9264" y="2753127"/>
                <a:ext cx="927370" cy="276999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560728A-3A95-9C9D-0B28-E01D0E95D6BE}"/>
                  </a:ext>
                </a:extLst>
              </p:cNvPr>
              <p:cNvSpPr txBox="1"/>
              <p:nvPr/>
            </p:nvSpPr>
            <p:spPr>
              <a:xfrm>
                <a:off x="10604320" y="554271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560728A-3A95-9C9D-0B28-E01D0E95D6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320" y="554271"/>
                <a:ext cx="542648" cy="276999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5632666-555C-2BA9-6A3E-D15A395BC717}"/>
                  </a:ext>
                </a:extLst>
              </p:cNvPr>
              <p:cNvSpPr txBox="1"/>
              <p:nvPr/>
            </p:nvSpPr>
            <p:spPr>
              <a:xfrm>
                <a:off x="7216243" y="305155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5632666-555C-2BA9-6A3E-D15A395BC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243" y="3051554"/>
                <a:ext cx="480034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0649DDD-93EA-881C-2242-BC887C1DB557}"/>
                  </a:ext>
                </a:extLst>
              </p:cNvPr>
              <p:cNvSpPr txBox="1"/>
              <p:nvPr/>
            </p:nvSpPr>
            <p:spPr>
              <a:xfrm>
                <a:off x="10604320" y="104349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0649DDD-93EA-881C-2242-BC887C1DB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320" y="1043494"/>
                <a:ext cx="480034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EB5F78-7543-F6DA-7142-900C577FD82D}"/>
                  </a:ext>
                </a:extLst>
              </p:cNvPr>
              <p:cNvSpPr txBox="1"/>
              <p:nvPr/>
            </p:nvSpPr>
            <p:spPr>
              <a:xfrm>
                <a:off x="208012" y="4352077"/>
                <a:ext cx="5607561" cy="1502206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𝒄𝒐𝒗𝒂𝒓𝒊𝒂𝒏𝒄𝒆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(−2)+</m:t>
                          </m:r>
                          <m:r>
                            <a:rPr lang="en-PH" sz="25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+(−2)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PH" sz="25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PH" sz="25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lang="en-PH" sz="2500" b="1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EB5F78-7543-F6DA-7142-900C577FD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012" y="4352077"/>
                <a:ext cx="5607561" cy="150220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BD2984A-83C5-9C80-7BF0-351B301B5BE7}"/>
                  </a:ext>
                </a:extLst>
              </p:cNvPr>
              <p:cNvSpPr txBox="1"/>
              <p:nvPr/>
            </p:nvSpPr>
            <p:spPr>
              <a:xfrm>
                <a:off x="6776250" y="4322992"/>
                <a:ext cx="4831451" cy="1502206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𝒄𝒐𝒗𝒂𝒓𝒊𝒂𝒏𝒄𝒆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(2)+</m:t>
                          </m:r>
                          <m:r>
                            <a:rPr lang="en-PH" sz="25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+(2)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PH" sz="25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lang="en-PH" sz="2500" b="1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BD2984A-83C5-9C80-7BF0-351B301B5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250" y="4322992"/>
                <a:ext cx="4831451" cy="150220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33545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5EA98C1-D460-AAE8-F694-D755ADCBE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55CC708-ADCD-E147-0AC9-41EA404D1E8A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73C647A-2CA6-CC1A-0FBB-9F4A84345FA3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2394E22F-F83E-5BDC-254D-159B86B31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58" y="3237837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94743815-4486-ACB8-F0D1-0F51556E3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2835713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B14FF72-BBDB-4DA4-1170-E34AEF416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10" y="2337339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46525D73-E4BD-58C7-26B3-ACF5AED55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861" y="3781813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2663C004-A2CA-199E-5FBA-66C4DA7A2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145" y="3115600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B7DD519-D734-282B-4C88-22861076945C}"/>
                  </a:ext>
                </a:extLst>
              </p:cNvPr>
              <p:cNvSpPr txBox="1"/>
              <p:nvPr/>
            </p:nvSpPr>
            <p:spPr>
              <a:xfrm>
                <a:off x="7073152" y="299767"/>
                <a:ext cx="4759825" cy="94776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B7DD519-D734-282B-4C88-228610769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152" y="299767"/>
                <a:ext cx="4759825" cy="9477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" name="Picture 40" descr="A cartoon of a house&#10;&#10;Description automatically generated">
            <a:extLst>
              <a:ext uri="{FF2B5EF4-FFF2-40B4-BE49-F238E27FC236}">
                <a16:creationId xmlns:a16="http://schemas.microsoft.com/office/drawing/2014/main" id="{D0093E54-A029-E9FE-40E2-88B9D4363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3450886"/>
            <a:ext cx="444007" cy="402124"/>
          </a:xfrm>
          <a:prstGeom prst="rect">
            <a:avLst/>
          </a:prstGeom>
        </p:spPr>
      </p:pic>
      <p:pic>
        <p:nvPicPr>
          <p:cNvPr id="42" name="Picture 41" descr="A cartoon of a house&#10;&#10;Description automatically generated">
            <a:extLst>
              <a:ext uri="{FF2B5EF4-FFF2-40B4-BE49-F238E27FC236}">
                <a16:creationId xmlns:a16="http://schemas.microsoft.com/office/drawing/2014/main" id="{FDC1FF4B-E7A2-139B-A64A-CA2FE9EDE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2634651"/>
            <a:ext cx="444007" cy="402124"/>
          </a:xfrm>
          <a:prstGeom prst="rect">
            <a:avLst/>
          </a:prstGeom>
        </p:spPr>
      </p:pic>
      <p:pic>
        <p:nvPicPr>
          <p:cNvPr id="43" name="Picture 42" descr="A cartoon of a house&#10;&#10;Description automatically generated">
            <a:extLst>
              <a:ext uri="{FF2B5EF4-FFF2-40B4-BE49-F238E27FC236}">
                <a16:creationId xmlns:a16="http://schemas.microsoft.com/office/drawing/2014/main" id="{9E4C384A-7402-E7D6-EC66-B45401D33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395" y="2169500"/>
            <a:ext cx="444007" cy="402124"/>
          </a:xfrm>
          <a:prstGeom prst="rect">
            <a:avLst/>
          </a:prstGeom>
        </p:spPr>
      </p:pic>
      <p:pic>
        <p:nvPicPr>
          <p:cNvPr id="44" name="Picture 43" descr="A cartoon of a house&#10;&#10;Description automatically generated">
            <a:extLst>
              <a:ext uri="{FF2B5EF4-FFF2-40B4-BE49-F238E27FC236}">
                <a16:creationId xmlns:a16="http://schemas.microsoft.com/office/drawing/2014/main" id="{0E451101-919B-DA0C-03F9-C454AC549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533" y="2500427"/>
            <a:ext cx="444007" cy="402124"/>
          </a:xfrm>
          <a:prstGeom prst="rect">
            <a:avLst/>
          </a:prstGeom>
        </p:spPr>
      </p:pic>
      <p:pic>
        <p:nvPicPr>
          <p:cNvPr id="45" name="Picture 44" descr="A cartoon of a house&#10;&#10;Description automatically generated">
            <a:extLst>
              <a:ext uri="{FF2B5EF4-FFF2-40B4-BE49-F238E27FC236}">
                <a16:creationId xmlns:a16="http://schemas.microsoft.com/office/drawing/2014/main" id="{4B54FC57-6551-589E-EBA9-7D82B0336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91" y="172360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2A2EB0B-5BCC-85AA-0EB9-FD22A28518BF}"/>
                  </a:ext>
                </a:extLst>
              </p:cNvPr>
              <p:cNvSpPr txBox="1"/>
              <p:nvPr/>
            </p:nvSpPr>
            <p:spPr>
              <a:xfrm>
                <a:off x="8459894" y="3669962"/>
                <a:ext cx="322410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2A2EB0B-5BCC-85AA-0EB9-FD22A2851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9894" y="3669962"/>
                <a:ext cx="3224106" cy="28219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32718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3C005-FE6B-2082-9E4C-0290FEBB9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Covariance Matrix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85A5B5D-94C5-DD86-3DAB-7D773B3E8684}"/>
              </a:ext>
            </a:extLst>
          </p:cNvPr>
          <p:cNvCxnSpPr>
            <a:cxnSpLocks/>
          </p:cNvCxnSpPr>
          <p:nvPr/>
        </p:nvCxnSpPr>
        <p:spPr>
          <a:xfrm flipV="1">
            <a:off x="6096000" y="126020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5BF118C-5530-0073-2C45-F76F14CFF79D}"/>
              </a:ext>
            </a:extLst>
          </p:cNvPr>
          <p:cNvCxnSpPr>
            <a:cxnSpLocks/>
          </p:cNvCxnSpPr>
          <p:nvPr/>
        </p:nvCxnSpPr>
        <p:spPr>
          <a:xfrm>
            <a:off x="2015371" y="370610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B9FE5057-29E0-8B7B-98E5-F58198C4E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58" y="3867757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F7806DCC-364B-51E1-4BCA-E4554A52A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3465633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F2D57D00-F1BB-4FA1-6AA2-93581F699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10" y="2967259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038D3838-5E30-8E3A-4C97-DBA2B663C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861" y="4411733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39B56B42-989F-9D8A-CD79-F7FE63244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145" y="3745520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B82850-EB04-82CE-5C8C-2D1EFB78E585}"/>
                  </a:ext>
                </a:extLst>
              </p:cNvPr>
              <p:cNvSpPr txBox="1"/>
              <p:nvPr/>
            </p:nvSpPr>
            <p:spPr>
              <a:xfrm>
                <a:off x="7073152" y="929687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B82850-EB04-82CE-5C8C-2D1EFB78E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152" y="929687"/>
                <a:ext cx="4759825" cy="12247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2E5A266D-A047-C7D5-1941-5F16B80DA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4080806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91BAEFC1-DC2B-2BFB-BC99-914C7C5EC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3264571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9B6D4044-B264-CE38-5B27-676C8F11B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395" y="2799420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3DC01B48-B646-4716-DA15-1A62F947C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533" y="3130347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DB62B239-E52B-0A44-E496-FBAACACFC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91" y="235352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3377E4-7EF9-C95F-70B0-5871D5663A68}"/>
                  </a:ext>
                </a:extLst>
              </p:cNvPr>
              <p:cNvSpPr txBox="1"/>
              <p:nvPr/>
            </p:nvSpPr>
            <p:spPr>
              <a:xfrm>
                <a:off x="8175415" y="4269881"/>
                <a:ext cx="350858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PH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3377E4-7EF9-C95F-70B0-5871D5663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415" y="4269881"/>
                <a:ext cx="3508586" cy="28219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12279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CCCCA-6214-C68D-7142-D6629F05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Covariance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1B586-6076-41C5-5895-EFFF780F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 covariance matrix is a square matrix with diagonal elements that represent the variance and the non-diagonal components that express covariance.</a:t>
            </a:r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3DFE9D-8C61-7B80-207D-D908FE719E99}"/>
                  </a:ext>
                </a:extLst>
              </p:cNvPr>
              <p:cNvSpPr txBox="1"/>
              <p:nvPr/>
            </p:nvSpPr>
            <p:spPr>
              <a:xfrm>
                <a:off x="3716087" y="4539873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3DFE9D-8C61-7B80-207D-D908FE719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087" y="4539873"/>
                <a:ext cx="4759825" cy="122475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1313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43FC44A-A152-1B56-7F17-F61EDE91C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683DED-1C88-15E6-7962-2F8254E57674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683DED-1C88-15E6-7962-2F8254E57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5BD0CE88-FF33-89FD-3546-B2C91099B5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5008576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19424800-8748-9610-4714-10E619BE89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725346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B5BCDF-D59E-81F1-CBD0-713100F8F05C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B5BCDF-D59E-81F1-CBD0-713100F8F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1A07B6-D61F-38AE-236E-F6B6965D2DA5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1A07B6-D61F-38AE-236E-F6B6965D2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1637712-CB2A-D328-AFFB-0AF7E11809C7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1637712-CB2A-D328-AFFB-0AF7E1180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8B3274-8A8D-0E3B-B1E8-A51A7FBB12BC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8B3274-8A8D-0E3B-B1E8-A51A7FBB1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BFAE31B-BAA9-0C0E-29C0-B8AFCF074788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BFAE31B-BAA9-0C0E-29C0-B8AFCF074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AC70CDC-76C8-A648-6F61-C60E3F532538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AC70CDC-76C8-A648-6F61-C60E3F532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6DCC622-17EB-6EB3-4DC2-57047E6C7146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6DCC622-17EB-6EB3-4DC2-57047E6C7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45939C6-22AA-584D-6310-6C2056B409C6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45939C6-22AA-584D-6310-6C2056B40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F63CD1F-372B-CB39-055E-3FC28AF9D98E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F63CD1F-372B-CB39-055E-3FC28AF9D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5CE4A21-E838-1B1A-AD40-A47A76F7693C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5CE4A21-E838-1B1A-AD40-A47A76F76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3877FCC-4C45-EF5B-4EB0-F42DA0C4DEA7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3877FCC-4C45-EF5B-4EB0-F42DA0C4D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47F4227-72B1-CCE1-3768-276ACC27D82E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47F4227-72B1-CCE1-3768-276ACC27D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0BF0F53F-73E8-6D84-DF4A-3218657504FF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B220B5-599C-ED39-0F95-AA40E01878FB}"/>
              </a:ext>
            </a:extLst>
          </p:cNvPr>
          <p:cNvSpPr txBox="1"/>
          <p:nvPr/>
        </p:nvSpPr>
        <p:spPr>
          <a:xfrm>
            <a:off x="3559418" y="4080622"/>
            <a:ext cx="4722514" cy="1246495"/>
          </a:xfrm>
          <a:custGeom>
            <a:avLst/>
            <a:gdLst>
              <a:gd name="connsiteX0" fmla="*/ 0 w 4722514"/>
              <a:gd name="connsiteY0" fmla="*/ 0 h 1246495"/>
              <a:gd name="connsiteX1" fmla="*/ 684765 w 4722514"/>
              <a:gd name="connsiteY1" fmla="*/ 0 h 1246495"/>
              <a:gd name="connsiteX2" fmla="*/ 1369529 w 4722514"/>
              <a:gd name="connsiteY2" fmla="*/ 0 h 1246495"/>
              <a:gd name="connsiteX3" fmla="*/ 2007068 w 4722514"/>
              <a:gd name="connsiteY3" fmla="*/ 0 h 1246495"/>
              <a:gd name="connsiteX4" fmla="*/ 2597383 w 4722514"/>
              <a:gd name="connsiteY4" fmla="*/ 0 h 1246495"/>
              <a:gd name="connsiteX5" fmla="*/ 3093247 w 4722514"/>
              <a:gd name="connsiteY5" fmla="*/ 0 h 1246495"/>
              <a:gd name="connsiteX6" fmla="*/ 3589111 w 4722514"/>
              <a:gd name="connsiteY6" fmla="*/ 0 h 1246495"/>
              <a:gd name="connsiteX7" fmla="*/ 4084975 w 4722514"/>
              <a:gd name="connsiteY7" fmla="*/ 0 h 1246495"/>
              <a:gd name="connsiteX8" fmla="*/ 4722514 w 4722514"/>
              <a:gd name="connsiteY8" fmla="*/ 0 h 1246495"/>
              <a:gd name="connsiteX9" fmla="*/ 4722514 w 4722514"/>
              <a:gd name="connsiteY9" fmla="*/ 440428 h 1246495"/>
              <a:gd name="connsiteX10" fmla="*/ 4722514 w 4722514"/>
              <a:gd name="connsiteY10" fmla="*/ 818532 h 1246495"/>
              <a:gd name="connsiteX11" fmla="*/ 4722514 w 4722514"/>
              <a:gd name="connsiteY11" fmla="*/ 1246495 h 1246495"/>
              <a:gd name="connsiteX12" fmla="*/ 4273875 w 4722514"/>
              <a:gd name="connsiteY12" fmla="*/ 1246495 h 1246495"/>
              <a:gd name="connsiteX13" fmla="*/ 3589111 w 4722514"/>
              <a:gd name="connsiteY13" fmla="*/ 1246495 h 1246495"/>
              <a:gd name="connsiteX14" fmla="*/ 2904346 w 4722514"/>
              <a:gd name="connsiteY14" fmla="*/ 1246495 h 1246495"/>
              <a:gd name="connsiteX15" fmla="*/ 2266807 w 4722514"/>
              <a:gd name="connsiteY15" fmla="*/ 1246495 h 1246495"/>
              <a:gd name="connsiteX16" fmla="*/ 1723718 w 4722514"/>
              <a:gd name="connsiteY16" fmla="*/ 1246495 h 1246495"/>
              <a:gd name="connsiteX17" fmla="*/ 1086178 w 4722514"/>
              <a:gd name="connsiteY17" fmla="*/ 1246495 h 1246495"/>
              <a:gd name="connsiteX18" fmla="*/ 0 w 4722514"/>
              <a:gd name="connsiteY18" fmla="*/ 1246495 h 1246495"/>
              <a:gd name="connsiteX19" fmla="*/ 0 w 4722514"/>
              <a:gd name="connsiteY19" fmla="*/ 843462 h 1246495"/>
              <a:gd name="connsiteX20" fmla="*/ 0 w 4722514"/>
              <a:gd name="connsiteY20" fmla="*/ 427963 h 1246495"/>
              <a:gd name="connsiteX21" fmla="*/ 0 w 4722514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722514" h="1246495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39878" y="209551"/>
                  <a:pt x="4682293" y="243367"/>
                  <a:pt x="4722514" y="440428"/>
                </a:cubicBezTo>
                <a:cubicBezTo>
                  <a:pt x="4762735" y="637489"/>
                  <a:pt x="4705189" y="689276"/>
                  <a:pt x="4722514" y="818532"/>
                </a:cubicBezTo>
                <a:cubicBezTo>
                  <a:pt x="4739839" y="947788"/>
                  <a:pt x="4719629" y="1129850"/>
                  <a:pt x="4722514" y="1246495"/>
                </a:cubicBezTo>
                <a:cubicBezTo>
                  <a:pt x="4505350" y="1253117"/>
                  <a:pt x="4456169" y="1206411"/>
                  <a:pt x="4273875" y="1246495"/>
                </a:cubicBezTo>
                <a:cubicBezTo>
                  <a:pt x="4091581" y="1286579"/>
                  <a:pt x="3761301" y="1238775"/>
                  <a:pt x="3589111" y="1246495"/>
                </a:cubicBezTo>
                <a:cubicBezTo>
                  <a:pt x="3416921" y="1254215"/>
                  <a:pt x="3184073" y="1237399"/>
                  <a:pt x="2904346" y="1246495"/>
                </a:cubicBezTo>
                <a:cubicBezTo>
                  <a:pt x="2624619" y="1255591"/>
                  <a:pt x="2447051" y="1237378"/>
                  <a:pt x="2266807" y="1246495"/>
                </a:cubicBezTo>
                <a:cubicBezTo>
                  <a:pt x="2086563" y="1255612"/>
                  <a:pt x="1923869" y="1218564"/>
                  <a:pt x="1723718" y="1246495"/>
                </a:cubicBezTo>
                <a:cubicBezTo>
                  <a:pt x="1523567" y="1274426"/>
                  <a:pt x="1338521" y="1222549"/>
                  <a:pt x="1086178" y="1246495"/>
                </a:cubicBezTo>
                <a:cubicBezTo>
                  <a:pt x="833835" y="1270441"/>
                  <a:pt x="233896" y="1198736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If we apply the covariance matrix to our graph from the left, this will result in a graph in the right. 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2619588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08C864-66D3-8494-2C2D-6571764D2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3FECEA4-2C26-CE5A-3367-B1B25F4C0FC0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3FECEA4-2C26-CE5A-3367-B1B25F4C0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6489A425-B375-1DEC-7C27-4E68EB4C7D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0527080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7AFBF391-9D0D-A5DF-DB19-D8AA7E90E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01122771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2CE6B35-CBFF-F599-DFFF-6C2A149569B7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2CE6B35-CBFF-F599-DFFF-6C2A14956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F464B37-22D4-F29C-EF6D-BC102AC2B81A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F464B37-22D4-F29C-EF6D-BC102AC2B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3D0159F-8202-5CF0-6F7B-0CCF3C236D11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3D0159F-8202-5CF0-6F7B-0CCF3C236D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4D7CF6-7F6F-055E-2C39-4908BAF30E85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4D7CF6-7F6F-055E-2C39-4908BAF30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ACDDA7-103B-BFB6-A3B2-331FEEA1DDD5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ACDDA7-103B-BFB6-A3B2-331FEEA1D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E9B77B9-7256-8862-FC5F-9242320CA2D1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E9B77B9-7256-8862-FC5F-9242320CA2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3AD5ECF-05B8-3182-EB79-C40F86D1EB1A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3AD5ECF-05B8-3182-EB79-C40F86D1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FC79A3-BA0A-6B22-D61D-16C2EA3A664F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FC79A3-BA0A-6B22-D61D-16C2EA3A6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653AE51-FD57-A2ED-D6C3-E97B8192D554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653AE51-FD57-A2ED-D6C3-E97B8192D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8DC9323-9ECB-4B48-B42B-D2D4A575EA33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8DC9323-9ECB-4B48-B42B-D2D4A575E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53BB902-40E9-DDF6-9D76-CE85F196A84C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53BB902-40E9-DDF6-9D76-CE85F196A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D872B28-44A9-72A7-CCEC-58D7CC4FBC5E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D872B28-44A9-72A7-CCEC-58D7CC4FB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C427D02E-D522-45C9-7945-87E09EA9FA07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4C6105-22E9-315B-7950-3A0C41A8BA6A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08A9027-6452-E776-E4DE-097A7C9A4050}"/>
              </a:ext>
            </a:extLst>
          </p:cNvPr>
          <p:cNvSpPr/>
          <p:nvPr/>
        </p:nvSpPr>
        <p:spPr>
          <a:xfrm rot="20428056">
            <a:off x="7011861" y="1833444"/>
            <a:ext cx="4161546" cy="521383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58C291-9C71-6911-B149-B0F6EA58444E}"/>
              </a:ext>
            </a:extLst>
          </p:cNvPr>
          <p:cNvSpPr txBox="1"/>
          <p:nvPr/>
        </p:nvSpPr>
        <p:spPr>
          <a:xfrm>
            <a:off x="3559418" y="4080622"/>
            <a:ext cx="4722514" cy="1246495"/>
          </a:xfrm>
          <a:custGeom>
            <a:avLst/>
            <a:gdLst>
              <a:gd name="connsiteX0" fmla="*/ 0 w 4722514"/>
              <a:gd name="connsiteY0" fmla="*/ 0 h 1246495"/>
              <a:gd name="connsiteX1" fmla="*/ 684765 w 4722514"/>
              <a:gd name="connsiteY1" fmla="*/ 0 h 1246495"/>
              <a:gd name="connsiteX2" fmla="*/ 1369529 w 4722514"/>
              <a:gd name="connsiteY2" fmla="*/ 0 h 1246495"/>
              <a:gd name="connsiteX3" fmla="*/ 2007068 w 4722514"/>
              <a:gd name="connsiteY3" fmla="*/ 0 h 1246495"/>
              <a:gd name="connsiteX4" fmla="*/ 2597383 w 4722514"/>
              <a:gd name="connsiteY4" fmla="*/ 0 h 1246495"/>
              <a:gd name="connsiteX5" fmla="*/ 3093247 w 4722514"/>
              <a:gd name="connsiteY5" fmla="*/ 0 h 1246495"/>
              <a:gd name="connsiteX6" fmla="*/ 3589111 w 4722514"/>
              <a:gd name="connsiteY6" fmla="*/ 0 h 1246495"/>
              <a:gd name="connsiteX7" fmla="*/ 4084975 w 4722514"/>
              <a:gd name="connsiteY7" fmla="*/ 0 h 1246495"/>
              <a:gd name="connsiteX8" fmla="*/ 4722514 w 4722514"/>
              <a:gd name="connsiteY8" fmla="*/ 0 h 1246495"/>
              <a:gd name="connsiteX9" fmla="*/ 4722514 w 4722514"/>
              <a:gd name="connsiteY9" fmla="*/ 440428 h 1246495"/>
              <a:gd name="connsiteX10" fmla="*/ 4722514 w 4722514"/>
              <a:gd name="connsiteY10" fmla="*/ 818532 h 1246495"/>
              <a:gd name="connsiteX11" fmla="*/ 4722514 w 4722514"/>
              <a:gd name="connsiteY11" fmla="*/ 1246495 h 1246495"/>
              <a:gd name="connsiteX12" fmla="*/ 4273875 w 4722514"/>
              <a:gd name="connsiteY12" fmla="*/ 1246495 h 1246495"/>
              <a:gd name="connsiteX13" fmla="*/ 3589111 w 4722514"/>
              <a:gd name="connsiteY13" fmla="*/ 1246495 h 1246495"/>
              <a:gd name="connsiteX14" fmla="*/ 2904346 w 4722514"/>
              <a:gd name="connsiteY14" fmla="*/ 1246495 h 1246495"/>
              <a:gd name="connsiteX15" fmla="*/ 2266807 w 4722514"/>
              <a:gd name="connsiteY15" fmla="*/ 1246495 h 1246495"/>
              <a:gd name="connsiteX16" fmla="*/ 1723718 w 4722514"/>
              <a:gd name="connsiteY16" fmla="*/ 1246495 h 1246495"/>
              <a:gd name="connsiteX17" fmla="*/ 1086178 w 4722514"/>
              <a:gd name="connsiteY17" fmla="*/ 1246495 h 1246495"/>
              <a:gd name="connsiteX18" fmla="*/ 0 w 4722514"/>
              <a:gd name="connsiteY18" fmla="*/ 1246495 h 1246495"/>
              <a:gd name="connsiteX19" fmla="*/ 0 w 4722514"/>
              <a:gd name="connsiteY19" fmla="*/ 843462 h 1246495"/>
              <a:gd name="connsiteX20" fmla="*/ 0 w 4722514"/>
              <a:gd name="connsiteY20" fmla="*/ 427963 h 1246495"/>
              <a:gd name="connsiteX21" fmla="*/ 0 w 4722514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722514" h="1246495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39878" y="209551"/>
                  <a:pt x="4682293" y="243367"/>
                  <a:pt x="4722514" y="440428"/>
                </a:cubicBezTo>
                <a:cubicBezTo>
                  <a:pt x="4762735" y="637489"/>
                  <a:pt x="4705189" y="689276"/>
                  <a:pt x="4722514" y="818532"/>
                </a:cubicBezTo>
                <a:cubicBezTo>
                  <a:pt x="4739839" y="947788"/>
                  <a:pt x="4719629" y="1129850"/>
                  <a:pt x="4722514" y="1246495"/>
                </a:cubicBezTo>
                <a:cubicBezTo>
                  <a:pt x="4505350" y="1253117"/>
                  <a:pt x="4456169" y="1206411"/>
                  <a:pt x="4273875" y="1246495"/>
                </a:cubicBezTo>
                <a:cubicBezTo>
                  <a:pt x="4091581" y="1286579"/>
                  <a:pt x="3761301" y="1238775"/>
                  <a:pt x="3589111" y="1246495"/>
                </a:cubicBezTo>
                <a:cubicBezTo>
                  <a:pt x="3416921" y="1254215"/>
                  <a:pt x="3184073" y="1237399"/>
                  <a:pt x="2904346" y="1246495"/>
                </a:cubicBezTo>
                <a:cubicBezTo>
                  <a:pt x="2624619" y="1255591"/>
                  <a:pt x="2447051" y="1237378"/>
                  <a:pt x="2266807" y="1246495"/>
                </a:cubicBezTo>
                <a:cubicBezTo>
                  <a:pt x="2086563" y="1255612"/>
                  <a:pt x="1923869" y="1218564"/>
                  <a:pt x="1723718" y="1246495"/>
                </a:cubicBezTo>
                <a:cubicBezTo>
                  <a:pt x="1523567" y="1274426"/>
                  <a:pt x="1338521" y="1222549"/>
                  <a:pt x="1086178" y="1246495"/>
                </a:cubicBezTo>
                <a:cubicBezTo>
                  <a:pt x="833835" y="1270441"/>
                  <a:pt x="233896" y="1198736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We can see that the original graph was</a:t>
            </a:r>
            <a:r>
              <a:rPr lang="en-US" sz="2500" b="1" dirty="0"/>
              <a:t> extended in two directions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7984423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300D52-E8FC-B11E-98B2-E27EB6689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938863D-7F73-C836-B49E-9BB07352E7B5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938863D-7F73-C836-B49E-9BB07352E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CAEECC73-5B2C-A51C-A9DC-1E7016649AD0}"/>
              </a:ext>
            </a:extLst>
          </p:cNvPr>
          <p:cNvGraphicFramePr/>
          <p:nvPr/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404F865F-000A-1EE7-5341-815F064D1885}"/>
              </a:ext>
            </a:extLst>
          </p:cNvPr>
          <p:cNvGraphicFramePr/>
          <p:nvPr/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33A6FF-16F6-EB5E-AD6B-92FA4E2947E8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33A6FF-16F6-EB5E-AD6B-92FA4E29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FDA8503-B586-9AAB-F922-5185A0BE1565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FDA8503-B586-9AAB-F922-5185A0BE1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4416F18-3393-99BC-EDF0-4E214981E7F4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4416F18-3393-99BC-EDF0-4E214981E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D960852-7837-E36E-ED19-1DE5F0441254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D960852-7837-E36E-ED19-1DE5F0441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936F6F-BFC2-ACF1-C29A-9A68410FC06A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936F6F-BFC2-ACF1-C29A-9A68410FC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E13889C-7C9A-D23F-B788-B34DF3246BF3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E13889C-7C9A-D23F-B788-B34DF324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EE51E3-15C3-4685-3E09-D4E7782E0A36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EE51E3-15C3-4685-3E09-D4E7782E0A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A9CEBB4-4D4C-DA99-7207-5719D53EE81A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A9CEBB4-4D4C-DA99-7207-5719D53EE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3AB5812-431C-0EE4-0B65-DC1BBCC16C41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3AB5812-431C-0EE4-0B65-DC1BBCC16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57E9D2E-4AA5-26DF-16D0-F5B26C0681E8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57E9D2E-4AA5-26DF-16D0-F5B26C068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627E0AD-08B0-1058-B759-6EF6DB4AFAFE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627E0AD-08B0-1058-B759-6EF6DB4AFA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6DB760C-13D8-D614-750E-2007F5A4D4AB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6DB760C-13D8-D614-750E-2007F5A4D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4DC473E5-2E02-A18E-EA96-F44BE3EB7B95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081FE0-47D7-E303-7355-DE964081EC9E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FDB4CD6-6108-5802-E35F-1BBF542C0AA0}"/>
              </a:ext>
            </a:extLst>
          </p:cNvPr>
          <p:cNvSpPr/>
          <p:nvPr/>
        </p:nvSpPr>
        <p:spPr>
          <a:xfrm rot="20428056">
            <a:off x="7011861" y="1833444"/>
            <a:ext cx="4161546" cy="521383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620BDC-4F87-39FD-623F-230F1B24E17C}"/>
              </a:ext>
            </a:extLst>
          </p:cNvPr>
          <p:cNvSpPr txBox="1"/>
          <p:nvPr/>
        </p:nvSpPr>
        <p:spPr>
          <a:xfrm>
            <a:off x="3559418" y="4080622"/>
            <a:ext cx="4722514" cy="861774"/>
          </a:xfrm>
          <a:custGeom>
            <a:avLst/>
            <a:gdLst>
              <a:gd name="connsiteX0" fmla="*/ 0 w 4722514"/>
              <a:gd name="connsiteY0" fmla="*/ 0 h 861774"/>
              <a:gd name="connsiteX1" fmla="*/ 684765 w 4722514"/>
              <a:gd name="connsiteY1" fmla="*/ 0 h 861774"/>
              <a:gd name="connsiteX2" fmla="*/ 1369529 w 4722514"/>
              <a:gd name="connsiteY2" fmla="*/ 0 h 861774"/>
              <a:gd name="connsiteX3" fmla="*/ 2007068 w 4722514"/>
              <a:gd name="connsiteY3" fmla="*/ 0 h 861774"/>
              <a:gd name="connsiteX4" fmla="*/ 2597383 w 4722514"/>
              <a:gd name="connsiteY4" fmla="*/ 0 h 861774"/>
              <a:gd name="connsiteX5" fmla="*/ 3093247 w 4722514"/>
              <a:gd name="connsiteY5" fmla="*/ 0 h 861774"/>
              <a:gd name="connsiteX6" fmla="*/ 3589111 w 4722514"/>
              <a:gd name="connsiteY6" fmla="*/ 0 h 861774"/>
              <a:gd name="connsiteX7" fmla="*/ 4084975 w 4722514"/>
              <a:gd name="connsiteY7" fmla="*/ 0 h 861774"/>
              <a:gd name="connsiteX8" fmla="*/ 4722514 w 4722514"/>
              <a:gd name="connsiteY8" fmla="*/ 0 h 861774"/>
              <a:gd name="connsiteX9" fmla="*/ 4722514 w 4722514"/>
              <a:gd name="connsiteY9" fmla="*/ 448122 h 861774"/>
              <a:gd name="connsiteX10" fmla="*/ 4722514 w 4722514"/>
              <a:gd name="connsiteY10" fmla="*/ 861774 h 861774"/>
              <a:gd name="connsiteX11" fmla="*/ 4273875 w 4722514"/>
              <a:gd name="connsiteY11" fmla="*/ 861774 h 861774"/>
              <a:gd name="connsiteX12" fmla="*/ 3778011 w 4722514"/>
              <a:gd name="connsiteY12" fmla="*/ 861774 h 861774"/>
              <a:gd name="connsiteX13" fmla="*/ 3093247 w 4722514"/>
              <a:gd name="connsiteY13" fmla="*/ 861774 h 861774"/>
              <a:gd name="connsiteX14" fmla="*/ 2408482 w 4722514"/>
              <a:gd name="connsiteY14" fmla="*/ 861774 h 861774"/>
              <a:gd name="connsiteX15" fmla="*/ 1770943 w 4722514"/>
              <a:gd name="connsiteY15" fmla="*/ 861774 h 861774"/>
              <a:gd name="connsiteX16" fmla="*/ 1227854 w 4722514"/>
              <a:gd name="connsiteY16" fmla="*/ 861774 h 861774"/>
              <a:gd name="connsiteX17" fmla="*/ 590314 w 4722514"/>
              <a:gd name="connsiteY17" fmla="*/ 861774 h 861774"/>
              <a:gd name="connsiteX18" fmla="*/ 0 w 4722514"/>
              <a:gd name="connsiteY18" fmla="*/ 861774 h 861774"/>
              <a:gd name="connsiteX19" fmla="*/ 0 w 4722514"/>
              <a:gd name="connsiteY19" fmla="*/ 439505 h 861774"/>
              <a:gd name="connsiteX20" fmla="*/ 0 w 4722514"/>
              <a:gd name="connsiteY20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722514" h="861774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61105" y="221970"/>
                  <a:pt x="4679899" y="347530"/>
                  <a:pt x="4722514" y="448122"/>
                </a:cubicBezTo>
                <a:cubicBezTo>
                  <a:pt x="4765129" y="548714"/>
                  <a:pt x="4677398" y="741709"/>
                  <a:pt x="4722514" y="861774"/>
                </a:cubicBezTo>
                <a:cubicBezTo>
                  <a:pt x="4568481" y="887684"/>
                  <a:pt x="4407851" y="824353"/>
                  <a:pt x="4273875" y="861774"/>
                </a:cubicBezTo>
                <a:cubicBezTo>
                  <a:pt x="4139899" y="899195"/>
                  <a:pt x="3989008" y="846668"/>
                  <a:pt x="3778011" y="861774"/>
                </a:cubicBezTo>
                <a:cubicBezTo>
                  <a:pt x="3567014" y="876880"/>
                  <a:pt x="3265437" y="854054"/>
                  <a:pt x="3093247" y="861774"/>
                </a:cubicBezTo>
                <a:cubicBezTo>
                  <a:pt x="2921057" y="869494"/>
                  <a:pt x="2688209" y="852678"/>
                  <a:pt x="2408482" y="861774"/>
                </a:cubicBezTo>
                <a:cubicBezTo>
                  <a:pt x="2128755" y="870870"/>
                  <a:pt x="1951187" y="852657"/>
                  <a:pt x="1770943" y="861774"/>
                </a:cubicBezTo>
                <a:cubicBezTo>
                  <a:pt x="1590699" y="870891"/>
                  <a:pt x="1428005" y="833843"/>
                  <a:pt x="1227854" y="861774"/>
                </a:cubicBezTo>
                <a:cubicBezTo>
                  <a:pt x="1027703" y="889705"/>
                  <a:pt x="842657" y="837828"/>
                  <a:pt x="590314" y="861774"/>
                </a:cubicBezTo>
                <a:cubicBezTo>
                  <a:pt x="337971" y="885720"/>
                  <a:pt x="127784" y="810486"/>
                  <a:pt x="0" y="861774"/>
                </a:cubicBezTo>
                <a:cubicBezTo>
                  <a:pt x="-20715" y="716918"/>
                  <a:pt x="21744" y="615894"/>
                  <a:pt x="0" y="439505"/>
                </a:cubicBezTo>
                <a:cubicBezTo>
                  <a:pt x="-21744" y="263116"/>
                  <a:pt x="35033" y="16582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This is called </a:t>
            </a:r>
            <a:r>
              <a:rPr lang="en-US" sz="2500" b="1" dirty="0">
                <a:solidFill>
                  <a:srgbClr val="002060"/>
                </a:solidFill>
              </a:rPr>
              <a:t>linear </a:t>
            </a:r>
            <a:r>
              <a:rPr lang="en-US" sz="2500" b="1" dirty="0" err="1">
                <a:solidFill>
                  <a:srgbClr val="002060"/>
                </a:solidFill>
              </a:rPr>
              <a:t>tranformation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81436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FB3158E-CD73-3323-33D6-A15CB68A0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EFCB670-AE6C-CFC2-DFA4-1F3133536580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EFCB670-AE6C-CFC2-DFA4-1F3133536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C695374E-5279-B812-49D7-3F96F410EB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70120096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DC09FFA5-6307-320E-4F06-0B19413707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4831200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2" name="Arrow: Right 51">
            <a:extLst>
              <a:ext uri="{FF2B5EF4-FFF2-40B4-BE49-F238E27FC236}">
                <a16:creationId xmlns:a16="http://schemas.microsoft.com/office/drawing/2014/main" id="{F8BE9C79-D5A6-1C05-F8F5-274349A40A86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9144402-413B-FC22-FE82-88E281A5D8E1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EEBB97A-077C-35BE-203B-22BB89D4DF1D}"/>
              </a:ext>
            </a:extLst>
          </p:cNvPr>
          <p:cNvSpPr/>
          <p:nvPr/>
        </p:nvSpPr>
        <p:spPr>
          <a:xfrm rot="20428056">
            <a:off x="7003796" y="1786584"/>
            <a:ext cx="4161546" cy="569632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3ABF756-DAB8-EE28-F037-53E0C92965E9}"/>
              </a:ext>
            </a:extLst>
          </p:cNvPr>
          <p:cNvCxnSpPr>
            <a:cxnSpLocks/>
            <a:endCxn id="2" idx="7"/>
          </p:cNvCxnSpPr>
          <p:nvPr/>
        </p:nvCxnSpPr>
        <p:spPr>
          <a:xfrm flipV="1">
            <a:off x="2596764" y="1800971"/>
            <a:ext cx="291135" cy="28587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EAD75-A67E-0A4B-E916-73B78D9B7500}"/>
              </a:ext>
            </a:extLst>
          </p:cNvPr>
          <p:cNvCxnSpPr>
            <a:cxnSpLocks/>
            <a:endCxn id="3" idx="6"/>
          </p:cNvCxnSpPr>
          <p:nvPr/>
        </p:nvCxnSpPr>
        <p:spPr>
          <a:xfrm flipV="1">
            <a:off x="7223641" y="1375715"/>
            <a:ext cx="3821958" cy="1408125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F01D176-CC17-648E-E123-22BD552F6B38}"/>
              </a:ext>
            </a:extLst>
          </p:cNvPr>
          <p:cNvCxnSpPr>
            <a:cxnSpLocks/>
          </p:cNvCxnSpPr>
          <p:nvPr/>
        </p:nvCxnSpPr>
        <p:spPr>
          <a:xfrm flipH="1" flipV="1">
            <a:off x="2249488" y="1792939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7C7B8F8-DECB-556E-0FD2-433D788EE476}"/>
              </a:ext>
            </a:extLst>
          </p:cNvPr>
          <p:cNvCxnSpPr>
            <a:cxnSpLocks/>
          </p:cNvCxnSpPr>
          <p:nvPr/>
        </p:nvCxnSpPr>
        <p:spPr>
          <a:xfrm flipH="1" flipV="1">
            <a:off x="8822267" y="1825942"/>
            <a:ext cx="484293" cy="445158"/>
          </a:xfrm>
          <a:prstGeom prst="straightConnector1">
            <a:avLst/>
          </a:prstGeom>
          <a:ln w="571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4381A40-11A1-C140-CB30-2FEB607A8F9F}"/>
              </a:ext>
            </a:extLst>
          </p:cNvPr>
          <p:cNvSpPr txBox="1"/>
          <p:nvPr/>
        </p:nvSpPr>
        <p:spPr>
          <a:xfrm>
            <a:off x="843112" y="4091951"/>
            <a:ext cx="3442996" cy="477054"/>
          </a:xfrm>
          <a:custGeom>
            <a:avLst/>
            <a:gdLst>
              <a:gd name="connsiteX0" fmla="*/ 0 w 3442996"/>
              <a:gd name="connsiteY0" fmla="*/ 0 h 477054"/>
              <a:gd name="connsiteX1" fmla="*/ 642693 w 3442996"/>
              <a:gd name="connsiteY1" fmla="*/ 0 h 477054"/>
              <a:gd name="connsiteX2" fmla="*/ 1285385 w 3442996"/>
              <a:gd name="connsiteY2" fmla="*/ 0 h 477054"/>
              <a:gd name="connsiteX3" fmla="*/ 1893648 w 3442996"/>
              <a:gd name="connsiteY3" fmla="*/ 0 h 477054"/>
              <a:gd name="connsiteX4" fmla="*/ 2467480 w 3442996"/>
              <a:gd name="connsiteY4" fmla="*/ 0 h 477054"/>
              <a:gd name="connsiteX5" fmla="*/ 3442996 w 3442996"/>
              <a:gd name="connsiteY5" fmla="*/ 0 h 477054"/>
              <a:gd name="connsiteX6" fmla="*/ 3442996 w 3442996"/>
              <a:gd name="connsiteY6" fmla="*/ 477054 h 477054"/>
              <a:gd name="connsiteX7" fmla="*/ 2869163 w 3442996"/>
              <a:gd name="connsiteY7" fmla="*/ 477054 h 477054"/>
              <a:gd name="connsiteX8" fmla="*/ 2329761 w 3442996"/>
              <a:gd name="connsiteY8" fmla="*/ 477054 h 477054"/>
              <a:gd name="connsiteX9" fmla="*/ 1755928 w 3442996"/>
              <a:gd name="connsiteY9" fmla="*/ 477054 h 477054"/>
              <a:gd name="connsiteX10" fmla="*/ 1250955 w 3442996"/>
              <a:gd name="connsiteY10" fmla="*/ 477054 h 477054"/>
              <a:gd name="connsiteX11" fmla="*/ 608263 w 3442996"/>
              <a:gd name="connsiteY11" fmla="*/ 477054 h 477054"/>
              <a:gd name="connsiteX12" fmla="*/ 0 w 3442996"/>
              <a:gd name="connsiteY12" fmla="*/ 477054 h 477054"/>
              <a:gd name="connsiteX13" fmla="*/ 0 w 3442996"/>
              <a:gd name="connsiteY1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42996" h="477054" extrusionOk="0">
                <a:moveTo>
                  <a:pt x="0" y="0"/>
                </a:moveTo>
                <a:cubicBezTo>
                  <a:pt x="189078" y="-34191"/>
                  <a:pt x="346095" y="73137"/>
                  <a:pt x="642693" y="0"/>
                </a:cubicBezTo>
                <a:cubicBezTo>
                  <a:pt x="939291" y="-73137"/>
                  <a:pt x="978379" y="67473"/>
                  <a:pt x="1285385" y="0"/>
                </a:cubicBezTo>
                <a:cubicBezTo>
                  <a:pt x="1592391" y="-67473"/>
                  <a:pt x="1596061" y="37229"/>
                  <a:pt x="1893648" y="0"/>
                </a:cubicBezTo>
                <a:cubicBezTo>
                  <a:pt x="2191235" y="-37229"/>
                  <a:pt x="2245656" y="54335"/>
                  <a:pt x="2467480" y="0"/>
                </a:cubicBezTo>
                <a:cubicBezTo>
                  <a:pt x="2689304" y="-54335"/>
                  <a:pt x="3109086" y="57733"/>
                  <a:pt x="3442996" y="0"/>
                </a:cubicBezTo>
                <a:cubicBezTo>
                  <a:pt x="3454342" y="229460"/>
                  <a:pt x="3439050" y="250904"/>
                  <a:pt x="3442996" y="477054"/>
                </a:cubicBezTo>
                <a:cubicBezTo>
                  <a:pt x="3255784" y="487457"/>
                  <a:pt x="3022678" y="424258"/>
                  <a:pt x="2869163" y="477054"/>
                </a:cubicBezTo>
                <a:cubicBezTo>
                  <a:pt x="2715648" y="529850"/>
                  <a:pt x="2586345" y="412727"/>
                  <a:pt x="2329761" y="477054"/>
                </a:cubicBezTo>
                <a:cubicBezTo>
                  <a:pt x="2073177" y="541381"/>
                  <a:pt x="1916070" y="468807"/>
                  <a:pt x="1755928" y="477054"/>
                </a:cubicBezTo>
                <a:cubicBezTo>
                  <a:pt x="1595786" y="485301"/>
                  <a:pt x="1414909" y="442309"/>
                  <a:pt x="1250955" y="477054"/>
                </a:cubicBezTo>
                <a:cubicBezTo>
                  <a:pt x="1087001" y="511799"/>
                  <a:pt x="808899" y="412445"/>
                  <a:pt x="608263" y="477054"/>
                </a:cubicBezTo>
                <a:cubicBezTo>
                  <a:pt x="407627" y="541663"/>
                  <a:pt x="241159" y="424465"/>
                  <a:pt x="0" y="477054"/>
                </a:cubicBezTo>
                <a:cubicBezTo>
                  <a:pt x="-24471" y="257107"/>
                  <a:pt x="18913" y="19150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Eigenvector</a:t>
            </a:r>
            <a:r>
              <a:rPr lang="en-PH" sz="2500" dirty="0"/>
              <a:t> 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FD7D2E-611F-7E95-1AB2-6149D4B84A1F}"/>
              </a:ext>
            </a:extLst>
          </p:cNvPr>
          <p:cNvSpPr txBox="1"/>
          <p:nvPr/>
        </p:nvSpPr>
        <p:spPr>
          <a:xfrm>
            <a:off x="7538295" y="4091951"/>
            <a:ext cx="3699689" cy="477054"/>
          </a:xfrm>
          <a:custGeom>
            <a:avLst/>
            <a:gdLst>
              <a:gd name="connsiteX0" fmla="*/ 0 w 3699689"/>
              <a:gd name="connsiteY0" fmla="*/ 0 h 477054"/>
              <a:gd name="connsiteX1" fmla="*/ 602521 w 3699689"/>
              <a:gd name="connsiteY1" fmla="*/ 0 h 477054"/>
              <a:gd name="connsiteX2" fmla="*/ 1205042 w 3699689"/>
              <a:gd name="connsiteY2" fmla="*/ 0 h 477054"/>
              <a:gd name="connsiteX3" fmla="*/ 1770565 w 3699689"/>
              <a:gd name="connsiteY3" fmla="*/ 0 h 477054"/>
              <a:gd name="connsiteX4" fmla="*/ 2299092 w 3699689"/>
              <a:gd name="connsiteY4" fmla="*/ 0 h 477054"/>
              <a:gd name="connsiteX5" fmla="*/ 2753626 w 3699689"/>
              <a:gd name="connsiteY5" fmla="*/ 0 h 477054"/>
              <a:gd name="connsiteX6" fmla="*/ 3208159 w 3699689"/>
              <a:gd name="connsiteY6" fmla="*/ 0 h 477054"/>
              <a:gd name="connsiteX7" fmla="*/ 3699689 w 3699689"/>
              <a:gd name="connsiteY7" fmla="*/ 0 h 477054"/>
              <a:gd name="connsiteX8" fmla="*/ 3699689 w 3699689"/>
              <a:gd name="connsiteY8" fmla="*/ 477054 h 477054"/>
              <a:gd name="connsiteX9" fmla="*/ 3134165 w 3699689"/>
              <a:gd name="connsiteY9" fmla="*/ 477054 h 477054"/>
              <a:gd name="connsiteX10" fmla="*/ 2679632 w 3699689"/>
              <a:gd name="connsiteY10" fmla="*/ 477054 h 477054"/>
              <a:gd name="connsiteX11" fmla="*/ 2077111 w 3699689"/>
              <a:gd name="connsiteY11" fmla="*/ 477054 h 477054"/>
              <a:gd name="connsiteX12" fmla="*/ 1622578 w 3699689"/>
              <a:gd name="connsiteY12" fmla="*/ 477054 h 477054"/>
              <a:gd name="connsiteX13" fmla="*/ 1020057 w 3699689"/>
              <a:gd name="connsiteY13" fmla="*/ 477054 h 477054"/>
              <a:gd name="connsiteX14" fmla="*/ 0 w 3699689"/>
              <a:gd name="connsiteY14" fmla="*/ 477054 h 477054"/>
              <a:gd name="connsiteX15" fmla="*/ 0 w 3699689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99689" h="477054" extrusionOk="0">
                <a:moveTo>
                  <a:pt x="0" y="0"/>
                </a:moveTo>
                <a:cubicBezTo>
                  <a:pt x="250509" y="-31216"/>
                  <a:pt x="365637" y="54316"/>
                  <a:pt x="602521" y="0"/>
                </a:cubicBezTo>
                <a:cubicBezTo>
                  <a:pt x="839405" y="-54316"/>
                  <a:pt x="933077" y="64152"/>
                  <a:pt x="1205042" y="0"/>
                </a:cubicBezTo>
                <a:cubicBezTo>
                  <a:pt x="1477007" y="-64152"/>
                  <a:pt x="1631121" y="49421"/>
                  <a:pt x="1770565" y="0"/>
                </a:cubicBezTo>
                <a:cubicBezTo>
                  <a:pt x="1910009" y="-49421"/>
                  <a:pt x="2151226" y="60268"/>
                  <a:pt x="2299092" y="0"/>
                </a:cubicBezTo>
                <a:cubicBezTo>
                  <a:pt x="2446958" y="-60268"/>
                  <a:pt x="2610856" y="40165"/>
                  <a:pt x="2753626" y="0"/>
                </a:cubicBezTo>
                <a:cubicBezTo>
                  <a:pt x="2896396" y="-40165"/>
                  <a:pt x="3050425" y="26602"/>
                  <a:pt x="3208159" y="0"/>
                </a:cubicBezTo>
                <a:cubicBezTo>
                  <a:pt x="3365893" y="-26602"/>
                  <a:pt x="3544871" y="54561"/>
                  <a:pt x="3699689" y="0"/>
                </a:cubicBezTo>
                <a:cubicBezTo>
                  <a:pt x="3718375" y="178763"/>
                  <a:pt x="3658015" y="238531"/>
                  <a:pt x="3699689" y="477054"/>
                </a:cubicBezTo>
                <a:cubicBezTo>
                  <a:pt x="3510487" y="488519"/>
                  <a:pt x="3372898" y="411677"/>
                  <a:pt x="3134165" y="477054"/>
                </a:cubicBezTo>
                <a:cubicBezTo>
                  <a:pt x="2895432" y="542431"/>
                  <a:pt x="2865056" y="441206"/>
                  <a:pt x="2679632" y="477054"/>
                </a:cubicBezTo>
                <a:cubicBezTo>
                  <a:pt x="2494208" y="512902"/>
                  <a:pt x="2361206" y="440158"/>
                  <a:pt x="2077111" y="477054"/>
                </a:cubicBezTo>
                <a:cubicBezTo>
                  <a:pt x="1793016" y="513950"/>
                  <a:pt x="1837602" y="469097"/>
                  <a:pt x="1622578" y="477054"/>
                </a:cubicBezTo>
                <a:cubicBezTo>
                  <a:pt x="1407554" y="485011"/>
                  <a:pt x="1305594" y="411582"/>
                  <a:pt x="1020057" y="477054"/>
                </a:cubicBezTo>
                <a:cubicBezTo>
                  <a:pt x="734520" y="542526"/>
                  <a:pt x="378626" y="412556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Eigenvalues</a:t>
            </a:r>
            <a:r>
              <a:rPr lang="en-PH" sz="2500" dirty="0"/>
              <a:t> (magnitude)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4C73DB-F361-F656-0C76-FEC40A33ECA7}"/>
              </a:ext>
            </a:extLst>
          </p:cNvPr>
          <p:cNvSpPr txBox="1"/>
          <p:nvPr/>
        </p:nvSpPr>
        <p:spPr>
          <a:xfrm>
            <a:off x="1591733" y="5257497"/>
            <a:ext cx="9453866" cy="1246495"/>
          </a:xfrm>
          <a:custGeom>
            <a:avLst/>
            <a:gdLst>
              <a:gd name="connsiteX0" fmla="*/ 0 w 9453866"/>
              <a:gd name="connsiteY0" fmla="*/ 0 h 1246495"/>
              <a:gd name="connsiteX1" fmla="*/ 779944 w 9453866"/>
              <a:gd name="connsiteY1" fmla="*/ 0 h 1246495"/>
              <a:gd name="connsiteX2" fmla="*/ 1559888 w 9453866"/>
              <a:gd name="connsiteY2" fmla="*/ 0 h 1246495"/>
              <a:gd name="connsiteX3" fmla="*/ 2245293 w 9453866"/>
              <a:gd name="connsiteY3" fmla="*/ 0 h 1246495"/>
              <a:gd name="connsiteX4" fmla="*/ 2836160 w 9453866"/>
              <a:gd name="connsiteY4" fmla="*/ 0 h 1246495"/>
              <a:gd name="connsiteX5" fmla="*/ 3237949 w 9453866"/>
              <a:gd name="connsiteY5" fmla="*/ 0 h 1246495"/>
              <a:gd name="connsiteX6" fmla="*/ 3639738 w 9453866"/>
              <a:gd name="connsiteY6" fmla="*/ 0 h 1246495"/>
              <a:gd name="connsiteX7" fmla="*/ 4041528 w 9453866"/>
              <a:gd name="connsiteY7" fmla="*/ 0 h 1246495"/>
              <a:gd name="connsiteX8" fmla="*/ 4821472 w 9453866"/>
              <a:gd name="connsiteY8" fmla="*/ 0 h 1246495"/>
              <a:gd name="connsiteX9" fmla="*/ 5601416 w 9453866"/>
              <a:gd name="connsiteY9" fmla="*/ 0 h 1246495"/>
              <a:gd name="connsiteX10" fmla="*/ 6003205 w 9453866"/>
              <a:gd name="connsiteY10" fmla="*/ 0 h 1246495"/>
              <a:gd name="connsiteX11" fmla="*/ 6499533 w 9453866"/>
              <a:gd name="connsiteY11" fmla="*/ 0 h 1246495"/>
              <a:gd name="connsiteX12" fmla="*/ 7184938 w 9453866"/>
              <a:gd name="connsiteY12" fmla="*/ 0 h 1246495"/>
              <a:gd name="connsiteX13" fmla="*/ 7775805 w 9453866"/>
              <a:gd name="connsiteY13" fmla="*/ 0 h 1246495"/>
              <a:gd name="connsiteX14" fmla="*/ 8177594 w 9453866"/>
              <a:gd name="connsiteY14" fmla="*/ 0 h 1246495"/>
              <a:gd name="connsiteX15" fmla="*/ 8768461 w 9453866"/>
              <a:gd name="connsiteY15" fmla="*/ 0 h 1246495"/>
              <a:gd name="connsiteX16" fmla="*/ 9453866 w 9453866"/>
              <a:gd name="connsiteY16" fmla="*/ 0 h 1246495"/>
              <a:gd name="connsiteX17" fmla="*/ 9453866 w 9453866"/>
              <a:gd name="connsiteY17" fmla="*/ 390568 h 1246495"/>
              <a:gd name="connsiteX18" fmla="*/ 9453866 w 9453866"/>
              <a:gd name="connsiteY18" fmla="*/ 830997 h 1246495"/>
              <a:gd name="connsiteX19" fmla="*/ 9453866 w 9453866"/>
              <a:gd name="connsiteY19" fmla="*/ 1246495 h 1246495"/>
              <a:gd name="connsiteX20" fmla="*/ 8862999 w 9453866"/>
              <a:gd name="connsiteY20" fmla="*/ 1246495 h 1246495"/>
              <a:gd name="connsiteX21" fmla="*/ 8177594 w 9453866"/>
              <a:gd name="connsiteY21" fmla="*/ 1246495 h 1246495"/>
              <a:gd name="connsiteX22" fmla="*/ 7397650 w 9453866"/>
              <a:gd name="connsiteY22" fmla="*/ 1246495 h 1246495"/>
              <a:gd name="connsiteX23" fmla="*/ 6806784 w 9453866"/>
              <a:gd name="connsiteY23" fmla="*/ 1246495 h 1246495"/>
              <a:gd name="connsiteX24" fmla="*/ 6499533 w 9453866"/>
              <a:gd name="connsiteY24" fmla="*/ 1246495 h 1246495"/>
              <a:gd name="connsiteX25" fmla="*/ 6192282 w 9453866"/>
              <a:gd name="connsiteY25" fmla="*/ 1246495 h 1246495"/>
              <a:gd name="connsiteX26" fmla="*/ 5412338 w 9453866"/>
              <a:gd name="connsiteY26" fmla="*/ 1246495 h 1246495"/>
              <a:gd name="connsiteX27" fmla="*/ 4916010 w 9453866"/>
              <a:gd name="connsiteY27" fmla="*/ 1246495 h 1246495"/>
              <a:gd name="connsiteX28" fmla="*/ 4325144 w 9453866"/>
              <a:gd name="connsiteY28" fmla="*/ 1246495 h 1246495"/>
              <a:gd name="connsiteX29" fmla="*/ 3923354 w 9453866"/>
              <a:gd name="connsiteY29" fmla="*/ 1246495 h 1246495"/>
              <a:gd name="connsiteX30" fmla="*/ 3616104 w 9453866"/>
              <a:gd name="connsiteY30" fmla="*/ 1246495 h 1246495"/>
              <a:gd name="connsiteX31" fmla="*/ 3214314 w 9453866"/>
              <a:gd name="connsiteY31" fmla="*/ 1246495 h 1246495"/>
              <a:gd name="connsiteX32" fmla="*/ 2623448 w 9453866"/>
              <a:gd name="connsiteY32" fmla="*/ 1246495 h 1246495"/>
              <a:gd name="connsiteX33" fmla="*/ 2221659 w 9453866"/>
              <a:gd name="connsiteY33" fmla="*/ 1246495 h 1246495"/>
              <a:gd name="connsiteX34" fmla="*/ 1441715 w 9453866"/>
              <a:gd name="connsiteY34" fmla="*/ 1246495 h 1246495"/>
              <a:gd name="connsiteX35" fmla="*/ 850848 w 9453866"/>
              <a:gd name="connsiteY35" fmla="*/ 1246495 h 1246495"/>
              <a:gd name="connsiteX36" fmla="*/ 0 w 9453866"/>
              <a:gd name="connsiteY36" fmla="*/ 1246495 h 1246495"/>
              <a:gd name="connsiteX37" fmla="*/ 0 w 9453866"/>
              <a:gd name="connsiteY37" fmla="*/ 818532 h 1246495"/>
              <a:gd name="connsiteX38" fmla="*/ 0 w 9453866"/>
              <a:gd name="connsiteY38" fmla="*/ 440428 h 1246495"/>
              <a:gd name="connsiteX39" fmla="*/ 0 w 9453866"/>
              <a:gd name="connsiteY39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9453866" h="1246495" extrusionOk="0">
                <a:moveTo>
                  <a:pt x="0" y="0"/>
                </a:moveTo>
                <a:cubicBezTo>
                  <a:pt x="230369" y="-78363"/>
                  <a:pt x="515568" y="46420"/>
                  <a:pt x="779944" y="0"/>
                </a:cubicBezTo>
                <a:cubicBezTo>
                  <a:pt x="1044320" y="-46420"/>
                  <a:pt x="1322251" y="54764"/>
                  <a:pt x="1559888" y="0"/>
                </a:cubicBezTo>
                <a:cubicBezTo>
                  <a:pt x="1797525" y="-54764"/>
                  <a:pt x="2102441" y="37039"/>
                  <a:pt x="2245293" y="0"/>
                </a:cubicBezTo>
                <a:cubicBezTo>
                  <a:pt x="2388146" y="-37039"/>
                  <a:pt x="2577492" y="15919"/>
                  <a:pt x="2836160" y="0"/>
                </a:cubicBezTo>
                <a:cubicBezTo>
                  <a:pt x="3094828" y="-15919"/>
                  <a:pt x="3061481" y="41420"/>
                  <a:pt x="3237949" y="0"/>
                </a:cubicBezTo>
                <a:cubicBezTo>
                  <a:pt x="3414417" y="-41420"/>
                  <a:pt x="3451303" y="37307"/>
                  <a:pt x="3639738" y="0"/>
                </a:cubicBezTo>
                <a:cubicBezTo>
                  <a:pt x="3828173" y="-37307"/>
                  <a:pt x="3871976" y="47087"/>
                  <a:pt x="4041528" y="0"/>
                </a:cubicBezTo>
                <a:cubicBezTo>
                  <a:pt x="4211080" y="-47087"/>
                  <a:pt x="4588827" y="77129"/>
                  <a:pt x="4821472" y="0"/>
                </a:cubicBezTo>
                <a:cubicBezTo>
                  <a:pt x="5054117" y="-77129"/>
                  <a:pt x="5436176" y="72350"/>
                  <a:pt x="5601416" y="0"/>
                </a:cubicBezTo>
                <a:cubicBezTo>
                  <a:pt x="5766656" y="-72350"/>
                  <a:pt x="5904315" y="1122"/>
                  <a:pt x="6003205" y="0"/>
                </a:cubicBezTo>
                <a:cubicBezTo>
                  <a:pt x="6102095" y="-1122"/>
                  <a:pt x="6311848" y="8605"/>
                  <a:pt x="6499533" y="0"/>
                </a:cubicBezTo>
                <a:cubicBezTo>
                  <a:pt x="6687218" y="-8605"/>
                  <a:pt x="6889778" y="13481"/>
                  <a:pt x="7184938" y="0"/>
                </a:cubicBezTo>
                <a:cubicBezTo>
                  <a:pt x="7480098" y="-13481"/>
                  <a:pt x="7585515" y="24404"/>
                  <a:pt x="7775805" y="0"/>
                </a:cubicBezTo>
                <a:cubicBezTo>
                  <a:pt x="7966095" y="-24404"/>
                  <a:pt x="8082801" y="9714"/>
                  <a:pt x="8177594" y="0"/>
                </a:cubicBezTo>
                <a:cubicBezTo>
                  <a:pt x="8272387" y="-9714"/>
                  <a:pt x="8565879" y="17068"/>
                  <a:pt x="8768461" y="0"/>
                </a:cubicBezTo>
                <a:cubicBezTo>
                  <a:pt x="8971043" y="-17068"/>
                  <a:pt x="9219907" y="49311"/>
                  <a:pt x="9453866" y="0"/>
                </a:cubicBezTo>
                <a:cubicBezTo>
                  <a:pt x="9495206" y="172515"/>
                  <a:pt x="9427453" y="306120"/>
                  <a:pt x="9453866" y="390568"/>
                </a:cubicBezTo>
                <a:cubicBezTo>
                  <a:pt x="9480279" y="475016"/>
                  <a:pt x="9444690" y="690656"/>
                  <a:pt x="9453866" y="830997"/>
                </a:cubicBezTo>
                <a:cubicBezTo>
                  <a:pt x="9463042" y="971338"/>
                  <a:pt x="9432137" y="1067943"/>
                  <a:pt x="9453866" y="1246495"/>
                </a:cubicBezTo>
                <a:cubicBezTo>
                  <a:pt x="9187496" y="1301661"/>
                  <a:pt x="8991305" y="1227055"/>
                  <a:pt x="8862999" y="1246495"/>
                </a:cubicBezTo>
                <a:cubicBezTo>
                  <a:pt x="8734693" y="1265935"/>
                  <a:pt x="8372777" y="1178563"/>
                  <a:pt x="8177594" y="1246495"/>
                </a:cubicBezTo>
                <a:cubicBezTo>
                  <a:pt x="7982411" y="1314427"/>
                  <a:pt x="7744246" y="1163448"/>
                  <a:pt x="7397650" y="1246495"/>
                </a:cubicBezTo>
                <a:cubicBezTo>
                  <a:pt x="7051054" y="1329542"/>
                  <a:pt x="6932972" y="1187133"/>
                  <a:pt x="6806784" y="1246495"/>
                </a:cubicBezTo>
                <a:cubicBezTo>
                  <a:pt x="6680596" y="1305857"/>
                  <a:pt x="6628059" y="1242494"/>
                  <a:pt x="6499533" y="1246495"/>
                </a:cubicBezTo>
                <a:cubicBezTo>
                  <a:pt x="6371007" y="1250496"/>
                  <a:pt x="6293060" y="1220724"/>
                  <a:pt x="6192282" y="1246495"/>
                </a:cubicBezTo>
                <a:cubicBezTo>
                  <a:pt x="6091504" y="1272266"/>
                  <a:pt x="5682803" y="1182953"/>
                  <a:pt x="5412338" y="1246495"/>
                </a:cubicBezTo>
                <a:cubicBezTo>
                  <a:pt x="5141873" y="1310037"/>
                  <a:pt x="5107048" y="1233144"/>
                  <a:pt x="4916010" y="1246495"/>
                </a:cubicBezTo>
                <a:cubicBezTo>
                  <a:pt x="4724972" y="1259846"/>
                  <a:pt x="4564756" y="1236959"/>
                  <a:pt x="4325144" y="1246495"/>
                </a:cubicBezTo>
                <a:cubicBezTo>
                  <a:pt x="4085532" y="1256031"/>
                  <a:pt x="4060074" y="1227772"/>
                  <a:pt x="3923354" y="1246495"/>
                </a:cubicBezTo>
                <a:cubicBezTo>
                  <a:pt x="3786634" y="1265218"/>
                  <a:pt x="3740970" y="1228847"/>
                  <a:pt x="3616104" y="1246495"/>
                </a:cubicBezTo>
                <a:cubicBezTo>
                  <a:pt x="3491238" y="1264143"/>
                  <a:pt x="3345190" y="1212460"/>
                  <a:pt x="3214314" y="1246495"/>
                </a:cubicBezTo>
                <a:cubicBezTo>
                  <a:pt x="3083438" y="1280530"/>
                  <a:pt x="2808463" y="1224276"/>
                  <a:pt x="2623448" y="1246495"/>
                </a:cubicBezTo>
                <a:cubicBezTo>
                  <a:pt x="2438433" y="1268714"/>
                  <a:pt x="2346965" y="1235911"/>
                  <a:pt x="2221659" y="1246495"/>
                </a:cubicBezTo>
                <a:cubicBezTo>
                  <a:pt x="2096353" y="1257079"/>
                  <a:pt x="1670739" y="1225764"/>
                  <a:pt x="1441715" y="1246495"/>
                </a:cubicBezTo>
                <a:cubicBezTo>
                  <a:pt x="1212691" y="1267226"/>
                  <a:pt x="1024052" y="1219017"/>
                  <a:pt x="850848" y="1246495"/>
                </a:cubicBezTo>
                <a:cubicBezTo>
                  <a:pt x="677644" y="1273973"/>
                  <a:pt x="330688" y="1177653"/>
                  <a:pt x="0" y="1246495"/>
                </a:cubicBezTo>
                <a:cubicBezTo>
                  <a:pt x="-26410" y="1119178"/>
                  <a:pt x="31456" y="942620"/>
                  <a:pt x="0" y="818532"/>
                </a:cubicBezTo>
                <a:cubicBezTo>
                  <a:pt x="-31456" y="694444"/>
                  <a:pt x="16438" y="618128"/>
                  <a:pt x="0" y="440428"/>
                </a:cubicBezTo>
                <a:cubicBezTo>
                  <a:pt x="-16438" y="262728"/>
                  <a:pt x="39837" y="1310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When we apply </a:t>
            </a:r>
            <a:r>
              <a:rPr lang="en-US" sz="2500" b="1" dirty="0">
                <a:solidFill>
                  <a:srgbClr val="002060"/>
                </a:solidFill>
              </a:rPr>
              <a:t>linear transformation, </a:t>
            </a:r>
            <a:r>
              <a:rPr lang="en-US" sz="2500" dirty="0"/>
              <a:t>we need to know in which </a:t>
            </a:r>
            <a:r>
              <a:rPr lang="en-US" sz="2500" b="1" dirty="0"/>
              <a:t>direction</a:t>
            </a:r>
            <a:r>
              <a:rPr lang="en-US" sz="2500" dirty="0"/>
              <a:t> and how long (</a:t>
            </a:r>
            <a:r>
              <a:rPr lang="en-US" sz="2500" b="1" dirty="0"/>
              <a:t>magnitude) </a:t>
            </a:r>
            <a:r>
              <a:rPr lang="en-US" sz="2500" dirty="0"/>
              <a:t> it gets stretched or compressed</a:t>
            </a:r>
            <a:r>
              <a:rPr lang="en-US" sz="2500" b="1" dirty="0"/>
              <a:t>. 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71168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A80276-0334-D33F-0576-3A0C039E2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37DAD98-BC47-32BF-046F-33EAB94EC8EC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37DAD98-BC47-32BF-046F-33EAB94EC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89E50503-2A84-8CDE-78FA-CED9DEB0A2EE}"/>
              </a:ext>
            </a:extLst>
          </p:cNvPr>
          <p:cNvGraphicFramePr/>
          <p:nvPr/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6F6F3DC0-10F8-E207-B2E2-27001F2299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1543488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FCB07E1-5A64-2825-E8B0-2F652AE32FF2}"/>
                  </a:ext>
                </a:extLst>
              </p:cNvPr>
              <p:cNvSpPr txBox="1"/>
              <p:nvPr/>
            </p:nvSpPr>
            <p:spPr>
              <a:xfrm>
                <a:off x="2968270" y="1034158"/>
                <a:ext cx="668901" cy="7668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FCB07E1-5A64-2825-E8B0-2F652AE32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8270" y="1034158"/>
                <a:ext cx="668901" cy="7668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01DFC794-CA1E-5A34-CF7D-6C931D03D02F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668EF49-A27F-C800-D18F-332625DC7CA4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C82D641-03F8-1BD9-30D9-F40113593FD5}"/>
              </a:ext>
            </a:extLst>
          </p:cNvPr>
          <p:cNvSpPr/>
          <p:nvPr/>
        </p:nvSpPr>
        <p:spPr>
          <a:xfrm rot="20428056">
            <a:off x="7003796" y="1786584"/>
            <a:ext cx="4161546" cy="569632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A5393DA-4725-177F-1644-F6D54480500F}"/>
              </a:ext>
            </a:extLst>
          </p:cNvPr>
          <p:cNvCxnSpPr>
            <a:cxnSpLocks/>
            <a:endCxn id="2" idx="7"/>
          </p:cNvCxnSpPr>
          <p:nvPr/>
        </p:nvCxnSpPr>
        <p:spPr>
          <a:xfrm flipV="1">
            <a:off x="2596764" y="1800971"/>
            <a:ext cx="291135" cy="28587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D875B49-EACE-DC64-0ADA-FB17E04F3D5D}"/>
              </a:ext>
            </a:extLst>
          </p:cNvPr>
          <p:cNvCxnSpPr>
            <a:cxnSpLocks/>
            <a:endCxn id="3" idx="6"/>
          </p:cNvCxnSpPr>
          <p:nvPr/>
        </p:nvCxnSpPr>
        <p:spPr>
          <a:xfrm flipV="1">
            <a:off x="9079710" y="1375715"/>
            <a:ext cx="1965889" cy="72429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B38FF22-108A-CEC8-5CC4-805AFBAFED4B}"/>
                  </a:ext>
                </a:extLst>
              </p:cNvPr>
              <p:cNvSpPr txBox="1"/>
              <p:nvPr/>
            </p:nvSpPr>
            <p:spPr>
              <a:xfrm>
                <a:off x="10733038" y="1562106"/>
                <a:ext cx="504946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B38FF22-108A-CEC8-5CC4-805AFBAFED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3038" y="1562106"/>
                <a:ext cx="504946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B934CAC-9C5F-C03E-1873-A35D195AE6D6}"/>
              </a:ext>
            </a:extLst>
          </p:cNvPr>
          <p:cNvCxnSpPr>
            <a:cxnSpLocks/>
          </p:cNvCxnSpPr>
          <p:nvPr/>
        </p:nvCxnSpPr>
        <p:spPr>
          <a:xfrm flipH="1" flipV="1">
            <a:off x="2249488" y="1792939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7DCD08-0088-08F1-A24D-22BC37A37109}"/>
                  </a:ext>
                </a:extLst>
              </p:cNvPr>
              <p:cNvSpPr txBox="1"/>
              <p:nvPr/>
            </p:nvSpPr>
            <p:spPr>
              <a:xfrm>
                <a:off x="1206489" y="1034158"/>
                <a:ext cx="955839" cy="7668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7DCD08-0088-08F1-A24D-22BC37A37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6489" y="1034158"/>
                <a:ext cx="955839" cy="76681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07BA001-BE2B-F72A-C142-DAC0F1BBCF0D}"/>
              </a:ext>
            </a:extLst>
          </p:cNvPr>
          <p:cNvCxnSpPr>
            <a:cxnSpLocks/>
          </p:cNvCxnSpPr>
          <p:nvPr/>
        </p:nvCxnSpPr>
        <p:spPr>
          <a:xfrm flipH="1" flipV="1">
            <a:off x="8822267" y="1825942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FB47BF-A80D-7A0D-F6CA-AAB33F197888}"/>
                  </a:ext>
                </a:extLst>
              </p:cNvPr>
              <p:cNvSpPr txBox="1"/>
              <p:nvPr/>
            </p:nvSpPr>
            <p:spPr>
              <a:xfrm>
                <a:off x="8329216" y="1420279"/>
                <a:ext cx="291747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FB47BF-A80D-7A0D-F6CA-AAB33F1978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216" y="1420279"/>
                <a:ext cx="29174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33368EDD-30DB-5189-A570-BF180DF0380E}"/>
              </a:ext>
            </a:extLst>
          </p:cNvPr>
          <p:cNvSpPr txBox="1"/>
          <p:nvPr/>
        </p:nvSpPr>
        <p:spPr>
          <a:xfrm>
            <a:off x="843112" y="4091951"/>
            <a:ext cx="3442996" cy="477054"/>
          </a:xfrm>
          <a:custGeom>
            <a:avLst/>
            <a:gdLst>
              <a:gd name="connsiteX0" fmla="*/ 0 w 3442996"/>
              <a:gd name="connsiteY0" fmla="*/ 0 h 477054"/>
              <a:gd name="connsiteX1" fmla="*/ 642693 w 3442996"/>
              <a:gd name="connsiteY1" fmla="*/ 0 h 477054"/>
              <a:gd name="connsiteX2" fmla="*/ 1285385 w 3442996"/>
              <a:gd name="connsiteY2" fmla="*/ 0 h 477054"/>
              <a:gd name="connsiteX3" fmla="*/ 1893648 w 3442996"/>
              <a:gd name="connsiteY3" fmla="*/ 0 h 477054"/>
              <a:gd name="connsiteX4" fmla="*/ 2467480 w 3442996"/>
              <a:gd name="connsiteY4" fmla="*/ 0 h 477054"/>
              <a:gd name="connsiteX5" fmla="*/ 3442996 w 3442996"/>
              <a:gd name="connsiteY5" fmla="*/ 0 h 477054"/>
              <a:gd name="connsiteX6" fmla="*/ 3442996 w 3442996"/>
              <a:gd name="connsiteY6" fmla="*/ 477054 h 477054"/>
              <a:gd name="connsiteX7" fmla="*/ 2869163 w 3442996"/>
              <a:gd name="connsiteY7" fmla="*/ 477054 h 477054"/>
              <a:gd name="connsiteX8" fmla="*/ 2329761 w 3442996"/>
              <a:gd name="connsiteY8" fmla="*/ 477054 h 477054"/>
              <a:gd name="connsiteX9" fmla="*/ 1755928 w 3442996"/>
              <a:gd name="connsiteY9" fmla="*/ 477054 h 477054"/>
              <a:gd name="connsiteX10" fmla="*/ 1250955 w 3442996"/>
              <a:gd name="connsiteY10" fmla="*/ 477054 h 477054"/>
              <a:gd name="connsiteX11" fmla="*/ 608263 w 3442996"/>
              <a:gd name="connsiteY11" fmla="*/ 477054 h 477054"/>
              <a:gd name="connsiteX12" fmla="*/ 0 w 3442996"/>
              <a:gd name="connsiteY12" fmla="*/ 477054 h 477054"/>
              <a:gd name="connsiteX13" fmla="*/ 0 w 3442996"/>
              <a:gd name="connsiteY1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42996" h="477054" extrusionOk="0">
                <a:moveTo>
                  <a:pt x="0" y="0"/>
                </a:moveTo>
                <a:cubicBezTo>
                  <a:pt x="189078" y="-34191"/>
                  <a:pt x="346095" y="73137"/>
                  <a:pt x="642693" y="0"/>
                </a:cubicBezTo>
                <a:cubicBezTo>
                  <a:pt x="939291" y="-73137"/>
                  <a:pt x="978379" y="67473"/>
                  <a:pt x="1285385" y="0"/>
                </a:cubicBezTo>
                <a:cubicBezTo>
                  <a:pt x="1592391" y="-67473"/>
                  <a:pt x="1596061" y="37229"/>
                  <a:pt x="1893648" y="0"/>
                </a:cubicBezTo>
                <a:cubicBezTo>
                  <a:pt x="2191235" y="-37229"/>
                  <a:pt x="2245656" y="54335"/>
                  <a:pt x="2467480" y="0"/>
                </a:cubicBezTo>
                <a:cubicBezTo>
                  <a:pt x="2689304" y="-54335"/>
                  <a:pt x="3109086" y="57733"/>
                  <a:pt x="3442996" y="0"/>
                </a:cubicBezTo>
                <a:cubicBezTo>
                  <a:pt x="3454342" y="229460"/>
                  <a:pt x="3439050" y="250904"/>
                  <a:pt x="3442996" y="477054"/>
                </a:cubicBezTo>
                <a:cubicBezTo>
                  <a:pt x="3255784" y="487457"/>
                  <a:pt x="3022678" y="424258"/>
                  <a:pt x="2869163" y="477054"/>
                </a:cubicBezTo>
                <a:cubicBezTo>
                  <a:pt x="2715648" y="529850"/>
                  <a:pt x="2586345" y="412727"/>
                  <a:pt x="2329761" y="477054"/>
                </a:cubicBezTo>
                <a:cubicBezTo>
                  <a:pt x="2073177" y="541381"/>
                  <a:pt x="1916070" y="468807"/>
                  <a:pt x="1755928" y="477054"/>
                </a:cubicBezTo>
                <a:cubicBezTo>
                  <a:pt x="1595786" y="485301"/>
                  <a:pt x="1414909" y="442309"/>
                  <a:pt x="1250955" y="477054"/>
                </a:cubicBezTo>
                <a:cubicBezTo>
                  <a:pt x="1087001" y="511799"/>
                  <a:pt x="808899" y="412445"/>
                  <a:pt x="608263" y="477054"/>
                </a:cubicBezTo>
                <a:cubicBezTo>
                  <a:pt x="407627" y="541663"/>
                  <a:pt x="241159" y="424465"/>
                  <a:pt x="0" y="477054"/>
                </a:cubicBezTo>
                <a:cubicBezTo>
                  <a:pt x="-24471" y="257107"/>
                  <a:pt x="18913" y="19150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Eigenvector</a:t>
            </a:r>
            <a:r>
              <a:rPr lang="en-PH" sz="2500" dirty="0"/>
              <a:t> 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A8BA40-87ED-6441-089D-E3029E367E1D}"/>
              </a:ext>
            </a:extLst>
          </p:cNvPr>
          <p:cNvSpPr txBox="1"/>
          <p:nvPr/>
        </p:nvSpPr>
        <p:spPr>
          <a:xfrm>
            <a:off x="7538295" y="4091951"/>
            <a:ext cx="3699689" cy="477054"/>
          </a:xfrm>
          <a:custGeom>
            <a:avLst/>
            <a:gdLst>
              <a:gd name="connsiteX0" fmla="*/ 0 w 3699689"/>
              <a:gd name="connsiteY0" fmla="*/ 0 h 477054"/>
              <a:gd name="connsiteX1" fmla="*/ 602521 w 3699689"/>
              <a:gd name="connsiteY1" fmla="*/ 0 h 477054"/>
              <a:gd name="connsiteX2" fmla="*/ 1205042 w 3699689"/>
              <a:gd name="connsiteY2" fmla="*/ 0 h 477054"/>
              <a:gd name="connsiteX3" fmla="*/ 1770565 w 3699689"/>
              <a:gd name="connsiteY3" fmla="*/ 0 h 477054"/>
              <a:gd name="connsiteX4" fmla="*/ 2299092 w 3699689"/>
              <a:gd name="connsiteY4" fmla="*/ 0 h 477054"/>
              <a:gd name="connsiteX5" fmla="*/ 2753626 w 3699689"/>
              <a:gd name="connsiteY5" fmla="*/ 0 h 477054"/>
              <a:gd name="connsiteX6" fmla="*/ 3208159 w 3699689"/>
              <a:gd name="connsiteY6" fmla="*/ 0 h 477054"/>
              <a:gd name="connsiteX7" fmla="*/ 3699689 w 3699689"/>
              <a:gd name="connsiteY7" fmla="*/ 0 h 477054"/>
              <a:gd name="connsiteX8" fmla="*/ 3699689 w 3699689"/>
              <a:gd name="connsiteY8" fmla="*/ 477054 h 477054"/>
              <a:gd name="connsiteX9" fmla="*/ 3134165 w 3699689"/>
              <a:gd name="connsiteY9" fmla="*/ 477054 h 477054"/>
              <a:gd name="connsiteX10" fmla="*/ 2679632 w 3699689"/>
              <a:gd name="connsiteY10" fmla="*/ 477054 h 477054"/>
              <a:gd name="connsiteX11" fmla="*/ 2077111 w 3699689"/>
              <a:gd name="connsiteY11" fmla="*/ 477054 h 477054"/>
              <a:gd name="connsiteX12" fmla="*/ 1622578 w 3699689"/>
              <a:gd name="connsiteY12" fmla="*/ 477054 h 477054"/>
              <a:gd name="connsiteX13" fmla="*/ 1020057 w 3699689"/>
              <a:gd name="connsiteY13" fmla="*/ 477054 h 477054"/>
              <a:gd name="connsiteX14" fmla="*/ 0 w 3699689"/>
              <a:gd name="connsiteY14" fmla="*/ 477054 h 477054"/>
              <a:gd name="connsiteX15" fmla="*/ 0 w 3699689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99689" h="477054" extrusionOk="0">
                <a:moveTo>
                  <a:pt x="0" y="0"/>
                </a:moveTo>
                <a:cubicBezTo>
                  <a:pt x="250509" y="-31216"/>
                  <a:pt x="365637" y="54316"/>
                  <a:pt x="602521" y="0"/>
                </a:cubicBezTo>
                <a:cubicBezTo>
                  <a:pt x="839405" y="-54316"/>
                  <a:pt x="933077" y="64152"/>
                  <a:pt x="1205042" y="0"/>
                </a:cubicBezTo>
                <a:cubicBezTo>
                  <a:pt x="1477007" y="-64152"/>
                  <a:pt x="1631121" y="49421"/>
                  <a:pt x="1770565" y="0"/>
                </a:cubicBezTo>
                <a:cubicBezTo>
                  <a:pt x="1910009" y="-49421"/>
                  <a:pt x="2151226" y="60268"/>
                  <a:pt x="2299092" y="0"/>
                </a:cubicBezTo>
                <a:cubicBezTo>
                  <a:pt x="2446958" y="-60268"/>
                  <a:pt x="2610856" y="40165"/>
                  <a:pt x="2753626" y="0"/>
                </a:cubicBezTo>
                <a:cubicBezTo>
                  <a:pt x="2896396" y="-40165"/>
                  <a:pt x="3050425" y="26602"/>
                  <a:pt x="3208159" y="0"/>
                </a:cubicBezTo>
                <a:cubicBezTo>
                  <a:pt x="3365893" y="-26602"/>
                  <a:pt x="3544871" y="54561"/>
                  <a:pt x="3699689" y="0"/>
                </a:cubicBezTo>
                <a:cubicBezTo>
                  <a:pt x="3718375" y="178763"/>
                  <a:pt x="3658015" y="238531"/>
                  <a:pt x="3699689" y="477054"/>
                </a:cubicBezTo>
                <a:cubicBezTo>
                  <a:pt x="3510487" y="488519"/>
                  <a:pt x="3372898" y="411677"/>
                  <a:pt x="3134165" y="477054"/>
                </a:cubicBezTo>
                <a:cubicBezTo>
                  <a:pt x="2895432" y="542431"/>
                  <a:pt x="2865056" y="441206"/>
                  <a:pt x="2679632" y="477054"/>
                </a:cubicBezTo>
                <a:cubicBezTo>
                  <a:pt x="2494208" y="512902"/>
                  <a:pt x="2361206" y="440158"/>
                  <a:pt x="2077111" y="477054"/>
                </a:cubicBezTo>
                <a:cubicBezTo>
                  <a:pt x="1793016" y="513950"/>
                  <a:pt x="1837602" y="469097"/>
                  <a:pt x="1622578" y="477054"/>
                </a:cubicBezTo>
                <a:cubicBezTo>
                  <a:pt x="1407554" y="485011"/>
                  <a:pt x="1305594" y="411582"/>
                  <a:pt x="1020057" y="477054"/>
                </a:cubicBezTo>
                <a:cubicBezTo>
                  <a:pt x="734520" y="542526"/>
                  <a:pt x="378626" y="412556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Eigenvalues</a:t>
            </a:r>
            <a:r>
              <a:rPr lang="en-PH" sz="2500" dirty="0"/>
              <a:t> (magnitude)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49AEA3-BFC0-8747-4E4C-D5E34A284CAF}"/>
              </a:ext>
            </a:extLst>
          </p:cNvPr>
          <p:cNvSpPr txBox="1"/>
          <p:nvPr/>
        </p:nvSpPr>
        <p:spPr>
          <a:xfrm>
            <a:off x="1591733" y="5257497"/>
            <a:ext cx="9453866" cy="1246495"/>
          </a:xfrm>
          <a:custGeom>
            <a:avLst/>
            <a:gdLst>
              <a:gd name="connsiteX0" fmla="*/ 0 w 9453866"/>
              <a:gd name="connsiteY0" fmla="*/ 0 h 1246495"/>
              <a:gd name="connsiteX1" fmla="*/ 779944 w 9453866"/>
              <a:gd name="connsiteY1" fmla="*/ 0 h 1246495"/>
              <a:gd name="connsiteX2" fmla="*/ 1559888 w 9453866"/>
              <a:gd name="connsiteY2" fmla="*/ 0 h 1246495"/>
              <a:gd name="connsiteX3" fmla="*/ 2245293 w 9453866"/>
              <a:gd name="connsiteY3" fmla="*/ 0 h 1246495"/>
              <a:gd name="connsiteX4" fmla="*/ 2836160 w 9453866"/>
              <a:gd name="connsiteY4" fmla="*/ 0 h 1246495"/>
              <a:gd name="connsiteX5" fmla="*/ 3237949 w 9453866"/>
              <a:gd name="connsiteY5" fmla="*/ 0 h 1246495"/>
              <a:gd name="connsiteX6" fmla="*/ 3639738 w 9453866"/>
              <a:gd name="connsiteY6" fmla="*/ 0 h 1246495"/>
              <a:gd name="connsiteX7" fmla="*/ 4041528 w 9453866"/>
              <a:gd name="connsiteY7" fmla="*/ 0 h 1246495"/>
              <a:gd name="connsiteX8" fmla="*/ 4821472 w 9453866"/>
              <a:gd name="connsiteY8" fmla="*/ 0 h 1246495"/>
              <a:gd name="connsiteX9" fmla="*/ 5601416 w 9453866"/>
              <a:gd name="connsiteY9" fmla="*/ 0 h 1246495"/>
              <a:gd name="connsiteX10" fmla="*/ 6003205 w 9453866"/>
              <a:gd name="connsiteY10" fmla="*/ 0 h 1246495"/>
              <a:gd name="connsiteX11" fmla="*/ 6499533 w 9453866"/>
              <a:gd name="connsiteY11" fmla="*/ 0 h 1246495"/>
              <a:gd name="connsiteX12" fmla="*/ 7184938 w 9453866"/>
              <a:gd name="connsiteY12" fmla="*/ 0 h 1246495"/>
              <a:gd name="connsiteX13" fmla="*/ 7775805 w 9453866"/>
              <a:gd name="connsiteY13" fmla="*/ 0 h 1246495"/>
              <a:gd name="connsiteX14" fmla="*/ 8177594 w 9453866"/>
              <a:gd name="connsiteY14" fmla="*/ 0 h 1246495"/>
              <a:gd name="connsiteX15" fmla="*/ 8768461 w 9453866"/>
              <a:gd name="connsiteY15" fmla="*/ 0 h 1246495"/>
              <a:gd name="connsiteX16" fmla="*/ 9453866 w 9453866"/>
              <a:gd name="connsiteY16" fmla="*/ 0 h 1246495"/>
              <a:gd name="connsiteX17" fmla="*/ 9453866 w 9453866"/>
              <a:gd name="connsiteY17" fmla="*/ 390568 h 1246495"/>
              <a:gd name="connsiteX18" fmla="*/ 9453866 w 9453866"/>
              <a:gd name="connsiteY18" fmla="*/ 830997 h 1246495"/>
              <a:gd name="connsiteX19" fmla="*/ 9453866 w 9453866"/>
              <a:gd name="connsiteY19" fmla="*/ 1246495 h 1246495"/>
              <a:gd name="connsiteX20" fmla="*/ 8862999 w 9453866"/>
              <a:gd name="connsiteY20" fmla="*/ 1246495 h 1246495"/>
              <a:gd name="connsiteX21" fmla="*/ 8177594 w 9453866"/>
              <a:gd name="connsiteY21" fmla="*/ 1246495 h 1246495"/>
              <a:gd name="connsiteX22" fmla="*/ 7397650 w 9453866"/>
              <a:gd name="connsiteY22" fmla="*/ 1246495 h 1246495"/>
              <a:gd name="connsiteX23" fmla="*/ 6806784 w 9453866"/>
              <a:gd name="connsiteY23" fmla="*/ 1246495 h 1246495"/>
              <a:gd name="connsiteX24" fmla="*/ 6499533 w 9453866"/>
              <a:gd name="connsiteY24" fmla="*/ 1246495 h 1246495"/>
              <a:gd name="connsiteX25" fmla="*/ 6192282 w 9453866"/>
              <a:gd name="connsiteY25" fmla="*/ 1246495 h 1246495"/>
              <a:gd name="connsiteX26" fmla="*/ 5412338 w 9453866"/>
              <a:gd name="connsiteY26" fmla="*/ 1246495 h 1246495"/>
              <a:gd name="connsiteX27" fmla="*/ 4916010 w 9453866"/>
              <a:gd name="connsiteY27" fmla="*/ 1246495 h 1246495"/>
              <a:gd name="connsiteX28" fmla="*/ 4325144 w 9453866"/>
              <a:gd name="connsiteY28" fmla="*/ 1246495 h 1246495"/>
              <a:gd name="connsiteX29" fmla="*/ 3923354 w 9453866"/>
              <a:gd name="connsiteY29" fmla="*/ 1246495 h 1246495"/>
              <a:gd name="connsiteX30" fmla="*/ 3616104 w 9453866"/>
              <a:gd name="connsiteY30" fmla="*/ 1246495 h 1246495"/>
              <a:gd name="connsiteX31" fmla="*/ 3214314 w 9453866"/>
              <a:gd name="connsiteY31" fmla="*/ 1246495 h 1246495"/>
              <a:gd name="connsiteX32" fmla="*/ 2623448 w 9453866"/>
              <a:gd name="connsiteY32" fmla="*/ 1246495 h 1246495"/>
              <a:gd name="connsiteX33" fmla="*/ 2221659 w 9453866"/>
              <a:gd name="connsiteY33" fmla="*/ 1246495 h 1246495"/>
              <a:gd name="connsiteX34" fmla="*/ 1441715 w 9453866"/>
              <a:gd name="connsiteY34" fmla="*/ 1246495 h 1246495"/>
              <a:gd name="connsiteX35" fmla="*/ 850848 w 9453866"/>
              <a:gd name="connsiteY35" fmla="*/ 1246495 h 1246495"/>
              <a:gd name="connsiteX36" fmla="*/ 0 w 9453866"/>
              <a:gd name="connsiteY36" fmla="*/ 1246495 h 1246495"/>
              <a:gd name="connsiteX37" fmla="*/ 0 w 9453866"/>
              <a:gd name="connsiteY37" fmla="*/ 818532 h 1246495"/>
              <a:gd name="connsiteX38" fmla="*/ 0 w 9453866"/>
              <a:gd name="connsiteY38" fmla="*/ 440428 h 1246495"/>
              <a:gd name="connsiteX39" fmla="*/ 0 w 9453866"/>
              <a:gd name="connsiteY39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9453866" h="1246495" extrusionOk="0">
                <a:moveTo>
                  <a:pt x="0" y="0"/>
                </a:moveTo>
                <a:cubicBezTo>
                  <a:pt x="230369" y="-78363"/>
                  <a:pt x="515568" y="46420"/>
                  <a:pt x="779944" y="0"/>
                </a:cubicBezTo>
                <a:cubicBezTo>
                  <a:pt x="1044320" y="-46420"/>
                  <a:pt x="1322251" y="54764"/>
                  <a:pt x="1559888" y="0"/>
                </a:cubicBezTo>
                <a:cubicBezTo>
                  <a:pt x="1797525" y="-54764"/>
                  <a:pt x="2102441" y="37039"/>
                  <a:pt x="2245293" y="0"/>
                </a:cubicBezTo>
                <a:cubicBezTo>
                  <a:pt x="2388146" y="-37039"/>
                  <a:pt x="2577492" y="15919"/>
                  <a:pt x="2836160" y="0"/>
                </a:cubicBezTo>
                <a:cubicBezTo>
                  <a:pt x="3094828" y="-15919"/>
                  <a:pt x="3061481" y="41420"/>
                  <a:pt x="3237949" y="0"/>
                </a:cubicBezTo>
                <a:cubicBezTo>
                  <a:pt x="3414417" y="-41420"/>
                  <a:pt x="3451303" y="37307"/>
                  <a:pt x="3639738" y="0"/>
                </a:cubicBezTo>
                <a:cubicBezTo>
                  <a:pt x="3828173" y="-37307"/>
                  <a:pt x="3871976" y="47087"/>
                  <a:pt x="4041528" y="0"/>
                </a:cubicBezTo>
                <a:cubicBezTo>
                  <a:pt x="4211080" y="-47087"/>
                  <a:pt x="4588827" y="77129"/>
                  <a:pt x="4821472" y="0"/>
                </a:cubicBezTo>
                <a:cubicBezTo>
                  <a:pt x="5054117" y="-77129"/>
                  <a:pt x="5436176" y="72350"/>
                  <a:pt x="5601416" y="0"/>
                </a:cubicBezTo>
                <a:cubicBezTo>
                  <a:pt x="5766656" y="-72350"/>
                  <a:pt x="5904315" y="1122"/>
                  <a:pt x="6003205" y="0"/>
                </a:cubicBezTo>
                <a:cubicBezTo>
                  <a:pt x="6102095" y="-1122"/>
                  <a:pt x="6311848" y="8605"/>
                  <a:pt x="6499533" y="0"/>
                </a:cubicBezTo>
                <a:cubicBezTo>
                  <a:pt x="6687218" y="-8605"/>
                  <a:pt x="6889778" y="13481"/>
                  <a:pt x="7184938" y="0"/>
                </a:cubicBezTo>
                <a:cubicBezTo>
                  <a:pt x="7480098" y="-13481"/>
                  <a:pt x="7585515" y="24404"/>
                  <a:pt x="7775805" y="0"/>
                </a:cubicBezTo>
                <a:cubicBezTo>
                  <a:pt x="7966095" y="-24404"/>
                  <a:pt x="8082801" y="9714"/>
                  <a:pt x="8177594" y="0"/>
                </a:cubicBezTo>
                <a:cubicBezTo>
                  <a:pt x="8272387" y="-9714"/>
                  <a:pt x="8565879" y="17068"/>
                  <a:pt x="8768461" y="0"/>
                </a:cubicBezTo>
                <a:cubicBezTo>
                  <a:pt x="8971043" y="-17068"/>
                  <a:pt x="9219907" y="49311"/>
                  <a:pt x="9453866" y="0"/>
                </a:cubicBezTo>
                <a:cubicBezTo>
                  <a:pt x="9495206" y="172515"/>
                  <a:pt x="9427453" y="306120"/>
                  <a:pt x="9453866" y="390568"/>
                </a:cubicBezTo>
                <a:cubicBezTo>
                  <a:pt x="9480279" y="475016"/>
                  <a:pt x="9444690" y="690656"/>
                  <a:pt x="9453866" y="830997"/>
                </a:cubicBezTo>
                <a:cubicBezTo>
                  <a:pt x="9463042" y="971338"/>
                  <a:pt x="9432137" y="1067943"/>
                  <a:pt x="9453866" y="1246495"/>
                </a:cubicBezTo>
                <a:cubicBezTo>
                  <a:pt x="9187496" y="1301661"/>
                  <a:pt x="8991305" y="1227055"/>
                  <a:pt x="8862999" y="1246495"/>
                </a:cubicBezTo>
                <a:cubicBezTo>
                  <a:pt x="8734693" y="1265935"/>
                  <a:pt x="8372777" y="1178563"/>
                  <a:pt x="8177594" y="1246495"/>
                </a:cubicBezTo>
                <a:cubicBezTo>
                  <a:pt x="7982411" y="1314427"/>
                  <a:pt x="7744246" y="1163448"/>
                  <a:pt x="7397650" y="1246495"/>
                </a:cubicBezTo>
                <a:cubicBezTo>
                  <a:pt x="7051054" y="1329542"/>
                  <a:pt x="6932972" y="1187133"/>
                  <a:pt x="6806784" y="1246495"/>
                </a:cubicBezTo>
                <a:cubicBezTo>
                  <a:pt x="6680596" y="1305857"/>
                  <a:pt x="6628059" y="1242494"/>
                  <a:pt x="6499533" y="1246495"/>
                </a:cubicBezTo>
                <a:cubicBezTo>
                  <a:pt x="6371007" y="1250496"/>
                  <a:pt x="6293060" y="1220724"/>
                  <a:pt x="6192282" y="1246495"/>
                </a:cubicBezTo>
                <a:cubicBezTo>
                  <a:pt x="6091504" y="1272266"/>
                  <a:pt x="5682803" y="1182953"/>
                  <a:pt x="5412338" y="1246495"/>
                </a:cubicBezTo>
                <a:cubicBezTo>
                  <a:pt x="5141873" y="1310037"/>
                  <a:pt x="5107048" y="1233144"/>
                  <a:pt x="4916010" y="1246495"/>
                </a:cubicBezTo>
                <a:cubicBezTo>
                  <a:pt x="4724972" y="1259846"/>
                  <a:pt x="4564756" y="1236959"/>
                  <a:pt x="4325144" y="1246495"/>
                </a:cubicBezTo>
                <a:cubicBezTo>
                  <a:pt x="4085532" y="1256031"/>
                  <a:pt x="4060074" y="1227772"/>
                  <a:pt x="3923354" y="1246495"/>
                </a:cubicBezTo>
                <a:cubicBezTo>
                  <a:pt x="3786634" y="1265218"/>
                  <a:pt x="3740970" y="1228847"/>
                  <a:pt x="3616104" y="1246495"/>
                </a:cubicBezTo>
                <a:cubicBezTo>
                  <a:pt x="3491238" y="1264143"/>
                  <a:pt x="3345190" y="1212460"/>
                  <a:pt x="3214314" y="1246495"/>
                </a:cubicBezTo>
                <a:cubicBezTo>
                  <a:pt x="3083438" y="1280530"/>
                  <a:pt x="2808463" y="1224276"/>
                  <a:pt x="2623448" y="1246495"/>
                </a:cubicBezTo>
                <a:cubicBezTo>
                  <a:pt x="2438433" y="1268714"/>
                  <a:pt x="2346965" y="1235911"/>
                  <a:pt x="2221659" y="1246495"/>
                </a:cubicBezTo>
                <a:cubicBezTo>
                  <a:pt x="2096353" y="1257079"/>
                  <a:pt x="1670739" y="1225764"/>
                  <a:pt x="1441715" y="1246495"/>
                </a:cubicBezTo>
                <a:cubicBezTo>
                  <a:pt x="1212691" y="1267226"/>
                  <a:pt x="1024052" y="1219017"/>
                  <a:pt x="850848" y="1246495"/>
                </a:cubicBezTo>
                <a:cubicBezTo>
                  <a:pt x="677644" y="1273973"/>
                  <a:pt x="330688" y="1177653"/>
                  <a:pt x="0" y="1246495"/>
                </a:cubicBezTo>
                <a:cubicBezTo>
                  <a:pt x="-26410" y="1119178"/>
                  <a:pt x="31456" y="942620"/>
                  <a:pt x="0" y="818532"/>
                </a:cubicBezTo>
                <a:cubicBezTo>
                  <a:pt x="-31456" y="694444"/>
                  <a:pt x="16438" y="618128"/>
                  <a:pt x="0" y="440428"/>
                </a:cubicBezTo>
                <a:cubicBezTo>
                  <a:pt x="-16438" y="262728"/>
                  <a:pt x="39837" y="1310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When we apply </a:t>
            </a:r>
            <a:r>
              <a:rPr lang="en-US" sz="2500" b="1" dirty="0">
                <a:solidFill>
                  <a:srgbClr val="002060"/>
                </a:solidFill>
              </a:rPr>
              <a:t>linear transformation, </a:t>
            </a:r>
            <a:r>
              <a:rPr lang="en-US" sz="2500" dirty="0"/>
              <a:t>we need to know in which </a:t>
            </a:r>
            <a:r>
              <a:rPr lang="en-US" sz="2500" b="1" dirty="0"/>
              <a:t>direction</a:t>
            </a:r>
            <a:r>
              <a:rPr lang="en-US" sz="2500" dirty="0"/>
              <a:t> and how long (</a:t>
            </a:r>
            <a:r>
              <a:rPr lang="en-US" sz="2500" b="1" dirty="0"/>
              <a:t>magnitude) </a:t>
            </a:r>
            <a:r>
              <a:rPr lang="en-US" sz="2500" dirty="0"/>
              <a:t> it gets stretched or compressed</a:t>
            </a:r>
            <a:r>
              <a:rPr lang="en-US" sz="2500" b="1" dirty="0"/>
              <a:t>. 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2753233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988401-C3C9-81D2-7017-633288A0B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0F73D36B-172B-5A33-D38F-F9CFD3FDC9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2939892"/>
              </p:ext>
            </p:extLst>
          </p:nvPr>
        </p:nvGraphicFramePr>
        <p:xfrm>
          <a:off x="3078803" y="790750"/>
          <a:ext cx="6151227" cy="4813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Oval 1">
            <a:extLst>
              <a:ext uri="{FF2B5EF4-FFF2-40B4-BE49-F238E27FC236}">
                <a16:creationId xmlns:a16="http://schemas.microsoft.com/office/drawing/2014/main" id="{B8C0B9C8-F257-4A6D-EDD3-11F31BD86AED}"/>
              </a:ext>
            </a:extLst>
          </p:cNvPr>
          <p:cNvSpPr/>
          <p:nvPr/>
        </p:nvSpPr>
        <p:spPr>
          <a:xfrm>
            <a:off x="5615093" y="2617545"/>
            <a:ext cx="113792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1F2379D-FC46-8B00-03D9-1EA87F4D96F6}"/>
              </a:ext>
            </a:extLst>
          </p:cNvPr>
          <p:cNvCxnSpPr>
            <a:cxnSpLocks/>
          </p:cNvCxnSpPr>
          <p:nvPr/>
        </p:nvCxnSpPr>
        <p:spPr>
          <a:xfrm flipV="1">
            <a:off x="6188533" y="2617545"/>
            <a:ext cx="1153760" cy="43365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3062AB-C162-FFA6-2EF5-5805CC1807C8}"/>
                  </a:ext>
                </a:extLst>
              </p:cNvPr>
              <p:cNvSpPr txBox="1"/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3062AB-C162-FFA6-2EF5-5805CC1807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439F084-4C78-7138-EDF7-2135614992B7}"/>
                  </a:ext>
                </a:extLst>
              </p:cNvPr>
              <p:cNvSpPr txBox="1"/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439F084-4C78-7138-EDF7-213561499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DA532DB-9831-85F3-3E72-60929EF4ED48}"/>
              </a:ext>
            </a:extLst>
          </p:cNvPr>
          <p:cNvSpPr txBox="1"/>
          <p:nvPr/>
        </p:nvSpPr>
        <p:spPr>
          <a:xfrm>
            <a:off x="9709914" y="1079349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7ED4696-AFBB-C438-C825-9CADD4BA1357}"/>
              </a:ext>
            </a:extLst>
          </p:cNvPr>
          <p:cNvCxnSpPr>
            <a:cxnSpLocks/>
          </p:cNvCxnSpPr>
          <p:nvPr/>
        </p:nvCxnSpPr>
        <p:spPr>
          <a:xfrm flipH="1" flipV="1">
            <a:off x="5615093" y="2221653"/>
            <a:ext cx="573440" cy="866987"/>
          </a:xfrm>
          <a:prstGeom prst="straightConnector1">
            <a:avLst/>
          </a:prstGeom>
          <a:ln w="571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802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B841ADA-4444-6B31-84DB-E8E7E9893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8ED9D1D4-0636-9CE2-5D3D-A1B19265DC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7118937"/>
              </p:ext>
            </p:extLst>
          </p:nvPr>
        </p:nvGraphicFramePr>
        <p:xfrm>
          <a:off x="3078803" y="790750"/>
          <a:ext cx="6151227" cy="4813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9B4D138-B70E-EB13-453D-8571AC48784F}"/>
                  </a:ext>
                </a:extLst>
              </p:cNvPr>
              <p:cNvSpPr txBox="1"/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9B4D138-B70E-EB13-453D-8571AC487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E5D008-AE7E-F4D8-4C5A-B344BC1D0031}"/>
                  </a:ext>
                </a:extLst>
              </p:cNvPr>
              <p:cNvSpPr txBox="1"/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E5D008-AE7E-F4D8-4C5A-B344BC1D0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203BCB-F24E-464D-67B1-64A0BD7EF918}"/>
                  </a:ext>
                </a:extLst>
              </p:cNvPr>
              <p:cNvSpPr txBox="1"/>
              <p:nvPr/>
            </p:nvSpPr>
            <p:spPr>
              <a:xfrm>
                <a:off x="9799263" y="4525057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203BCB-F24E-464D-67B1-64A0BD7EF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9263" y="4525057"/>
                <a:ext cx="671659" cy="61555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E42D23-9B0E-AFF9-CEFA-4628E2F1584A}"/>
                  </a:ext>
                </a:extLst>
              </p:cNvPr>
              <p:cNvSpPr txBox="1"/>
              <p:nvPr/>
            </p:nvSpPr>
            <p:spPr>
              <a:xfrm>
                <a:off x="11023573" y="4525056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E42D23-9B0E-AFF9-CEFA-4628E2F15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3573" y="4525056"/>
                <a:ext cx="387927" cy="61555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01211E47-2E2F-8635-2DC3-422BEDC4736E}"/>
              </a:ext>
            </a:extLst>
          </p:cNvPr>
          <p:cNvSpPr txBox="1"/>
          <p:nvPr/>
        </p:nvSpPr>
        <p:spPr>
          <a:xfrm>
            <a:off x="9709914" y="1079349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C417DC-6F6E-5379-B773-69C50BDFB090}"/>
              </a:ext>
            </a:extLst>
          </p:cNvPr>
          <p:cNvSpPr txBox="1"/>
          <p:nvPr/>
        </p:nvSpPr>
        <p:spPr>
          <a:xfrm>
            <a:off x="9709914" y="3498090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5F84BF-DEA4-D78A-8EBB-02215C925C5C}"/>
              </a:ext>
            </a:extLst>
          </p:cNvPr>
          <p:cNvSpPr/>
          <p:nvPr/>
        </p:nvSpPr>
        <p:spPr>
          <a:xfrm rot="20486510">
            <a:off x="3164433" y="2062309"/>
            <a:ext cx="6095459" cy="199083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A8932D4-3787-6B0C-559F-3FE597356073}"/>
              </a:ext>
            </a:extLst>
          </p:cNvPr>
          <p:cNvCxnSpPr>
            <a:cxnSpLocks/>
          </p:cNvCxnSpPr>
          <p:nvPr/>
        </p:nvCxnSpPr>
        <p:spPr>
          <a:xfrm flipV="1">
            <a:off x="3305387" y="1963265"/>
            <a:ext cx="5777653" cy="217159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D6B8488-80D2-F9F1-EEB4-7C0DF00DF26A}"/>
              </a:ext>
            </a:extLst>
          </p:cNvPr>
          <p:cNvCxnSpPr>
            <a:cxnSpLocks/>
          </p:cNvCxnSpPr>
          <p:nvPr/>
        </p:nvCxnSpPr>
        <p:spPr>
          <a:xfrm flipH="1" flipV="1">
            <a:off x="5615093" y="2221653"/>
            <a:ext cx="1137920" cy="1720427"/>
          </a:xfrm>
          <a:prstGeom prst="straightConnector1">
            <a:avLst/>
          </a:prstGeom>
          <a:ln w="571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949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43303-A6A4-D404-0CAC-299D94583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9385D32-C1B7-C435-5A23-DF995E48E660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Projecting Data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PCA Concepts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Mean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Covariance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Covariance Matrix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Linear Transformation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Eigenvalues and Eigenvectors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How PCA Works?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769742-55AF-B2CB-5E5D-714F45E33456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7338515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3929B9-136E-C39E-5B57-BA2FAADE8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5D4AC-A51D-21AC-C1C7-1ED2C67EE479}"/>
                  </a:ext>
                </a:extLst>
              </p:cNvPr>
              <p:cNvSpPr txBox="1"/>
              <p:nvPr/>
            </p:nvSpPr>
            <p:spPr>
              <a:xfrm>
                <a:off x="4011990" y="1699041"/>
                <a:ext cx="4168020" cy="123110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8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8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8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5D4AC-A51D-21AC-C1C7-1ED2C67EE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1990" y="1699041"/>
                <a:ext cx="4168020" cy="12311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53BEA-CE6C-04B3-4B75-274C7AB03B95}"/>
                  </a:ext>
                </a:extLst>
              </p:cNvPr>
              <p:cNvSpPr txBox="1"/>
              <p:nvPr/>
            </p:nvSpPr>
            <p:spPr>
              <a:xfrm>
                <a:off x="1628556" y="3429000"/>
                <a:ext cx="9184756" cy="313932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sz="5000" b="0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GB" sz="5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a covariance matrix</a:t>
                </a:r>
              </a:p>
              <a:p>
                <a14:m>
                  <m:oMath xmlns:m="http://schemas.openxmlformats.org/officeDocument/2006/math">
                    <m:r>
                      <a:rPr lang="en-GB" sz="5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the eigenvector</a:t>
                </a:r>
              </a:p>
              <a:p>
                <a14:m>
                  <m:oMath xmlns:m="http://schemas.openxmlformats.org/officeDocument/2006/math">
                    <m:r>
                      <a:rPr lang="el-GR" sz="5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the eigenvalue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53BEA-CE6C-04B3-4B75-274C7AB03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8556" y="3429000"/>
                <a:ext cx="9184756" cy="3139321"/>
              </a:xfrm>
              <a:prstGeom prst="rect">
                <a:avLst/>
              </a:prstGeom>
              <a:blipFill>
                <a:blip r:embed="rId3"/>
                <a:stretch>
                  <a:fillRect l="-4180" t="-6226" b="-1089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6406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1113D4-AF26-719E-4EA3-0D0F3AFA6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0F2249-A026-3B1A-68F1-15311975A413}"/>
                  </a:ext>
                </a:extLst>
              </p:cNvPr>
              <p:cNvSpPr txBox="1"/>
              <p:nvPr/>
            </p:nvSpPr>
            <p:spPr>
              <a:xfrm>
                <a:off x="4645333" y="913751"/>
                <a:ext cx="2672431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0F2249-A026-3B1A-68F1-15311975A4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333" y="913751"/>
                <a:ext cx="2672431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7A32F6F-FFF1-BAD5-B5E3-54C35431805B}"/>
                  </a:ext>
                </a:extLst>
              </p:cNvPr>
              <p:cNvSpPr txBox="1"/>
              <p:nvPr/>
            </p:nvSpPr>
            <p:spPr>
              <a:xfrm>
                <a:off x="4299197" y="1957471"/>
                <a:ext cx="3593605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7A32F6F-FFF1-BAD5-B5E3-54C354318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9197" y="1957471"/>
                <a:ext cx="3593605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9A0A97-0CAD-FA18-7B54-347B995974F4}"/>
                  </a:ext>
                </a:extLst>
              </p:cNvPr>
              <p:cNvSpPr txBox="1"/>
              <p:nvPr/>
            </p:nvSpPr>
            <p:spPr>
              <a:xfrm>
                <a:off x="4182791" y="4030523"/>
                <a:ext cx="3826414" cy="769441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9A0A97-0CAD-FA18-7B54-347B99597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2791" y="4030523"/>
                <a:ext cx="3826414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89660-4885-2284-1779-341DD7408F52}"/>
                  </a:ext>
                </a:extLst>
              </p:cNvPr>
              <p:cNvSpPr txBox="1"/>
              <p:nvPr/>
            </p:nvSpPr>
            <p:spPr>
              <a:xfrm>
                <a:off x="4237825" y="3008811"/>
                <a:ext cx="3716347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89660-4885-2284-1779-341DD7408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825" y="3008811"/>
                <a:ext cx="3716347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570B47-10C0-D5FC-CE39-D5B04623939A}"/>
                  </a:ext>
                </a:extLst>
              </p:cNvPr>
              <p:cNvSpPr txBox="1"/>
              <p:nvPr/>
            </p:nvSpPr>
            <p:spPr>
              <a:xfrm>
                <a:off x="3820124" y="5081863"/>
                <a:ext cx="4551748" cy="769441"/>
              </a:xfrm>
              <a:prstGeom prst="rect">
                <a:avLst/>
              </a:prstGeom>
              <a:noFill/>
              <a:ln w="38100">
                <a:solidFill>
                  <a:srgbClr val="7030A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570B47-10C0-D5FC-CE39-D5B046239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0124" y="5081863"/>
                <a:ext cx="4551748" cy="76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phic 7" descr="Badge 1 with solid fill">
            <a:extLst>
              <a:ext uri="{FF2B5EF4-FFF2-40B4-BE49-F238E27FC236}">
                <a16:creationId xmlns:a16="http://schemas.microsoft.com/office/drawing/2014/main" id="{7EE015F2-B549-78F5-8E2E-6C6B5506BE5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04939" y="4201980"/>
            <a:ext cx="446277" cy="446277"/>
          </a:xfrm>
          <a:prstGeom prst="rect">
            <a:avLst/>
          </a:prstGeom>
        </p:spPr>
      </p:pic>
      <p:pic>
        <p:nvPicPr>
          <p:cNvPr id="9" name="Graphic 8" descr="Badge with solid fill">
            <a:extLst>
              <a:ext uri="{FF2B5EF4-FFF2-40B4-BE49-F238E27FC236}">
                <a16:creationId xmlns:a16="http://schemas.microsoft.com/office/drawing/2014/main" id="{D97B720F-7FFD-B8C2-870E-C2C212A72F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704939" y="5243444"/>
            <a:ext cx="446277" cy="44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29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DE767A-92CC-99E3-C0EC-61F79974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3787A0-835B-382A-21F9-A8CC52FA425A}"/>
                  </a:ext>
                </a:extLst>
              </p:cNvPr>
              <p:cNvSpPr txBox="1"/>
              <p:nvPr/>
            </p:nvSpPr>
            <p:spPr>
              <a:xfrm>
                <a:off x="535171" y="1709445"/>
                <a:ext cx="3410727" cy="67531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3787A0-835B-382A-21F9-A8CC52FA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1" y="1709445"/>
                <a:ext cx="3410727" cy="6753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4A5108-4F58-D924-BE73-86D62BC105DA}"/>
                  </a:ext>
                </a:extLst>
              </p:cNvPr>
              <p:cNvSpPr txBox="1"/>
              <p:nvPr/>
            </p:nvSpPr>
            <p:spPr>
              <a:xfrm>
                <a:off x="570809" y="2720126"/>
                <a:ext cx="2678183" cy="67531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l-GR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l-GR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4A5108-4F58-D924-BE73-86D62BC1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809" y="2720126"/>
                <a:ext cx="2678183" cy="6753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C23F34-0EB0-F77E-8C8A-F90B7CED12C7}"/>
                  </a:ext>
                </a:extLst>
              </p:cNvPr>
              <p:cNvSpPr txBox="1"/>
              <p:nvPr/>
            </p:nvSpPr>
            <p:spPr>
              <a:xfrm>
                <a:off x="535170" y="3821331"/>
                <a:ext cx="3957675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C23F34-0EB0-F77E-8C8A-F90B7CED12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3821331"/>
                <a:ext cx="3957675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3ED6F8-E0AE-5983-C3DF-8047C4946AF8}"/>
                  </a:ext>
                </a:extLst>
              </p:cNvPr>
              <p:cNvSpPr txBox="1"/>
              <p:nvPr/>
            </p:nvSpPr>
            <p:spPr>
              <a:xfrm>
                <a:off x="535170" y="4556809"/>
                <a:ext cx="4193048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27−9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−3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3ED6F8-E0AE-5983-C3DF-8047C4946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4556809"/>
                <a:ext cx="419304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691762-AB77-5717-84FF-9F07648471CA}"/>
                  </a:ext>
                </a:extLst>
              </p:cNvPr>
              <p:cNvSpPr txBox="1"/>
              <p:nvPr/>
            </p:nvSpPr>
            <p:spPr>
              <a:xfrm>
                <a:off x="535170" y="5292287"/>
                <a:ext cx="2749462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a:rPr lang="el-GR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11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691762-AB77-5717-84FF-9F0764847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5292287"/>
                <a:ext cx="274946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810DD8-CEFB-6332-E59E-B3DE5F7EB6C0}"/>
                  </a:ext>
                </a:extLst>
              </p:cNvPr>
              <p:cNvSpPr txBox="1"/>
              <p:nvPr/>
            </p:nvSpPr>
            <p:spPr>
              <a:xfrm>
                <a:off x="535170" y="5943316"/>
                <a:ext cx="2894675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l-GR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−11)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810DD8-CEFB-6332-E59E-B3DE5F7EB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5943316"/>
                <a:ext cx="2894675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7A1B7E-C80B-F2B6-B1E9-63B71A4071EC}"/>
                  </a:ext>
                </a:extLst>
              </p:cNvPr>
              <p:cNvSpPr txBox="1"/>
              <p:nvPr/>
            </p:nvSpPr>
            <p:spPr>
              <a:xfrm>
                <a:off x="8215615" y="4632685"/>
                <a:ext cx="2384649" cy="76944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7A1B7E-C80B-F2B6-B1E9-63B71A407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615" y="4632685"/>
                <a:ext cx="2384649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83FE4C-7352-C1A6-C220-34641B9FF01B}"/>
                  </a:ext>
                </a:extLst>
              </p:cNvPr>
              <p:cNvSpPr txBox="1"/>
              <p:nvPr/>
            </p:nvSpPr>
            <p:spPr>
              <a:xfrm>
                <a:off x="8215616" y="5655193"/>
                <a:ext cx="2384649" cy="76944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83FE4C-7352-C1A6-C220-34641B9FF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616" y="5655193"/>
                <a:ext cx="2384649" cy="76944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8B437D3-488B-53C2-2E98-E7ABDE9A8F4C}"/>
                  </a:ext>
                </a:extLst>
              </p:cNvPr>
              <p:cNvSpPr txBox="1"/>
              <p:nvPr/>
            </p:nvSpPr>
            <p:spPr>
              <a:xfrm>
                <a:off x="535170" y="835565"/>
                <a:ext cx="3571163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8B437D3-488B-53C2-2E98-E7ABDE9A8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835565"/>
                <a:ext cx="3571163" cy="66717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2226EF-D9D5-48E0-2421-7495FB436C42}"/>
                  </a:ext>
                </a:extLst>
              </p:cNvPr>
              <p:cNvSpPr txBox="1"/>
              <p:nvPr/>
            </p:nvSpPr>
            <p:spPr>
              <a:xfrm>
                <a:off x="9911080" y="1970876"/>
                <a:ext cx="1172979" cy="523220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2226EF-D9D5-48E0-2421-7495FB436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1970876"/>
                <a:ext cx="117297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3C44D4ED-B40E-D48E-8B6A-F2D14FE69568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3429845" y="5017406"/>
            <a:ext cx="4785770" cy="1125965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E05C84A0-A120-68AB-00BD-BE6B02FE82D3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 flipV="1">
            <a:off x="3429845" y="6039914"/>
            <a:ext cx="4785771" cy="10345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17C4F1-2F59-6C34-24B3-7E4547161D02}"/>
                  </a:ext>
                </a:extLst>
              </p:cNvPr>
              <p:cNvSpPr txBox="1"/>
              <p:nvPr/>
            </p:nvSpPr>
            <p:spPr>
              <a:xfrm>
                <a:off x="539382" y="164903"/>
                <a:ext cx="3064933" cy="46166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17C4F1-2F59-6C34-24B3-7E4547161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82" y="164903"/>
                <a:ext cx="3064933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ADB0BC-E070-9B73-8B12-05F80DD1CCE5}"/>
                  </a:ext>
                </a:extLst>
              </p:cNvPr>
              <p:cNvSpPr txBox="1"/>
              <p:nvPr/>
            </p:nvSpPr>
            <p:spPr>
              <a:xfrm>
                <a:off x="9911080" y="164903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ADB0BC-E070-9B73-8B12-05F80DD1C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164903"/>
                <a:ext cx="2192867" cy="71846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Graphic 32" descr="Badge with solid fill">
            <a:extLst>
              <a:ext uri="{FF2B5EF4-FFF2-40B4-BE49-F238E27FC236}">
                <a16:creationId xmlns:a16="http://schemas.microsoft.com/office/drawing/2014/main" id="{2565B6DC-DA40-964D-EAE7-26D806175F9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883194" y="180291"/>
            <a:ext cx="446277" cy="446277"/>
          </a:xfrm>
          <a:prstGeom prst="rect">
            <a:avLst/>
          </a:prstGeom>
        </p:spPr>
      </p:pic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7E85764C-5F86-26E0-8325-1DCEA590FB1D}"/>
              </a:ext>
            </a:extLst>
          </p:cNvPr>
          <p:cNvCxnSpPr>
            <a:cxnSpLocks/>
            <a:stCxn id="30" idx="1"/>
            <a:endCxn id="14" idx="3"/>
          </p:cNvCxnSpPr>
          <p:nvPr/>
        </p:nvCxnSpPr>
        <p:spPr>
          <a:xfrm rot="10800000" flipV="1">
            <a:off x="4106334" y="524136"/>
            <a:ext cx="5804747" cy="645014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5A6EDDA-F0F2-EC3B-6B39-34200494C9DD}"/>
                  </a:ext>
                </a:extLst>
              </p:cNvPr>
              <p:cNvSpPr txBox="1"/>
              <p:nvPr/>
            </p:nvSpPr>
            <p:spPr>
              <a:xfrm>
                <a:off x="9911080" y="995943"/>
                <a:ext cx="1532466" cy="809773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5A6EDDA-F0F2-EC3B-6B39-34200494C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995943"/>
                <a:ext cx="1532466" cy="80977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324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/>
      <p:bldP spid="3" grpId="0"/>
      <p:bldP spid="9" grpId="0"/>
      <p:bldP spid="10" grpId="0" animBg="1"/>
      <p:bldP spid="13" grpId="0" animBg="1"/>
      <p:bldP spid="1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F25184-5053-4E65-5C2E-CBCBC7506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1853CD-E691-628E-7510-23FFC1AAE039}"/>
                  </a:ext>
                </a:extLst>
              </p:cNvPr>
              <p:cNvSpPr txBox="1"/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1853CD-E691-628E-7510-23FFC1AAE0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DDF1924-B03E-BBC8-2B38-3B95F2EB7EA5}"/>
                  </a:ext>
                </a:extLst>
              </p:cNvPr>
              <p:cNvSpPr txBox="1"/>
              <p:nvPr/>
            </p:nvSpPr>
            <p:spPr>
              <a:xfrm>
                <a:off x="141296" y="1347672"/>
                <a:ext cx="4357724" cy="6905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DDF1924-B03E-BBC8-2B38-3B95F2EB7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1347672"/>
                <a:ext cx="4357724" cy="690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300969-8105-8165-C99B-CECFD8C93A79}"/>
                  </a:ext>
                </a:extLst>
              </p:cNvPr>
              <p:cNvSpPr txBox="1"/>
              <p:nvPr/>
            </p:nvSpPr>
            <p:spPr>
              <a:xfrm>
                <a:off x="141296" y="2234241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300969-8105-8165-C99B-CECFD8C93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2234241"/>
                <a:ext cx="4126162" cy="7017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D82459-A548-1571-EF57-74E138B0E4B2}"/>
                  </a:ext>
                </a:extLst>
              </p:cNvPr>
              <p:cNvSpPr txBox="1"/>
              <p:nvPr/>
            </p:nvSpPr>
            <p:spPr>
              <a:xfrm>
                <a:off x="141296" y="3865543"/>
                <a:ext cx="328152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D82459-A548-1571-EF57-74E138B0E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3865543"/>
                <a:ext cx="3281522" cy="7017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F40C2D-7061-06A7-AFB9-F9BC99ABC2E6}"/>
                  </a:ext>
                </a:extLst>
              </p:cNvPr>
              <p:cNvSpPr txBox="1"/>
              <p:nvPr/>
            </p:nvSpPr>
            <p:spPr>
              <a:xfrm>
                <a:off x="9883746" y="1951552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F40C2D-7061-06A7-AFB9-F9BC99ABC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951552"/>
                <a:ext cx="153246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37DDDD-2B6C-AD4A-2415-10EB580EF3EA}"/>
                  </a:ext>
                </a:extLst>
              </p:cNvPr>
              <p:cNvSpPr txBox="1"/>
              <p:nvPr/>
            </p:nvSpPr>
            <p:spPr>
              <a:xfrm>
                <a:off x="141296" y="3061562"/>
                <a:ext cx="4456103" cy="67839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37DDDD-2B6C-AD4A-2415-10EB580EF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3061562"/>
                <a:ext cx="4456103" cy="67839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9FDE3D7-A5F7-C08F-688F-48011E764EE5}"/>
                  </a:ext>
                </a:extLst>
              </p:cNvPr>
              <p:cNvSpPr txBox="1"/>
              <p:nvPr/>
            </p:nvSpPr>
            <p:spPr>
              <a:xfrm>
                <a:off x="136083" y="4692864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9FDE3D7-A5F7-C08F-688F-48011E764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3" y="4692864"/>
                <a:ext cx="2184075" cy="390876"/>
              </a:xfrm>
              <a:prstGeom prst="rect">
                <a:avLst/>
              </a:prstGeom>
              <a:blipFill>
                <a:blip r:embed="rId8"/>
                <a:stretch>
                  <a:fillRect l="-1114" r="-3343"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CB7C58-A0AD-BA70-BC83-351428994141}"/>
                  </a:ext>
                </a:extLst>
              </p:cNvPr>
              <p:cNvSpPr txBox="1"/>
              <p:nvPr/>
            </p:nvSpPr>
            <p:spPr>
              <a:xfrm>
                <a:off x="136082" y="5209330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−8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CB7C58-A0AD-BA70-BC83-351428994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2" y="5209330"/>
                <a:ext cx="2184075" cy="390876"/>
              </a:xfrm>
              <a:prstGeom prst="rect">
                <a:avLst/>
              </a:prstGeom>
              <a:blipFill>
                <a:blip r:embed="rId9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7C43DF-F42B-DFD6-73F8-4A9650DAE89D}"/>
                  </a:ext>
                </a:extLst>
              </p:cNvPr>
              <p:cNvSpPr txBox="1"/>
              <p:nvPr/>
            </p:nvSpPr>
            <p:spPr>
              <a:xfrm>
                <a:off x="9857836" y="161487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7C43DF-F42B-DFD6-73F8-4A9650DAE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7836" y="161487"/>
                <a:ext cx="2192867" cy="7184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DF6F1DD-DEE1-9D4B-3F57-5A52E7D69CE8}"/>
                  </a:ext>
                </a:extLst>
              </p:cNvPr>
              <p:cNvSpPr txBox="1"/>
              <p:nvPr/>
            </p:nvSpPr>
            <p:spPr>
              <a:xfrm>
                <a:off x="9883746" y="1003270"/>
                <a:ext cx="1532466" cy="809773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DF6F1DD-DEE1-9D4B-3F57-5A52E7D69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003270"/>
                <a:ext cx="1532466" cy="80977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6532A7-F68B-83D2-1924-F904EA3B175F}"/>
                  </a:ext>
                </a:extLst>
              </p:cNvPr>
              <p:cNvSpPr txBox="1"/>
              <p:nvPr/>
            </p:nvSpPr>
            <p:spPr>
              <a:xfrm>
                <a:off x="9883746" y="2652902"/>
                <a:ext cx="1383848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6532A7-F68B-83D2-1924-F904EA3B1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2652902"/>
                <a:ext cx="1383848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91CB47B8-2AB8-5A17-A8C3-CF620B02AD2E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rot="10800000" flipV="1">
            <a:off x="4597400" y="2166996"/>
            <a:ext cx="5286347" cy="1233762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2F8EB084-9A33-3F8F-E32D-4CB6B29AEBDF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4499020" y="520719"/>
            <a:ext cx="5358816" cy="117220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D6300-356D-9A1E-A02A-FC436AE44AB1}"/>
                  </a:ext>
                </a:extLst>
              </p:cNvPr>
              <p:cNvSpPr txBox="1"/>
              <p:nvPr/>
            </p:nvSpPr>
            <p:spPr>
              <a:xfrm>
                <a:off x="3741131" y="4692864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D6300-356D-9A1E-A02A-FC436AE44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131" y="4692864"/>
                <a:ext cx="1390545" cy="369332"/>
              </a:xfrm>
              <a:prstGeom prst="rect">
                <a:avLst/>
              </a:prstGeom>
              <a:blipFill>
                <a:blip r:embed="rId13"/>
                <a:stretch>
                  <a:fillRect l="-5702" r="-2632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63B740C-DF9E-CC72-97E2-353486C8FF9B}"/>
                  </a:ext>
                </a:extLst>
              </p:cNvPr>
              <p:cNvSpPr txBox="1"/>
              <p:nvPr/>
            </p:nvSpPr>
            <p:spPr>
              <a:xfrm>
                <a:off x="5280897" y="4692336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63B740C-DF9E-CC72-97E2-353486C8F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4692336"/>
                <a:ext cx="1390545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F3CBF6-3041-2770-AA66-6AA52DDD8A13}"/>
                  </a:ext>
                </a:extLst>
              </p:cNvPr>
              <p:cNvSpPr txBox="1"/>
              <p:nvPr/>
            </p:nvSpPr>
            <p:spPr>
              <a:xfrm>
                <a:off x="7829656" y="4714408"/>
                <a:ext cx="1101509" cy="7386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24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F3CBF6-3041-2770-AA66-6AA52DDD8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9656" y="4714408"/>
                <a:ext cx="1101509" cy="738664"/>
              </a:xfrm>
              <a:prstGeom prst="rect">
                <a:avLst/>
              </a:prstGeom>
              <a:blipFill>
                <a:blip r:embed="rId15"/>
                <a:stretch>
                  <a:fillRect b="-491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4A788C9-882D-3039-B5AE-59B317815C4E}"/>
                  </a:ext>
                </a:extLst>
              </p:cNvPr>
              <p:cNvSpPr txBox="1"/>
              <p:nvPr/>
            </p:nvSpPr>
            <p:spPr>
              <a:xfrm>
                <a:off x="3741130" y="5193607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=8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4A788C9-882D-3039-B5AE-59B317815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130" y="5193607"/>
                <a:ext cx="1390545" cy="369332"/>
              </a:xfrm>
              <a:prstGeom prst="rect">
                <a:avLst/>
              </a:prstGeom>
              <a:blipFill>
                <a:blip r:embed="rId16"/>
                <a:stretch>
                  <a:fillRect l="-5702" r="-2632"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6AE057-4672-7EF0-962B-6BAC76C6A3D7}"/>
                  </a:ext>
                </a:extLst>
              </p:cNvPr>
              <p:cNvSpPr txBox="1"/>
              <p:nvPr/>
            </p:nvSpPr>
            <p:spPr>
              <a:xfrm>
                <a:off x="5280897" y="5193607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6AE057-4672-7EF0-962B-6BAC76C6A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5193607"/>
                <a:ext cx="1390545" cy="369332"/>
              </a:xfrm>
              <a:prstGeom prst="rect">
                <a:avLst/>
              </a:prstGeom>
              <a:blipFill>
                <a:blip r:embed="rId17"/>
                <a:stretch>
                  <a:fillRect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942B4-8CBF-3278-89AC-CF288B8808AC}"/>
                  </a:ext>
                </a:extLst>
              </p:cNvPr>
              <p:cNvSpPr txBox="1"/>
              <p:nvPr/>
            </p:nvSpPr>
            <p:spPr>
              <a:xfrm>
                <a:off x="10070093" y="4785421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942B4-8CBF-3278-89AC-CF288B880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093" y="4785421"/>
                <a:ext cx="1532467" cy="7057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Graphic 31" descr="Badge 1 with solid fill">
            <a:extLst>
              <a:ext uri="{FF2B5EF4-FFF2-40B4-BE49-F238E27FC236}">
                <a16:creationId xmlns:a16="http://schemas.microsoft.com/office/drawing/2014/main" id="{173A4D2E-F5C8-750B-73F5-9A1712A57CA1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75882" y="436226"/>
            <a:ext cx="446277" cy="446277"/>
          </a:xfrm>
          <a:prstGeom prst="rect">
            <a:avLst/>
          </a:prstGeom>
        </p:spPr>
      </p:pic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81E35C64-AEDD-F7EE-A6BF-E878EF6F339C}"/>
              </a:ext>
            </a:extLst>
          </p:cNvPr>
          <p:cNvCxnSpPr>
            <a:cxnSpLocks/>
            <a:stCxn id="14" idx="3"/>
            <a:endCxn id="22" idx="0"/>
          </p:cNvCxnSpPr>
          <p:nvPr/>
        </p:nvCxnSpPr>
        <p:spPr>
          <a:xfrm flipV="1">
            <a:off x="2320158" y="4692864"/>
            <a:ext cx="2116246" cy="195438"/>
          </a:xfrm>
          <a:prstGeom prst="curvedConnector4">
            <a:avLst>
              <a:gd name="adj1" fmla="val 33573"/>
              <a:gd name="adj2" fmla="val 21696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2BB71BB2-7100-D5D9-71EA-BB69971EE6F5}"/>
              </a:ext>
            </a:extLst>
          </p:cNvPr>
          <p:cNvCxnSpPr>
            <a:cxnSpLocks/>
            <a:stCxn id="15" idx="3"/>
            <a:endCxn id="28" idx="2"/>
          </p:cNvCxnSpPr>
          <p:nvPr/>
        </p:nvCxnSpPr>
        <p:spPr>
          <a:xfrm>
            <a:off x="2320157" y="5404768"/>
            <a:ext cx="2116246" cy="158171"/>
          </a:xfrm>
          <a:prstGeom prst="curvedConnector4">
            <a:avLst>
              <a:gd name="adj1" fmla="val 33573"/>
              <a:gd name="adj2" fmla="val 244527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1A5A0B49-8309-0067-8E10-AEB63B2A3458}"/>
              </a:ext>
            </a:extLst>
          </p:cNvPr>
          <p:cNvCxnSpPr>
            <a:cxnSpLocks/>
            <a:stCxn id="28" idx="3"/>
            <a:endCxn id="29" idx="2"/>
          </p:cNvCxnSpPr>
          <p:nvPr/>
        </p:nvCxnSpPr>
        <p:spPr>
          <a:xfrm>
            <a:off x="5131675" y="5378273"/>
            <a:ext cx="844495" cy="184666"/>
          </a:xfrm>
          <a:prstGeom prst="curvedConnector4">
            <a:avLst>
              <a:gd name="adj1" fmla="val 8835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3B3D2CC8-5404-EAEF-6D9A-B5B73FB7083C}"/>
              </a:ext>
            </a:extLst>
          </p:cNvPr>
          <p:cNvCxnSpPr>
            <a:cxnSpLocks/>
            <a:stCxn id="22" idx="3"/>
            <a:endCxn id="24" idx="0"/>
          </p:cNvCxnSpPr>
          <p:nvPr/>
        </p:nvCxnSpPr>
        <p:spPr>
          <a:xfrm flipV="1">
            <a:off x="5131676" y="4692336"/>
            <a:ext cx="844494" cy="185194"/>
          </a:xfrm>
          <a:prstGeom prst="curvedConnector4">
            <a:avLst>
              <a:gd name="adj1" fmla="val 8835"/>
              <a:gd name="adj2" fmla="val 22343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urved Connector 44">
            <a:extLst>
              <a:ext uri="{FF2B5EF4-FFF2-40B4-BE49-F238E27FC236}">
                <a16:creationId xmlns:a16="http://schemas.microsoft.com/office/drawing/2014/main" id="{F1B5B40C-E6D9-88F7-E4CC-98B5C0F2125F}"/>
              </a:ext>
            </a:extLst>
          </p:cNvPr>
          <p:cNvCxnSpPr>
            <a:cxnSpLocks/>
            <a:stCxn id="24" idx="3"/>
            <a:endCxn id="26" idx="0"/>
          </p:cNvCxnSpPr>
          <p:nvPr/>
        </p:nvCxnSpPr>
        <p:spPr>
          <a:xfrm flipV="1">
            <a:off x="6671442" y="4714408"/>
            <a:ext cx="1708969" cy="162594"/>
          </a:xfrm>
          <a:prstGeom prst="curvedConnector4">
            <a:avLst>
              <a:gd name="adj1" fmla="val 33886"/>
              <a:gd name="adj2" fmla="val 25417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5E967996-5630-B0B4-BE26-C8A178AE5235}"/>
              </a:ext>
            </a:extLst>
          </p:cNvPr>
          <p:cNvCxnSpPr>
            <a:cxnSpLocks/>
            <a:stCxn id="29" idx="3"/>
            <a:endCxn id="26" idx="2"/>
          </p:cNvCxnSpPr>
          <p:nvPr/>
        </p:nvCxnSpPr>
        <p:spPr>
          <a:xfrm>
            <a:off x="6671442" y="5378273"/>
            <a:ext cx="1708969" cy="74799"/>
          </a:xfrm>
          <a:prstGeom prst="curvedConnector4">
            <a:avLst>
              <a:gd name="adj1" fmla="val 33886"/>
              <a:gd name="adj2" fmla="val 40561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9271182E-8AA6-655D-0232-4FE064C8ABE5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8931165" y="4785421"/>
            <a:ext cx="1905162" cy="298319"/>
          </a:xfrm>
          <a:prstGeom prst="curvedConnector4">
            <a:avLst>
              <a:gd name="adj1" fmla="val 29891"/>
              <a:gd name="adj2" fmla="val 20043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4795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  <p:bldP spid="14" grpId="0"/>
      <p:bldP spid="15" grpId="0"/>
      <p:bldP spid="22" grpId="0"/>
      <p:bldP spid="24" grpId="0"/>
      <p:bldP spid="26" grpId="0"/>
      <p:bldP spid="28" grpId="0"/>
      <p:bldP spid="29" grpId="0"/>
      <p:bldP spid="3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1B571E-8C87-8D84-30EC-7E7889F52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77C0B9-D006-1A40-4ADC-D1DE70DF605C}"/>
                  </a:ext>
                </a:extLst>
              </p:cNvPr>
              <p:cNvSpPr txBox="1"/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77C0B9-D006-1A40-4ADC-D1DE70DF6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5BF6DC-BBEC-E8B3-833D-5720330AEC5D}"/>
                  </a:ext>
                </a:extLst>
              </p:cNvPr>
              <p:cNvSpPr txBox="1"/>
              <p:nvPr/>
            </p:nvSpPr>
            <p:spPr>
              <a:xfrm>
                <a:off x="171221" y="1347672"/>
                <a:ext cx="4357724" cy="6905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5BF6DC-BBEC-E8B3-833D-5720330AEC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1347672"/>
                <a:ext cx="4357724" cy="690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936DA8-F795-70F2-163F-FD7BE4EA8D37}"/>
                  </a:ext>
                </a:extLst>
              </p:cNvPr>
              <p:cNvSpPr txBox="1"/>
              <p:nvPr/>
            </p:nvSpPr>
            <p:spPr>
              <a:xfrm>
                <a:off x="171221" y="2234241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936DA8-F795-70F2-163F-FD7BE4EA8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2234241"/>
                <a:ext cx="4126162" cy="7017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86E706-0A2F-BBCA-64AB-76A48AF7E81F}"/>
                  </a:ext>
                </a:extLst>
              </p:cNvPr>
              <p:cNvSpPr txBox="1"/>
              <p:nvPr/>
            </p:nvSpPr>
            <p:spPr>
              <a:xfrm>
                <a:off x="171221" y="3865543"/>
                <a:ext cx="2728028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86E706-0A2F-BBCA-64AB-76A48AF7E8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3865543"/>
                <a:ext cx="2728028" cy="7017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6E2202-1C0C-41BC-6D78-AD3A5CEF6F50}"/>
                  </a:ext>
                </a:extLst>
              </p:cNvPr>
              <p:cNvSpPr txBox="1"/>
              <p:nvPr/>
            </p:nvSpPr>
            <p:spPr>
              <a:xfrm>
                <a:off x="9999133" y="1713231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6E2202-1C0C-41BC-6D78-AD3A5CEF6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713231"/>
                <a:ext cx="153246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A408DC-6651-FE91-63FB-AC35C7112F8F}"/>
                  </a:ext>
                </a:extLst>
              </p:cNvPr>
              <p:cNvSpPr txBox="1"/>
              <p:nvPr/>
            </p:nvSpPr>
            <p:spPr>
              <a:xfrm>
                <a:off x="171222" y="3061562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A408DC-6651-FE91-63FB-AC35C7112F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2" y="3061562"/>
                <a:ext cx="4126162" cy="7017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3C89CD-B15B-53E5-731D-3B50D074027B}"/>
                  </a:ext>
                </a:extLst>
              </p:cNvPr>
              <p:cNvSpPr txBox="1"/>
              <p:nvPr/>
            </p:nvSpPr>
            <p:spPr>
              <a:xfrm>
                <a:off x="166008" y="4692864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3C89CD-B15B-53E5-731D-3B50D0740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08" y="4692864"/>
                <a:ext cx="2184075" cy="390876"/>
              </a:xfrm>
              <a:prstGeom prst="rect">
                <a:avLst/>
              </a:prstGeom>
              <a:blipFill>
                <a:blip r:embed="rId8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F7A0D3-1770-5BE9-4015-2D7FD11BE231}"/>
                  </a:ext>
                </a:extLst>
              </p:cNvPr>
              <p:cNvSpPr txBox="1"/>
              <p:nvPr/>
            </p:nvSpPr>
            <p:spPr>
              <a:xfrm>
                <a:off x="166007" y="5209330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F7A0D3-1770-5BE9-4015-2D7FD11BE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07" y="5209330"/>
                <a:ext cx="2184075" cy="390876"/>
              </a:xfrm>
              <a:prstGeom prst="rect">
                <a:avLst/>
              </a:prstGeom>
              <a:blipFill>
                <a:blip r:embed="rId9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ABE50-AACD-B964-2562-72FC27462379}"/>
                  </a:ext>
                </a:extLst>
              </p:cNvPr>
              <p:cNvSpPr txBox="1"/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ABE50-AACD-B964-2562-72FC27462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30B77C-43EA-1244-260D-1D2D124F385A}"/>
                  </a:ext>
                </a:extLst>
              </p:cNvPr>
              <p:cNvSpPr txBox="1"/>
              <p:nvPr/>
            </p:nvSpPr>
            <p:spPr>
              <a:xfrm>
                <a:off x="9999134" y="941679"/>
                <a:ext cx="1161982" cy="523220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30B77C-43EA-1244-260D-1D2D124F3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4" y="941679"/>
                <a:ext cx="116198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E175BED-98FA-9E45-648B-DA8469AF335A}"/>
                  </a:ext>
                </a:extLst>
              </p:cNvPr>
              <p:cNvSpPr txBox="1"/>
              <p:nvPr/>
            </p:nvSpPr>
            <p:spPr>
              <a:xfrm>
                <a:off x="9999134" y="2392450"/>
                <a:ext cx="1383848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E175BED-98FA-9E45-648B-DA8469AF3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4" y="2392450"/>
                <a:ext cx="1383848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79B4D302-3C0E-97CB-CDD0-B5CED3333412}"/>
              </a:ext>
            </a:extLst>
          </p:cNvPr>
          <p:cNvCxnSpPr>
            <a:cxnSpLocks/>
            <a:stCxn id="7" idx="1"/>
            <a:endCxn id="13" idx="3"/>
          </p:cNvCxnSpPr>
          <p:nvPr/>
        </p:nvCxnSpPr>
        <p:spPr>
          <a:xfrm rot="10800000" flipV="1">
            <a:off x="4297384" y="2607894"/>
            <a:ext cx="5701750" cy="804534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407D2013-4A4D-876C-1E09-E351E03E5120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4528945" y="369991"/>
            <a:ext cx="5470188" cy="1322936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0AE08C-3E68-D30C-ACB9-8E5CF548775C}"/>
                  </a:ext>
                </a:extLst>
              </p:cNvPr>
              <p:cNvSpPr txBox="1"/>
              <p:nvPr/>
            </p:nvSpPr>
            <p:spPr>
              <a:xfrm>
                <a:off x="3569284" y="4692864"/>
                <a:ext cx="1592318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=−4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0AE08C-3E68-D30C-ACB9-8E5CF5487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9284" y="4692864"/>
                <a:ext cx="1592318" cy="369332"/>
              </a:xfrm>
              <a:prstGeom prst="rect">
                <a:avLst/>
              </a:prstGeom>
              <a:blipFill>
                <a:blip r:embed="rId13"/>
                <a:stretch>
                  <a:fillRect l="-5747" r="-3065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1C947F4-2025-4D7B-9ACA-C41C75B72EE5}"/>
                  </a:ext>
                </a:extLst>
              </p:cNvPr>
              <p:cNvSpPr txBox="1"/>
              <p:nvPr/>
            </p:nvSpPr>
            <p:spPr>
              <a:xfrm>
                <a:off x="5704974" y="4714408"/>
                <a:ext cx="149039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1C947F4-2025-4D7B-9ACA-C41C75B7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974" y="4714408"/>
                <a:ext cx="1490395" cy="369332"/>
              </a:xfrm>
              <a:prstGeom prst="rect">
                <a:avLst/>
              </a:prstGeom>
              <a:blipFill>
                <a:blip r:embed="rId14"/>
                <a:stretch>
                  <a:fillRect l="-3689" r="-820"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EFB293-F8B3-7F46-0714-5D5B01E3907B}"/>
                  </a:ext>
                </a:extLst>
              </p:cNvPr>
              <p:cNvSpPr txBox="1"/>
              <p:nvPr/>
            </p:nvSpPr>
            <p:spPr>
              <a:xfrm>
                <a:off x="8365683" y="4714408"/>
                <a:ext cx="1101509" cy="7386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GB" sz="24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EFB293-F8B3-7F46-0714-5D5B01E39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683" y="4714408"/>
                <a:ext cx="1101509" cy="738664"/>
              </a:xfrm>
              <a:prstGeom prst="rect">
                <a:avLst/>
              </a:prstGeom>
              <a:blipFill>
                <a:blip r:embed="rId15"/>
                <a:stretch>
                  <a:fillRect l="-6077" r="-9392" b="-491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98D9A0F-A7CE-EFE8-19A4-D0721D13969B}"/>
                  </a:ext>
                </a:extLst>
              </p:cNvPr>
              <p:cNvSpPr txBox="1"/>
              <p:nvPr/>
            </p:nvSpPr>
            <p:spPr>
              <a:xfrm>
                <a:off x="3539359" y="5209330"/>
                <a:ext cx="1592317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98D9A0F-A7CE-EFE8-19A4-D0721D139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9359" y="5209330"/>
                <a:ext cx="1592317" cy="369332"/>
              </a:xfrm>
              <a:prstGeom prst="rect">
                <a:avLst/>
              </a:prstGeom>
              <a:blipFill>
                <a:blip r:embed="rId16"/>
                <a:stretch>
                  <a:fillRect l="-5747" r="-3065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7B1641-AE5F-3768-E577-7B1C2D6D866E}"/>
                  </a:ext>
                </a:extLst>
              </p:cNvPr>
              <p:cNvSpPr txBox="1"/>
              <p:nvPr/>
            </p:nvSpPr>
            <p:spPr>
              <a:xfrm>
                <a:off x="5760154" y="5209330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7B1641-AE5F-3768-E577-7B1C2D6D8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0154" y="5209330"/>
                <a:ext cx="1390545" cy="369332"/>
              </a:xfrm>
              <a:prstGeom prst="rect">
                <a:avLst/>
              </a:prstGeom>
              <a:blipFill>
                <a:blip r:embed="rId17"/>
                <a:stretch>
                  <a:fillRect l="-7895" r="-4386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CB782EF-02A0-6F34-6DEA-65D24D0A6E11}"/>
                  </a:ext>
                </a:extLst>
              </p:cNvPr>
              <p:cNvSpPr txBox="1"/>
              <p:nvPr/>
            </p:nvSpPr>
            <p:spPr>
              <a:xfrm>
                <a:off x="10329332" y="4734115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CB782EF-02A0-6F34-6DEA-65D24D0A6E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9332" y="4734115"/>
                <a:ext cx="1532467" cy="7057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Graphic 17" descr="Badge 1 with solid fill">
            <a:extLst>
              <a:ext uri="{FF2B5EF4-FFF2-40B4-BE49-F238E27FC236}">
                <a16:creationId xmlns:a16="http://schemas.microsoft.com/office/drawing/2014/main" id="{F883B26F-B9CB-BF23-2450-60BEDE51BFA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75881" y="432707"/>
            <a:ext cx="446277" cy="446277"/>
          </a:xfrm>
          <a:prstGeom prst="rect">
            <a:avLst/>
          </a:prstGeom>
        </p:spPr>
      </p:pic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2CEB24A-4CE6-F7D3-4785-5F37C587AB98}"/>
              </a:ext>
            </a:extLst>
          </p:cNvPr>
          <p:cNvCxnSpPr>
            <a:cxnSpLocks/>
            <a:stCxn id="14" idx="3"/>
            <a:endCxn id="22" idx="0"/>
          </p:cNvCxnSpPr>
          <p:nvPr/>
        </p:nvCxnSpPr>
        <p:spPr>
          <a:xfrm flipV="1">
            <a:off x="2350083" y="4692864"/>
            <a:ext cx="2015360" cy="195438"/>
          </a:xfrm>
          <a:prstGeom prst="curvedConnector4">
            <a:avLst>
              <a:gd name="adj1" fmla="val 30248"/>
              <a:gd name="adj2" fmla="val 21696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1DFBE197-20E0-FC26-9C30-621ABFF96BB3}"/>
              </a:ext>
            </a:extLst>
          </p:cNvPr>
          <p:cNvCxnSpPr>
            <a:cxnSpLocks/>
            <a:stCxn id="15" idx="3"/>
            <a:endCxn id="28" idx="2"/>
          </p:cNvCxnSpPr>
          <p:nvPr/>
        </p:nvCxnSpPr>
        <p:spPr>
          <a:xfrm>
            <a:off x="2350082" y="5404768"/>
            <a:ext cx="1985436" cy="173894"/>
          </a:xfrm>
          <a:prstGeom prst="curvedConnector4">
            <a:avLst>
              <a:gd name="adj1" fmla="val 29950"/>
              <a:gd name="adj2" fmla="val 23145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611BD47E-F8FC-2B3F-23B2-E2C04979645E}"/>
              </a:ext>
            </a:extLst>
          </p:cNvPr>
          <p:cNvCxnSpPr>
            <a:cxnSpLocks/>
            <a:stCxn id="22" idx="3"/>
            <a:endCxn id="24" idx="0"/>
          </p:cNvCxnSpPr>
          <p:nvPr/>
        </p:nvCxnSpPr>
        <p:spPr>
          <a:xfrm flipV="1">
            <a:off x="5161602" y="4714408"/>
            <a:ext cx="1288570" cy="163122"/>
          </a:xfrm>
          <a:prstGeom prst="curvedConnector4">
            <a:avLst>
              <a:gd name="adj1" fmla="val 21084"/>
              <a:gd name="adj2" fmla="val 25334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39">
            <a:extLst>
              <a:ext uri="{FF2B5EF4-FFF2-40B4-BE49-F238E27FC236}">
                <a16:creationId xmlns:a16="http://schemas.microsoft.com/office/drawing/2014/main" id="{A7D0EAFA-C0A5-7C5F-8642-60DC2E9A9F9C}"/>
              </a:ext>
            </a:extLst>
          </p:cNvPr>
          <p:cNvCxnSpPr>
            <a:cxnSpLocks/>
            <a:stCxn id="28" idx="3"/>
            <a:endCxn id="29" idx="2"/>
          </p:cNvCxnSpPr>
          <p:nvPr/>
        </p:nvCxnSpPr>
        <p:spPr>
          <a:xfrm>
            <a:off x="5131676" y="5393996"/>
            <a:ext cx="1323751" cy="184666"/>
          </a:xfrm>
          <a:prstGeom prst="curvedConnector4">
            <a:avLst>
              <a:gd name="adj1" fmla="val 23739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635C3ABA-BCE8-F63B-D6BA-2FA5498466FE}"/>
              </a:ext>
            </a:extLst>
          </p:cNvPr>
          <p:cNvCxnSpPr>
            <a:cxnSpLocks/>
            <a:stCxn id="24" idx="3"/>
            <a:endCxn id="26" idx="0"/>
          </p:cNvCxnSpPr>
          <p:nvPr/>
        </p:nvCxnSpPr>
        <p:spPr>
          <a:xfrm flipV="1">
            <a:off x="7195369" y="4714408"/>
            <a:ext cx="1721069" cy="184666"/>
          </a:xfrm>
          <a:prstGeom prst="curvedConnector4">
            <a:avLst>
              <a:gd name="adj1" fmla="val 34000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9AF2B08D-4CD3-B54B-EFC4-8B97DD117FDE}"/>
              </a:ext>
            </a:extLst>
          </p:cNvPr>
          <p:cNvCxnSpPr>
            <a:cxnSpLocks/>
            <a:stCxn id="29" idx="3"/>
            <a:endCxn id="26" idx="2"/>
          </p:cNvCxnSpPr>
          <p:nvPr/>
        </p:nvCxnSpPr>
        <p:spPr>
          <a:xfrm>
            <a:off x="7150699" y="5393996"/>
            <a:ext cx="1765739" cy="59076"/>
          </a:xfrm>
          <a:prstGeom prst="curvedConnector4">
            <a:avLst>
              <a:gd name="adj1" fmla="val 34404"/>
              <a:gd name="adj2" fmla="val 48695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9C49B6E1-6686-87C2-E51C-B303D5785A97}"/>
              </a:ext>
            </a:extLst>
          </p:cNvPr>
          <p:cNvCxnSpPr>
            <a:cxnSpLocks/>
            <a:stCxn id="26" idx="3"/>
            <a:endCxn id="17" idx="0"/>
          </p:cNvCxnSpPr>
          <p:nvPr/>
        </p:nvCxnSpPr>
        <p:spPr>
          <a:xfrm flipV="1">
            <a:off x="9467192" y="4734115"/>
            <a:ext cx="1628374" cy="349625"/>
          </a:xfrm>
          <a:prstGeom prst="curvedConnector4">
            <a:avLst>
              <a:gd name="adj1" fmla="val 26472"/>
              <a:gd name="adj2" fmla="val 17102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0962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0" grpId="0"/>
      <p:bldP spid="13" grpId="0"/>
      <p:bldP spid="14" grpId="0"/>
      <p:bldP spid="15" grpId="0"/>
      <p:bldP spid="22" grpId="0"/>
      <p:bldP spid="24" grpId="0"/>
      <p:bldP spid="26" grpId="0"/>
      <p:bldP spid="28" grpId="0"/>
      <p:bldP spid="29" grpId="0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CD0A1F-CFF8-FAC4-22D9-B800077F7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7DF4D-4C64-1380-07DE-86E9A847A0D1}"/>
                  </a:ext>
                </a:extLst>
              </p:cNvPr>
              <p:cNvSpPr txBox="1"/>
              <p:nvPr/>
            </p:nvSpPr>
            <p:spPr>
              <a:xfrm>
                <a:off x="5051962" y="1347672"/>
                <a:ext cx="2406108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7DF4D-4C64-1380-07DE-86E9A847A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1962" y="1347672"/>
                <a:ext cx="2406108" cy="681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43EA94-D41E-B037-B12C-BE14DE0E9C84}"/>
                  </a:ext>
                </a:extLst>
              </p:cNvPr>
              <p:cNvSpPr txBox="1"/>
              <p:nvPr/>
            </p:nvSpPr>
            <p:spPr>
              <a:xfrm>
                <a:off x="9897533" y="1117934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43EA94-D41E-B037-B12C-BE14DE0E9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117934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FE3CDE-B599-1CDD-18A2-9A26B15A69CD}"/>
                  </a:ext>
                </a:extLst>
              </p:cNvPr>
              <p:cNvSpPr txBox="1"/>
              <p:nvPr/>
            </p:nvSpPr>
            <p:spPr>
              <a:xfrm>
                <a:off x="9897533" y="188036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FE3CDE-B599-1CDD-18A2-9A26B15A6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88036"/>
                <a:ext cx="2192867" cy="7184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47316533-B3D9-D34A-4D91-A1B21A01A513}"/>
              </a:ext>
            </a:extLst>
          </p:cNvPr>
          <p:cNvCxnSpPr>
            <a:cxnSpLocks/>
            <a:stCxn id="12" idx="1"/>
            <a:endCxn id="30" idx="3"/>
          </p:cNvCxnSpPr>
          <p:nvPr/>
        </p:nvCxnSpPr>
        <p:spPr>
          <a:xfrm rot="10800000" flipV="1">
            <a:off x="8178799" y="2224701"/>
            <a:ext cx="1718734" cy="185871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74DBA954-29D6-F0B2-F043-A79F007D377A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7458071" y="547269"/>
            <a:ext cx="2439463" cy="1141330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80816-C97F-E606-BE16-C3FF74F23E4C}"/>
                  </a:ext>
                </a:extLst>
              </p:cNvPr>
              <p:cNvSpPr txBox="1"/>
              <p:nvPr/>
            </p:nvSpPr>
            <p:spPr>
              <a:xfrm>
                <a:off x="4937053" y="271124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80816-C97F-E606-BE16-C3FF74F23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053" y="271124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B57ED2-A443-1C3F-7B6B-261977F994E4}"/>
                  </a:ext>
                </a:extLst>
              </p:cNvPr>
              <p:cNvSpPr txBox="1"/>
              <p:nvPr/>
            </p:nvSpPr>
            <p:spPr>
              <a:xfrm>
                <a:off x="9897533" y="1871815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B57ED2-A443-1C3F-7B6B-261977F99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871815"/>
                <a:ext cx="1532467" cy="7057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8839E5B-4B1E-E8F7-6415-E9928DD1FCFA}"/>
                  </a:ext>
                </a:extLst>
              </p:cNvPr>
              <p:cNvSpPr txBox="1"/>
              <p:nvPr/>
            </p:nvSpPr>
            <p:spPr>
              <a:xfrm>
                <a:off x="5094296" y="4947244"/>
                <a:ext cx="2561302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18+4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8+3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8839E5B-4B1E-E8F7-6415-E9928DD1F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296" y="4947244"/>
                <a:ext cx="2561302" cy="7256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3B60B9F-AA78-F78E-7FCC-72D0F6EDE863}"/>
                  </a:ext>
                </a:extLst>
              </p:cNvPr>
              <p:cNvSpPr txBox="1"/>
              <p:nvPr/>
            </p:nvSpPr>
            <p:spPr>
              <a:xfrm>
                <a:off x="5177899" y="2552423"/>
                <a:ext cx="2280171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3B60B9F-AA78-F78E-7FCC-72D0F6EDE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899" y="2552423"/>
                <a:ext cx="2280171" cy="6671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26B146F-C5D2-7E43-D2E9-D649846E614C}"/>
                  </a:ext>
                </a:extLst>
              </p:cNvPr>
              <p:cNvSpPr txBox="1"/>
              <p:nvPr/>
            </p:nvSpPr>
            <p:spPr>
              <a:xfrm>
                <a:off x="5177899" y="3742492"/>
                <a:ext cx="3000900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d>
                        <m:dPr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26B146F-C5D2-7E43-D2E9-D649846E6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899" y="3742492"/>
                <a:ext cx="3000900" cy="6818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F4271861-1F5D-A2A7-5648-89203FCEEAA8}"/>
              </a:ext>
            </a:extLst>
          </p:cNvPr>
          <p:cNvCxnSpPr>
            <a:cxnSpLocks/>
            <a:stCxn id="11" idx="1"/>
            <a:endCxn id="27" idx="3"/>
          </p:cNvCxnSpPr>
          <p:nvPr/>
        </p:nvCxnSpPr>
        <p:spPr>
          <a:xfrm rot="10800000" flipV="1">
            <a:off x="7458071" y="1333378"/>
            <a:ext cx="2439463" cy="1552630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CA3AC96-0854-7EC4-0D29-631F284038CA}"/>
                  </a:ext>
                </a:extLst>
              </p:cNvPr>
              <p:cNvSpPr txBox="1"/>
              <p:nvPr/>
            </p:nvSpPr>
            <p:spPr>
              <a:xfrm>
                <a:off x="5310529" y="6056378"/>
                <a:ext cx="1888973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CA3AC96-0854-7EC4-0D29-631F28403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0529" y="6056378"/>
                <a:ext cx="1888973" cy="7256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391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3" grpId="0"/>
      <p:bldP spid="27" grpId="0"/>
      <p:bldP spid="30" grpId="0"/>
      <p:bldP spid="4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510445-893D-21D7-0B7E-BEA6EAE4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2B71DD-5013-EF6E-A20E-4675B9654171}"/>
                  </a:ext>
                </a:extLst>
              </p:cNvPr>
              <p:cNvSpPr txBox="1"/>
              <p:nvPr/>
            </p:nvSpPr>
            <p:spPr>
              <a:xfrm>
                <a:off x="5092603" y="1347672"/>
                <a:ext cx="2280171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2B71DD-5013-EF6E-A20E-4675B96541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603" y="1347672"/>
                <a:ext cx="2280171" cy="681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F9DF52-8CD0-F63A-B105-EF4D5A18E1FD}"/>
                  </a:ext>
                </a:extLst>
              </p:cNvPr>
              <p:cNvSpPr txBox="1"/>
              <p:nvPr/>
            </p:nvSpPr>
            <p:spPr>
              <a:xfrm>
                <a:off x="9999133" y="1088456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F9DF52-8CD0-F63A-B105-EF4D5A18E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88456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07F407-3F7B-FE65-6921-8EB9A5A64A38}"/>
                  </a:ext>
                </a:extLst>
              </p:cNvPr>
              <p:cNvSpPr txBox="1"/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07F407-3F7B-FE65-6921-8EB9A5A64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52DB6821-D894-037E-C640-4B47B7F6553E}"/>
              </a:ext>
            </a:extLst>
          </p:cNvPr>
          <p:cNvCxnSpPr>
            <a:cxnSpLocks/>
            <a:stCxn id="12" idx="1"/>
            <a:endCxn id="30" idx="3"/>
          </p:cNvCxnSpPr>
          <p:nvPr/>
        </p:nvCxnSpPr>
        <p:spPr>
          <a:xfrm rot="10800000" flipV="1">
            <a:off x="7833516" y="2236137"/>
            <a:ext cx="2165616" cy="1847281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178E4027-B01D-CCA0-1A6B-5E9495B62E77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7372775" y="369991"/>
            <a:ext cx="2626359" cy="131860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B372100-0499-AAF0-2C03-95EBB9C6F77E}"/>
                  </a:ext>
                </a:extLst>
              </p:cNvPr>
              <p:cNvSpPr txBox="1"/>
              <p:nvPr/>
            </p:nvSpPr>
            <p:spPr>
              <a:xfrm>
                <a:off x="4874084" y="271124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B372100-0499-AAF0-2C03-95EBB9C6F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4084" y="271124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94BB5D-3944-CF7C-934D-B1C2B4C9C3C1}"/>
                  </a:ext>
                </a:extLst>
              </p:cNvPr>
              <p:cNvSpPr txBox="1"/>
              <p:nvPr/>
            </p:nvSpPr>
            <p:spPr>
              <a:xfrm>
                <a:off x="9999132" y="1883252"/>
                <a:ext cx="1606128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94BB5D-3944-CF7C-934D-B1C2B4C9C3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2" y="1883252"/>
                <a:ext cx="1606128" cy="7057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F4AC4EC-B80B-8D27-C6EB-730C4A9E5AEE}"/>
                  </a:ext>
                </a:extLst>
              </p:cNvPr>
              <p:cNvSpPr txBox="1"/>
              <p:nvPr/>
            </p:nvSpPr>
            <p:spPr>
              <a:xfrm>
                <a:off x="4926280" y="4947244"/>
                <a:ext cx="2568037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−9+8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8−6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F4AC4EC-B80B-8D27-C6EB-730C4A9E5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280" y="4947244"/>
                <a:ext cx="2568037" cy="7256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2DA5E3B-14ED-02A1-41B8-DC525D36ECBA}"/>
                  </a:ext>
                </a:extLst>
              </p:cNvPr>
              <p:cNvSpPr txBox="1"/>
              <p:nvPr/>
            </p:nvSpPr>
            <p:spPr>
              <a:xfrm>
                <a:off x="5218541" y="2552423"/>
                <a:ext cx="2154234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2DA5E3B-14ED-02A1-41B8-DC525D36E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8541" y="2552423"/>
                <a:ext cx="2154234" cy="6671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B45104-3C4A-EAD8-93A2-3BBFCB862098}"/>
                  </a:ext>
                </a:extLst>
              </p:cNvPr>
              <p:cNvSpPr txBox="1"/>
              <p:nvPr/>
            </p:nvSpPr>
            <p:spPr>
              <a:xfrm>
                <a:off x="4587082" y="3742492"/>
                <a:ext cx="3246434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B45104-3C4A-EAD8-93A2-3BBFCB862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082" y="3742492"/>
                <a:ext cx="3246434" cy="6818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C04287A6-EA5F-B68B-1A57-1A8543DC731F}"/>
              </a:ext>
            </a:extLst>
          </p:cNvPr>
          <p:cNvCxnSpPr>
            <a:cxnSpLocks/>
            <a:stCxn id="11" idx="1"/>
            <a:endCxn id="27" idx="3"/>
          </p:cNvCxnSpPr>
          <p:nvPr/>
        </p:nvCxnSpPr>
        <p:spPr>
          <a:xfrm rot="10800000" flipV="1">
            <a:off x="7372775" y="1303900"/>
            <a:ext cx="2626358" cy="158210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C302514-4977-E1A5-08DC-AC9FCA292716}"/>
                  </a:ext>
                </a:extLst>
              </p:cNvPr>
              <p:cNvSpPr txBox="1"/>
              <p:nvPr/>
            </p:nvSpPr>
            <p:spPr>
              <a:xfrm>
                <a:off x="5120483" y="6036058"/>
                <a:ext cx="1951034" cy="71564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C302514-4977-E1A5-08DC-AC9FCA292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483" y="6036058"/>
                <a:ext cx="1951034" cy="71564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9977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3" grpId="0"/>
      <p:bldP spid="27" grpId="0"/>
      <p:bldP spid="30" grpId="0"/>
      <p:bldP spid="4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AB46E25-EEA9-F487-061B-49703BC4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02DAAFE-9582-0B82-C3B4-1A11A51BBBDC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ACD689E-634B-218A-F13E-24D9ECBD002A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ACD689E-634B-218A-F13E-24D9ECBD0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75A71F-2770-F8C7-1B37-184EB9CD8AB7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75A71F-2770-F8C7-1B37-184EB9CD8A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25ABA25-4726-A2D2-ED56-5182D52411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4306174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223D0BB2-8B2A-1AD2-0AFF-9C17E4091B35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If we draw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  <a:r>
              <a:rPr lang="en-PH" sz="2500" dirty="0"/>
              <a:t> in our two- dimensional graph. It will look like this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9793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  <p:bldP spid="2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07C74D-7D02-18BA-8357-CB60F518F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853C6FD-2048-F5B6-7F8C-7912FDCEB810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BC2600-3E05-1D86-941A-F7B219E1959B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59CD5C-E802-10F7-A5BA-8493A3463950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59CD5C-E802-10F7-A5BA-8493A3463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BE060D1-831E-2FA4-9063-279086246EE7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BE060D1-831E-2FA4-9063-279086246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459207C-79E9-C610-55B2-B159E316F809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459207C-79E9-C610-55B2-B159E316F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20433D6-A019-5A9D-483A-961F661261F6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20433D6-A019-5A9D-483A-961F66126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96D5AEF-A38D-6E38-EE20-60490BAFA6F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BC09817-2FB4-131A-51F9-F974D9DD17C3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If we draw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  <a:r>
              <a:rPr lang="en-PH" sz="2500" dirty="0"/>
              <a:t> in our two- dimensional graph. It will look like this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0010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0D39C89-D881-88B1-BD99-C4376CD06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3110A20-AC0D-4532-3A68-F1736A25DFF0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3E02E6-1409-CD84-509D-8CE47E9367F9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7B774D-6ABB-41C0-01F2-E4834A23B896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7B774D-6ABB-41C0-01F2-E4834A23B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17C7821-0346-009B-A0F9-7CC7DB89E7C4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17C7821-0346-009B-A0F9-7CC7DB89E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CA4AD1C-6EB9-D51C-D0EE-136ABF36794F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CA4AD1C-6EB9-D51C-D0EE-136ABF367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E14FE7-6C1E-C208-DA27-C822EE975F90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E14FE7-6C1E-C208-DA27-C822EE975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2A64F97-0785-D2CE-F678-7507D6791CE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0450B24-CD3F-C1EF-6948-EE6A04695D08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In our example, we have two principal components, </a:t>
            </a:r>
            <a:r>
              <a:rPr lang="en-PH" sz="2500" b="1" dirty="0">
                <a:solidFill>
                  <a:srgbClr val="00B050"/>
                </a:solidFill>
              </a:rPr>
              <a:t>PC1</a:t>
            </a:r>
            <a:r>
              <a:rPr lang="en-PH" sz="2500" dirty="0"/>
              <a:t> and </a:t>
            </a:r>
            <a:r>
              <a:rPr lang="en-PH" sz="2500" b="1" dirty="0">
                <a:solidFill>
                  <a:srgbClr val="FF0000"/>
                </a:solidFill>
              </a:rPr>
              <a:t>PC2</a:t>
            </a:r>
          </a:p>
        </p:txBody>
      </p:sp>
    </p:spTree>
    <p:extLst>
      <p:ext uri="{BB962C8B-B14F-4D97-AF65-F5344CB8AC3E}">
        <p14:creationId xmlns:p14="http://schemas.microsoft.com/office/powerpoint/2010/main" val="1925469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4DEDC1A-6AF6-2687-8729-6470FBA19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D84CE0B-1D15-547A-BE52-2A46746E928A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D0D5241-5982-50B4-431A-409FB55C05BB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6ACF3F7-4BEF-A909-C1D0-CAC1E3784911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6ACF3F7-4BEF-A909-C1D0-CAC1E3784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106A57-18E3-3594-519D-C3FF6064FAC1}"/>
                  </a:ext>
                </a:extLst>
              </p:cNvPr>
              <p:cNvSpPr txBox="1"/>
              <p:nvPr/>
            </p:nvSpPr>
            <p:spPr>
              <a:xfrm>
                <a:off x="90945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106A57-18E3-3594-519D-C3FF6064FA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07BB9B-5A27-925D-56F7-050E3397A6D0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07BB9B-5A27-925D-56F7-050E3397A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8D8C5C-5BC5-5391-E2D9-9FD82051CF74}"/>
                  </a:ext>
                </a:extLst>
              </p:cNvPr>
              <p:cNvSpPr txBox="1"/>
              <p:nvPr/>
            </p:nvSpPr>
            <p:spPr>
              <a:xfrm>
                <a:off x="90945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8D8C5C-5BC5-5391-E2D9-9FD82051C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16319C2-2D19-3196-FFEB-D3A41AC6047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5169955"/>
              </p:ext>
            </p:extLst>
          </p:nvPr>
        </p:nvGraphicFramePr>
        <p:xfrm>
          <a:off x="341251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D1A886A-4C9D-610F-C44B-F8E54309465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In PCA, we can choose which principal component to project our data. Let us choose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4648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  <p:bldP spid="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2595B35-0A7F-3CA3-2ACD-1F25BC4C5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1BC44C2-AD53-5683-4B43-A83033954F3E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ABE579-EE4E-CCF7-D0A0-C495DDC3B2EE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ABE579-EE4E-CCF7-D0A0-C495DDC3B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FE07E55-EFBD-1520-E704-871E93C6D4D0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FE07E55-EFBD-1520-E704-871E93C6D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2B80CF3-F434-F015-B6B9-7165B11F74AB}"/>
              </a:ext>
            </a:extLst>
          </p:cNvPr>
          <p:cNvGraphicFramePr/>
          <p:nvPr/>
        </p:nvGraphicFramePr>
        <p:xfrm>
          <a:off x="341251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42FD63B-0C92-449D-5EEE-F9BD21455C59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We then make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symmetrical by extending it to the other direction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1124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1503D33-2C26-EB2D-4A6D-E4E4113EA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782827-581E-216F-757B-9F9462B20240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47FBD6-7231-70A2-43DF-2A732316C629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47FBD6-7231-70A2-43DF-2A732316C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9CBC31-F36F-FF94-7294-B4851ED06F0D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9CBC31-F36F-FF94-7294-B4851ED06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198104BA-F8AB-C559-7DA4-68AA5B91231D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7C92441-BA9E-DE66-8709-A9FBC8B0329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We then make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symmetrical by extending it to the other direction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7325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6A622D-75A0-96CF-0614-669DD9B9C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496FEF9-0AAB-8A27-8B08-8AAAAB4D78E2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577264-F163-5CCC-A602-37D4E6B7B8D2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577264-F163-5CCC-A602-37D4E6B7B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A92134-B991-8F38-8EF2-8BFC9F63F71C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A92134-B991-8F38-8EF2-8BFC9F63F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B08F2D0-365B-A978-22F7-EBC3CAE926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7064895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Oval 1">
            <a:extLst>
              <a:ext uri="{FF2B5EF4-FFF2-40B4-BE49-F238E27FC236}">
                <a16:creationId xmlns:a16="http://schemas.microsoft.com/office/drawing/2014/main" id="{6B65B7ED-A0EA-FF86-CECC-38F0ECF8972C}"/>
              </a:ext>
            </a:extLst>
          </p:cNvPr>
          <p:cNvSpPr/>
          <p:nvPr/>
        </p:nvSpPr>
        <p:spPr>
          <a:xfrm>
            <a:off x="3741440" y="41043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46A2163-EA5F-D45E-68DB-1DEF4446B486}"/>
              </a:ext>
            </a:extLst>
          </p:cNvPr>
          <p:cNvSpPr/>
          <p:nvPr/>
        </p:nvSpPr>
        <p:spPr>
          <a:xfrm>
            <a:off x="4991120" y="38503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1D56770-F051-4370-0D89-B6C44F75767A}"/>
              </a:ext>
            </a:extLst>
          </p:cNvPr>
          <p:cNvSpPr/>
          <p:nvPr/>
        </p:nvSpPr>
        <p:spPr>
          <a:xfrm>
            <a:off x="7029470" y="24025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76F4BC7-3B29-EEE3-3F50-08C1BF0C849B}"/>
              </a:ext>
            </a:extLst>
          </p:cNvPr>
          <p:cNvSpPr/>
          <p:nvPr/>
        </p:nvSpPr>
        <p:spPr>
          <a:xfrm>
            <a:off x="8293120" y="2146195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2E1EE0-3E8D-2689-8C86-C69DAAA49C22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finally we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making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0070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D29F635-13D7-A4DD-7459-F51F2556C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25DB37C-3DAA-62F2-377C-E2BB8EB8F623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843F1-4CBE-69E4-5E57-C3289B50224E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843F1-4CBE-69E4-5E57-C3289B502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8DF1412-4163-5AE1-3B08-D4E6CA62C8A4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8DF1412-4163-5AE1-3B08-D4E6CA62C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38C8C3DB-F17B-68FA-9252-DBEF0479AF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3122054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A75C43D-D8C6-8FBF-C6E3-0248E98B8697}"/>
              </a:ext>
            </a:extLst>
          </p:cNvPr>
          <p:cNvSpPr/>
          <p:nvPr/>
        </p:nvSpPr>
        <p:spPr>
          <a:xfrm>
            <a:off x="3731492" y="410331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D48618C-9DA3-D97C-4347-135805057EF4}"/>
              </a:ext>
            </a:extLst>
          </p:cNvPr>
          <p:cNvSpPr/>
          <p:nvPr/>
        </p:nvSpPr>
        <p:spPr>
          <a:xfrm>
            <a:off x="5001915" y="3853551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2238D5B-B1D1-AE19-6DE5-5C1D6CB402FC}"/>
              </a:ext>
            </a:extLst>
          </p:cNvPr>
          <p:cNvSpPr/>
          <p:nvPr/>
        </p:nvSpPr>
        <p:spPr>
          <a:xfrm>
            <a:off x="7030740" y="2393051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10A381F-F9D2-B08C-F06B-A117318086DF}"/>
              </a:ext>
            </a:extLst>
          </p:cNvPr>
          <p:cNvSpPr/>
          <p:nvPr/>
        </p:nvSpPr>
        <p:spPr>
          <a:xfrm>
            <a:off x="8287247" y="2153329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280E1B9-8709-6E51-E1A6-61DEFA680FC6}"/>
              </a:ext>
            </a:extLst>
          </p:cNvPr>
          <p:cNvSpPr/>
          <p:nvPr/>
        </p:nvSpPr>
        <p:spPr>
          <a:xfrm>
            <a:off x="6006000" y="3122490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0AC56E-C366-DC96-EF7A-C13C03F373D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finally we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making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99501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4B95C18-704D-F2D8-3784-F78708B88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D6E9EFD-E77D-9126-5AC0-F1C681BCD37D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289AF4-3B33-32D3-9BB8-F6841FC92B55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289AF4-3B33-32D3-9BB8-F6841FC92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C69DA89-92E4-FFD4-BF08-7BACBAF9E294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C69DA89-92E4-FFD4-BF08-7BACBAF9E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92ED86E-2035-06C0-0326-BA4DF523115F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D8DA0E0-430C-F6C9-D364-57770546D817}"/>
              </a:ext>
            </a:extLst>
          </p:cNvPr>
          <p:cNvSpPr/>
          <p:nvPr/>
        </p:nvSpPr>
        <p:spPr>
          <a:xfrm>
            <a:off x="3731492" y="4374252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AA7D907-AF31-47EC-8C18-78BF458B28CB}"/>
              </a:ext>
            </a:extLst>
          </p:cNvPr>
          <p:cNvSpPr/>
          <p:nvPr/>
        </p:nvSpPr>
        <p:spPr>
          <a:xfrm>
            <a:off x="5001915" y="368421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C13F5FA-FDEE-E29B-1356-C2ABFAF82969}"/>
              </a:ext>
            </a:extLst>
          </p:cNvPr>
          <p:cNvSpPr/>
          <p:nvPr/>
        </p:nvSpPr>
        <p:spPr>
          <a:xfrm>
            <a:off x="7030740" y="256915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D7BA7DC-FDD2-31E3-88C6-22E5B353D9CC}"/>
              </a:ext>
            </a:extLst>
          </p:cNvPr>
          <p:cNvSpPr/>
          <p:nvPr/>
        </p:nvSpPr>
        <p:spPr>
          <a:xfrm>
            <a:off x="8287247" y="1881353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E9E174-A5A5-083B-17F5-B9BBA54DA311}"/>
              </a:ext>
            </a:extLst>
          </p:cNvPr>
          <p:cNvSpPr/>
          <p:nvPr/>
        </p:nvSpPr>
        <p:spPr>
          <a:xfrm>
            <a:off x="6006000" y="3122490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299FC1-F3AB-12F7-D8DA-E1FBD6FFE56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finally we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making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802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30E63C-416F-0968-9001-2D35C047E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5D21C40-3FE3-F5FF-6FC7-A3A6E728F54E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58365DF-FE3E-CC39-C45B-B4E896ED7117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D2E9554-0937-87EA-DCD4-5E93466F80DB}"/>
              </a:ext>
            </a:extLst>
          </p:cNvPr>
          <p:cNvGrpSpPr/>
          <p:nvPr/>
        </p:nvGrpSpPr>
        <p:grpSpPr>
          <a:xfrm>
            <a:off x="7794172" y="173087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AC361B5A-55E1-91CA-699A-B227B11DE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9FBD2231-2627-399F-FF7C-2E15B12F6B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A9B29572-D1E9-3E01-8FF3-F6390C2B0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6FA234E5-342E-95AE-49F6-5EE551B4D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B81CEEE3-018B-C9D6-D7D1-2F73206D1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4C80ED1E-FD2B-53C1-8B57-B464901F8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D35B0F13-2C8A-55E5-AD96-F00834FA7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A82DFD59-CF76-FEC4-9380-2A67C1C92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DE4ACF2A-663B-0D62-FD64-F09132156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06F76C03-B622-D560-CAA1-D130CC3D39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C2C71C5-531A-5C58-C9FC-6248FFA9ADFD}"/>
              </a:ext>
            </a:extLst>
          </p:cNvPr>
          <p:cNvSpPr txBox="1"/>
          <p:nvPr/>
        </p:nvSpPr>
        <p:spPr>
          <a:xfrm>
            <a:off x="613497" y="5283561"/>
            <a:ext cx="3784332" cy="1246495"/>
          </a:xfrm>
          <a:custGeom>
            <a:avLst/>
            <a:gdLst>
              <a:gd name="connsiteX0" fmla="*/ 0 w 3784332"/>
              <a:gd name="connsiteY0" fmla="*/ 0 h 1246495"/>
              <a:gd name="connsiteX1" fmla="*/ 616305 w 3784332"/>
              <a:gd name="connsiteY1" fmla="*/ 0 h 1246495"/>
              <a:gd name="connsiteX2" fmla="*/ 1232611 w 3784332"/>
              <a:gd name="connsiteY2" fmla="*/ 0 h 1246495"/>
              <a:gd name="connsiteX3" fmla="*/ 1811073 w 3784332"/>
              <a:gd name="connsiteY3" fmla="*/ 0 h 1246495"/>
              <a:gd name="connsiteX4" fmla="*/ 2351692 w 3784332"/>
              <a:gd name="connsiteY4" fmla="*/ 0 h 1246495"/>
              <a:gd name="connsiteX5" fmla="*/ 2816624 w 3784332"/>
              <a:gd name="connsiteY5" fmla="*/ 0 h 1246495"/>
              <a:gd name="connsiteX6" fmla="*/ 3281556 w 3784332"/>
              <a:gd name="connsiteY6" fmla="*/ 0 h 1246495"/>
              <a:gd name="connsiteX7" fmla="*/ 3784332 w 3784332"/>
              <a:gd name="connsiteY7" fmla="*/ 0 h 1246495"/>
              <a:gd name="connsiteX8" fmla="*/ 3784332 w 3784332"/>
              <a:gd name="connsiteY8" fmla="*/ 440428 h 1246495"/>
              <a:gd name="connsiteX9" fmla="*/ 3784332 w 3784332"/>
              <a:gd name="connsiteY9" fmla="*/ 868392 h 1246495"/>
              <a:gd name="connsiteX10" fmla="*/ 3784332 w 3784332"/>
              <a:gd name="connsiteY10" fmla="*/ 1246495 h 1246495"/>
              <a:gd name="connsiteX11" fmla="*/ 3357243 w 3784332"/>
              <a:gd name="connsiteY11" fmla="*/ 1246495 h 1246495"/>
              <a:gd name="connsiteX12" fmla="*/ 2892311 w 3784332"/>
              <a:gd name="connsiteY12" fmla="*/ 1246495 h 1246495"/>
              <a:gd name="connsiteX13" fmla="*/ 2276005 w 3784332"/>
              <a:gd name="connsiteY13" fmla="*/ 1246495 h 1246495"/>
              <a:gd name="connsiteX14" fmla="*/ 1659700 w 3784332"/>
              <a:gd name="connsiteY14" fmla="*/ 1246495 h 1246495"/>
              <a:gd name="connsiteX15" fmla="*/ 1081238 w 3784332"/>
              <a:gd name="connsiteY15" fmla="*/ 1246495 h 1246495"/>
              <a:gd name="connsiteX16" fmla="*/ 578462 w 3784332"/>
              <a:gd name="connsiteY16" fmla="*/ 1246495 h 1246495"/>
              <a:gd name="connsiteX17" fmla="*/ 0 w 3784332"/>
              <a:gd name="connsiteY17" fmla="*/ 1246495 h 1246495"/>
              <a:gd name="connsiteX18" fmla="*/ 0 w 3784332"/>
              <a:gd name="connsiteY18" fmla="*/ 818532 h 1246495"/>
              <a:gd name="connsiteX19" fmla="*/ 0 w 3784332"/>
              <a:gd name="connsiteY19" fmla="*/ 427963 h 1246495"/>
              <a:gd name="connsiteX20" fmla="*/ 0 w 3784332"/>
              <a:gd name="connsiteY20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784332" h="1246495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829823" y="195153"/>
                  <a:pt x="3745918" y="346982"/>
                  <a:pt x="3784332" y="440428"/>
                </a:cubicBezTo>
                <a:cubicBezTo>
                  <a:pt x="3822746" y="533874"/>
                  <a:pt x="3745950" y="666246"/>
                  <a:pt x="3784332" y="868392"/>
                </a:cubicBezTo>
                <a:cubicBezTo>
                  <a:pt x="3822714" y="1070538"/>
                  <a:pt x="3764060" y="1118799"/>
                  <a:pt x="3784332" y="1246495"/>
                </a:cubicBezTo>
                <a:cubicBezTo>
                  <a:pt x="3574989" y="1248362"/>
                  <a:pt x="3569394" y="1231447"/>
                  <a:pt x="3357243" y="1246495"/>
                </a:cubicBezTo>
                <a:cubicBezTo>
                  <a:pt x="3145092" y="1261543"/>
                  <a:pt x="3077068" y="1211000"/>
                  <a:pt x="2892311" y="1246495"/>
                </a:cubicBezTo>
                <a:cubicBezTo>
                  <a:pt x="2707554" y="1281990"/>
                  <a:pt x="2463197" y="1194064"/>
                  <a:pt x="2276005" y="1246495"/>
                </a:cubicBezTo>
                <a:cubicBezTo>
                  <a:pt x="2088813" y="1298926"/>
                  <a:pt x="1787489" y="1180343"/>
                  <a:pt x="1659700" y="1246495"/>
                </a:cubicBezTo>
                <a:cubicBezTo>
                  <a:pt x="1531911" y="1312647"/>
                  <a:pt x="1226335" y="1184480"/>
                  <a:pt x="1081238" y="1246495"/>
                </a:cubicBezTo>
                <a:cubicBezTo>
                  <a:pt x="936141" y="1308510"/>
                  <a:pt x="826402" y="1231578"/>
                  <a:pt x="578462" y="1246495"/>
                </a:cubicBezTo>
                <a:cubicBezTo>
                  <a:pt x="330522" y="1261412"/>
                  <a:pt x="281410" y="1185177"/>
                  <a:pt x="0" y="1246495"/>
                </a:cubicBezTo>
                <a:cubicBezTo>
                  <a:pt x="-35733" y="1085493"/>
                  <a:pt x="30553" y="997779"/>
                  <a:pt x="0" y="818532"/>
                </a:cubicBezTo>
                <a:cubicBezTo>
                  <a:pt x="-30553" y="639285"/>
                  <a:pt x="30556" y="529569"/>
                  <a:pt x="0" y="427963"/>
                </a:cubicBezTo>
                <a:cubicBezTo>
                  <a:pt x="-30556" y="326357"/>
                  <a:pt x="4289" y="1022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1</a:t>
            </a:r>
            <a:r>
              <a:rPr lang="en-PH" sz="2500" dirty="0"/>
              <a:t>: Find the center of the dataset and put the center in the origin</a:t>
            </a:r>
          </a:p>
        </p:txBody>
      </p:sp>
    </p:spTree>
    <p:extLst>
      <p:ext uri="{BB962C8B-B14F-4D97-AF65-F5344CB8AC3E}">
        <p14:creationId xmlns:p14="http://schemas.microsoft.com/office/powerpoint/2010/main" val="49787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89806E-17 3.33333E-6 L -0.2888 0.2439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687" y="1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A970158-FCC5-0F40-2C67-7F8E9E0D2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41465F3-974C-3B3E-939D-1A8BECFBAC56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6B2FF77-4099-D631-460C-704F275E5839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1252705-D3A2-E295-828E-5A80F5DF1FCB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79BCB47B-845E-16CB-1016-2875F9BD7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FD1CC256-F55D-AD79-8E51-1EDD91700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23943D53-4A45-8F7A-40DF-D13E2C8824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FFC4DF09-3832-2564-5F8D-2C8B7588B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90B5267C-B67E-33E3-36AB-9C19F976E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77568941-3CF9-DBD6-DE46-D27BEDD62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AC4AECC4-225E-62C3-7895-B5D4E4DD3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3904A933-8A7E-4EBE-25A7-C5D5461AD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BED5E428-756A-2E9B-404B-F7C0442106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9D04CAB1-8410-E153-CF96-B882A59F8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B1C481-E9AE-B73E-17EF-7C20809FA24C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B1C481-E9AE-B73E-17EF-7C20809FA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1D679BF5-7234-0475-928D-46646063C3F0}"/>
              </a:ext>
            </a:extLst>
          </p:cNvPr>
          <p:cNvSpPr txBox="1"/>
          <p:nvPr/>
        </p:nvSpPr>
        <p:spPr>
          <a:xfrm>
            <a:off x="613497" y="5283561"/>
            <a:ext cx="3784332" cy="861774"/>
          </a:xfrm>
          <a:custGeom>
            <a:avLst/>
            <a:gdLst>
              <a:gd name="connsiteX0" fmla="*/ 0 w 3784332"/>
              <a:gd name="connsiteY0" fmla="*/ 0 h 861774"/>
              <a:gd name="connsiteX1" fmla="*/ 616305 w 3784332"/>
              <a:gd name="connsiteY1" fmla="*/ 0 h 861774"/>
              <a:gd name="connsiteX2" fmla="*/ 1232611 w 3784332"/>
              <a:gd name="connsiteY2" fmla="*/ 0 h 861774"/>
              <a:gd name="connsiteX3" fmla="*/ 1811073 w 3784332"/>
              <a:gd name="connsiteY3" fmla="*/ 0 h 861774"/>
              <a:gd name="connsiteX4" fmla="*/ 2351692 w 3784332"/>
              <a:gd name="connsiteY4" fmla="*/ 0 h 861774"/>
              <a:gd name="connsiteX5" fmla="*/ 2816624 w 3784332"/>
              <a:gd name="connsiteY5" fmla="*/ 0 h 861774"/>
              <a:gd name="connsiteX6" fmla="*/ 3281556 w 3784332"/>
              <a:gd name="connsiteY6" fmla="*/ 0 h 861774"/>
              <a:gd name="connsiteX7" fmla="*/ 3784332 w 3784332"/>
              <a:gd name="connsiteY7" fmla="*/ 0 h 861774"/>
              <a:gd name="connsiteX8" fmla="*/ 3784332 w 3784332"/>
              <a:gd name="connsiteY8" fmla="*/ 448122 h 861774"/>
              <a:gd name="connsiteX9" fmla="*/ 3784332 w 3784332"/>
              <a:gd name="connsiteY9" fmla="*/ 861774 h 861774"/>
              <a:gd name="connsiteX10" fmla="*/ 3357243 w 3784332"/>
              <a:gd name="connsiteY10" fmla="*/ 861774 h 861774"/>
              <a:gd name="connsiteX11" fmla="*/ 2740938 w 3784332"/>
              <a:gd name="connsiteY11" fmla="*/ 861774 h 861774"/>
              <a:gd name="connsiteX12" fmla="*/ 2276005 w 3784332"/>
              <a:gd name="connsiteY12" fmla="*/ 861774 h 861774"/>
              <a:gd name="connsiteX13" fmla="*/ 1659700 w 3784332"/>
              <a:gd name="connsiteY13" fmla="*/ 861774 h 861774"/>
              <a:gd name="connsiteX14" fmla="*/ 1043394 w 3784332"/>
              <a:gd name="connsiteY14" fmla="*/ 861774 h 861774"/>
              <a:gd name="connsiteX15" fmla="*/ 464932 w 3784332"/>
              <a:gd name="connsiteY15" fmla="*/ 861774 h 861774"/>
              <a:gd name="connsiteX16" fmla="*/ 0 w 3784332"/>
              <a:gd name="connsiteY16" fmla="*/ 861774 h 861774"/>
              <a:gd name="connsiteX17" fmla="*/ 0 w 3784332"/>
              <a:gd name="connsiteY17" fmla="*/ 422269 h 861774"/>
              <a:gd name="connsiteX18" fmla="*/ 0 w 3784332"/>
              <a:gd name="connsiteY18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784332" h="861774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785382" y="159120"/>
                  <a:pt x="3764160" y="353239"/>
                  <a:pt x="3784332" y="448122"/>
                </a:cubicBezTo>
                <a:cubicBezTo>
                  <a:pt x="3804504" y="543005"/>
                  <a:pt x="3756998" y="778302"/>
                  <a:pt x="3784332" y="861774"/>
                </a:cubicBezTo>
                <a:cubicBezTo>
                  <a:pt x="3676913" y="879370"/>
                  <a:pt x="3539661" y="826538"/>
                  <a:pt x="3357243" y="861774"/>
                </a:cubicBezTo>
                <a:cubicBezTo>
                  <a:pt x="3174825" y="897010"/>
                  <a:pt x="3033958" y="839695"/>
                  <a:pt x="2740938" y="861774"/>
                </a:cubicBezTo>
                <a:cubicBezTo>
                  <a:pt x="2447918" y="883853"/>
                  <a:pt x="2464942" y="829811"/>
                  <a:pt x="2276005" y="861774"/>
                </a:cubicBezTo>
                <a:cubicBezTo>
                  <a:pt x="2087068" y="893737"/>
                  <a:pt x="1844264" y="804181"/>
                  <a:pt x="1659700" y="861774"/>
                </a:cubicBezTo>
                <a:cubicBezTo>
                  <a:pt x="1475137" y="919367"/>
                  <a:pt x="1172734" y="799634"/>
                  <a:pt x="1043394" y="861774"/>
                </a:cubicBezTo>
                <a:cubicBezTo>
                  <a:pt x="914054" y="923914"/>
                  <a:pt x="610029" y="799759"/>
                  <a:pt x="464932" y="861774"/>
                </a:cubicBezTo>
                <a:cubicBezTo>
                  <a:pt x="319835" y="923789"/>
                  <a:pt x="119991" y="842921"/>
                  <a:pt x="0" y="861774"/>
                </a:cubicBezTo>
                <a:cubicBezTo>
                  <a:pt x="-19973" y="647132"/>
                  <a:pt x="6320" y="557084"/>
                  <a:pt x="0" y="422269"/>
                </a:cubicBezTo>
                <a:cubicBezTo>
                  <a:pt x="-6320" y="287454"/>
                  <a:pt x="41897" y="122388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2</a:t>
            </a:r>
            <a:r>
              <a:rPr lang="en-PH" sz="2500" dirty="0"/>
              <a:t>: Calculate the covariance matrix</a:t>
            </a:r>
          </a:p>
        </p:txBody>
      </p:sp>
    </p:spTree>
    <p:extLst>
      <p:ext uri="{BB962C8B-B14F-4D97-AF65-F5344CB8AC3E}">
        <p14:creationId xmlns:p14="http://schemas.microsoft.com/office/powerpoint/2010/main" val="3406793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7DA39ED-88DE-C6CB-2525-F393792D1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65D930B-6BBD-0F7F-B4F2-6BFDEC4E53DD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A7F8D6-DEA9-61EC-7FB6-EF60303AA0F1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F57AD09-D189-7CF4-C5A1-FF7FBD626EF4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7B1F72CF-89A7-0820-2819-65B214C67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6C26477B-F222-220E-2305-7FA5255B1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516D4900-1769-0FC7-4F91-C49FC494F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C7364EB8-420E-D259-922E-E8AFB8A4F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4D9D73A7-B443-7326-3AD2-E906EE7284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B30FE7AE-7D18-3032-BC4E-CF3A08DA1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22C07E7A-17C2-7725-AA99-1994D97C79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7A0AFAF1-7B93-2C00-02B9-BFBD88C1AB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B27AAF1F-503E-3E82-740E-FBC3BA308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4D26B551-95DE-81DF-3995-E1E008252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997728D-C425-F911-DBB9-4106ED98536A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997728D-C425-F911-DBB9-4106ED985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03EA7E6-5F99-986C-BB68-E7588419C1B8}"/>
              </a:ext>
            </a:extLst>
          </p:cNvPr>
          <p:cNvSpPr txBox="1"/>
          <p:nvPr/>
        </p:nvSpPr>
        <p:spPr>
          <a:xfrm>
            <a:off x="613496" y="5283561"/>
            <a:ext cx="4222101" cy="861774"/>
          </a:xfrm>
          <a:custGeom>
            <a:avLst/>
            <a:gdLst>
              <a:gd name="connsiteX0" fmla="*/ 0 w 4222101"/>
              <a:gd name="connsiteY0" fmla="*/ 0 h 861774"/>
              <a:gd name="connsiteX1" fmla="*/ 612205 w 4222101"/>
              <a:gd name="connsiteY1" fmla="*/ 0 h 861774"/>
              <a:gd name="connsiteX2" fmla="*/ 1224409 w 4222101"/>
              <a:gd name="connsiteY2" fmla="*/ 0 h 861774"/>
              <a:gd name="connsiteX3" fmla="*/ 1794393 w 4222101"/>
              <a:gd name="connsiteY3" fmla="*/ 0 h 861774"/>
              <a:gd name="connsiteX4" fmla="*/ 2322156 w 4222101"/>
              <a:gd name="connsiteY4" fmla="*/ 0 h 861774"/>
              <a:gd name="connsiteX5" fmla="*/ 2765476 w 4222101"/>
              <a:gd name="connsiteY5" fmla="*/ 0 h 861774"/>
              <a:gd name="connsiteX6" fmla="*/ 3208797 w 4222101"/>
              <a:gd name="connsiteY6" fmla="*/ 0 h 861774"/>
              <a:gd name="connsiteX7" fmla="*/ 3652117 w 4222101"/>
              <a:gd name="connsiteY7" fmla="*/ 0 h 861774"/>
              <a:gd name="connsiteX8" fmla="*/ 4222101 w 4222101"/>
              <a:gd name="connsiteY8" fmla="*/ 0 h 861774"/>
              <a:gd name="connsiteX9" fmla="*/ 4222101 w 4222101"/>
              <a:gd name="connsiteY9" fmla="*/ 448122 h 861774"/>
              <a:gd name="connsiteX10" fmla="*/ 4222101 w 4222101"/>
              <a:gd name="connsiteY10" fmla="*/ 861774 h 861774"/>
              <a:gd name="connsiteX11" fmla="*/ 3821001 w 4222101"/>
              <a:gd name="connsiteY11" fmla="*/ 861774 h 861774"/>
              <a:gd name="connsiteX12" fmla="*/ 3377681 w 4222101"/>
              <a:gd name="connsiteY12" fmla="*/ 861774 h 861774"/>
              <a:gd name="connsiteX13" fmla="*/ 2765476 w 4222101"/>
              <a:gd name="connsiteY13" fmla="*/ 861774 h 861774"/>
              <a:gd name="connsiteX14" fmla="*/ 2153272 w 4222101"/>
              <a:gd name="connsiteY14" fmla="*/ 861774 h 861774"/>
              <a:gd name="connsiteX15" fmla="*/ 1583288 w 4222101"/>
              <a:gd name="connsiteY15" fmla="*/ 861774 h 861774"/>
              <a:gd name="connsiteX16" fmla="*/ 1097746 w 4222101"/>
              <a:gd name="connsiteY16" fmla="*/ 861774 h 861774"/>
              <a:gd name="connsiteX17" fmla="*/ 527763 w 4222101"/>
              <a:gd name="connsiteY17" fmla="*/ 861774 h 861774"/>
              <a:gd name="connsiteX18" fmla="*/ 0 w 4222101"/>
              <a:gd name="connsiteY18" fmla="*/ 861774 h 861774"/>
              <a:gd name="connsiteX19" fmla="*/ 0 w 4222101"/>
              <a:gd name="connsiteY19" fmla="*/ 439505 h 861774"/>
              <a:gd name="connsiteX20" fmla="*/ 0 w 4222101"/>
              <a:gd name="connsiteY20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222101" h="861774" extrusionOk="0">
                <a:moveTo>
                  <a:pt x="0" y="0"/>
                </a:moveTo>
                <a:cubicBezTo>
                  <a:pt x="207036" y="-29582"/>
                  <a:pt x="427371" y="884"/>
                  <a:pt x="612205" y="0"/>
                </a:cubicBezTo>
                <a:cubicBezTo>
                  <a:pt x="797040" y="-884"/>
                  <a:pt x="1086232" y="69901"/>
                  <a:pt x="1224409" y="0"/>
                </a:cubicBezTo>
                <a:cubicBezTo>
                  <a:pt x="1362586" y="-69901"/>
                  <a:pt x="1643250" y="63956"/>
                  <a:pt x="1794393" y="0"/>
                </a:cubicBezTo>
                <a:cubicBezTo>
                  <a:pt x="1945536" y="-63956"/>
                  <a:pt x="2155834" y="13377"/>
                  <a:pt x="2322156" y="0"/>
                </a:cubicBezTo>
                <a:cubicBezTo>
                  <a:pt x="2488478" y="-13377"/>
                  <a:pt x="2590138" y="13070"/>
                  <a:pt x="2765476" y="0"/>
                </a:cubicBezTo>
                <a:cubicBezTo>
                  <a:pt x="2940814" y="-13070"/>
                  <a:pt x="3059894" y="28776"/>
                  <a:pt x="3208797" y="0"/>
                </a:cubicBezTo>
                <a:cubicBezTo>
                  <a:pt x="3357700" y="-28776"/>
                  <a:pt x="3538191" y="12212"/>
                  <a:pt x="3652117" y="0"/>
                </a:cubicBezTo>
                <a:cubicBezTo>
                  <a:pt x="3766043" y="-12212"/>
                  <a:pt x="3990823" y="45604"/>
                  <a:pt x="4222101" y="0"/>
                </a:cubicBezTo>
                <a:cubicBezTo>
                  <a:pt x="4260692" y="221970"/>
                  <a:pt x="4179486" y="347530"/>
                  <a:pt x="4222101" y="448122"/>
                </a:cubicBezTo>
                <a:cubicBezTo>
                  <a:pt x="4264716" y="548714"/>
                  <a:pt x="4176985" y="741709"/>
                  <a:pt x="4222101" y="861774"/>
                </a:cubicBezTo>
                <a:cubicBezTo>
                  <a:pt x="4026180" y="908887"/>
                  <a:pt x="3949563" y="854601"/>
                  <a:pt x="3821001" y="861774"/>
                </a:cubicBezTo>
                <a:cubicBezTo>
                  <a:pt x="3692439" y="868947"/>
                  <a:pt x="3527080" y="820296"/>
                  <a:pt x="3377681" y="861774"/>
                </a:cubicBezTo>
                <a:cubicBezTo>
                  <a:pt x="3228282" y="903252"/>
                  <a:pt x="3009277" y="797622"/>
                  <a:pt x="2765476" y="861774"/>
                </a:cubicBezTo>
                <a:cubicBezTo>
                  <a:pt x="2521675" y="925926"/>
                  <a:pt x="2350227" y="797633"/>
                  <a:pt x="2153272" y="861774"/>
                </a:cubicBezTo>
                <a:cubicBezTo>
                  <a:pt x="1956317" y="925915"/>
                  <a:pt x="1832013" y="861213"/>
                  <a:pt x="1583288" y="861774"/>
                </a:cubicBezTo>
                <a:cubicBezTo>
                  <a:pt x="1334563" y="862335"/>
                  <a:pt x="1241566" y="817560"/>
                  <a:pt x="1097746" y="861774"/>
                </a:cubicBezTo>
                <a:cubicBezTo>
                  <a:pt x="953926" y="905988"/>
                  <a:pt x="707035" y="844341"/>
                  <a:pt x="527763" y="861774"/>
                </a:cubicBezTo>
                <a:cubicBezTo>
                  <a:pt x="348491" y="879207"/>
                  <a:pt x="189093" y="816628"/>
                  <a:pt x="0" y="861774"/>
                </a:cubicBezTo>
                <a:cubicBezTo>
                  <a:pt x="-20715" y="716918"/>
                  <a:pt x="21744" y="615894"/>
                  <a:pt x="0" y="439505"/>
                </a:cubicBezTo>
                <a:cubicBezTo>
                  <a:pt x="-21744" y="263116"/>
                  <a:pt x="35033" y="16582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3</a:t>
            </a:r>
            <a:r>
              <a:rPr lang="en-PH" sz="2500" dirty="0"/>
              <a:t>: Get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8681C-EA34-CF96-9B68-244BE710D1DE}"/>
                  </a:ext>
                </a:extLst>
              </p:cNvPr>
              <p:cNvSpPr txBox="1"/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8681C-EA34-CF96-9B68-244BE710D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blipFill>
                <a:blip r:embed="rId4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B0E4C7-0DFC-E456-6D7B-EB030AEE8E1E}"/>
                  </a:ext>
                </a:extLst>
              </p:cNvPr>
              <p:cNvSpPr txBox="1"/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B0E4C7-0DFC-E456-6D7B-EB030AEE8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blipFill>
                <a:blip r:embed="rId5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52B669-F3D3-DCA3-E5D0-7CBCBE2FA2C0}"/>
                  </a:ext>
                </a:extLst>
              </p:cNvPr>
              <p:cNvSpPr txBox="1"/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52B669-F3D3-DCA3-E5D0-7CBCBE2FA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blipFill>
                <a:blip r:embed="rId6"/>
                <a:stretch>
                  <a:fillRect l="-18519" r="-16667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9F72EC-5D35-76BE-9026-68971319E858}"/>
                  </a:ext>
                </a:extLst>
              </p:cNvPr>
              <p:cNvSpPr txBox="1"/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9F72EC-5D35-76BE-9026-68971319E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blipFill>
                <a:blip r:embed="rId7"/>
                <a:stretch>
                  <a:fillRect l="-32258" r="-29032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5FCD17F-682A-88CE-8EB3-5378394BA402}"/>
              </a:ext>
            </a:extLst>
          </p:cNvPr>
          <p:cNvSpPr txBox="1"/>
          <p:nvPr/>
        </p:nvSpPr>
        <p:spPr>
          <a:xfrm>
            <a:off x="7641555" y="4306353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80143-350B-0559-E868-48BF81D8B38F}"/>
              </a:ext>
            </a:extLst>
          </p:cNvPr>
          <p:cNvSpPr txBox="1"/>
          <p:nvPr/>
        </p:nvSpPr>
        <p:spPr>
          <a:xfrm>
            <a:off x="7594199" y="5536518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2D2231-ACAA-7A7A-028B-111F4E934FEF}"/>
              </a:ext>
            </a:extLst>
          </p:cNvPr>
          <p:cNvCxnSpPr>
            <a:cxnSpLocks/>
          </p:cNvCxnSpPr>
          <p:nvPr/>
        </p:nvCxnSpPr>
        <p:spPr>
          <a:xfrm flipV="1">
            <a:off x="6188533" y="1720007"/>
            <a:ext cx="2346579" cy="13311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ABE0653-1141-9DFC-D0BB-A4723FAC44C2}"/>
              </a:ext>
            </a:extLst>
          </p:cNvPr>
          <p:cNvCxnSpPr>
            <a:cxnSpLocks/>
          </p:cNvCxnSpPr>
          <p:nvPr/>
        </p:nvCxnSpPr>
        <p:spPr>
          <a:xfrm flipH="1" flipV="1">
            <a:off x="5650806" y="2459755"/>
            <a:ext cx="460559" cy="59144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3288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/>
      <p:bldP spid="8" grpId="0"/>
      <p:bldP spid="11" grpId="0"/>
      <p:bldP spid="12" grpId="0" animBg="1"/>
      <p:bldP spid="1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45D1173-9014-26BB-4354-45E13FB1B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B6801F6-ACA3-8B24-9176-6772B7DE1520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8E41704-30FB-3C2B-7BBC-4EC223B5C0C0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EA3C68F-32E0-6B54-1B57-121137610F0E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06B1C665-F6CE-A1AC-03CC-87A4BE9582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7F6381FB-170B-79A8-6824-ECD12840E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247F000A-61C4-7ABE-6369-BD332E0E4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FE69D1C5-E241-71F2-D45E-221E8F30C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B56FDAE7-81E3-70E9-D9A9-F212E059C6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3FEF847C-4678-B7CD-84F6-59F8943588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14890F5F-505F-7521-9303-B6B1A58BA7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BB2114FA-7C86-1E82-58D1-F8380E8C6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EA0CB6C7-A9D2-4B62-C48A-EDBD439AE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4A2E37EC-E4E1-6189-3D92-725945B5A7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C7C28D7-60B4-1230-94E2-230AE804C307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C7C28D7-60B4-1230-94E2-230AE804C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CCFB5FA-6BC2-5395-157B-4C6A11EB4189}"/>
              </a:ext>
            </a:extLst>
          </p:cNvPr>
          <p:cNvSpPr txBox="1"/>
          <p:nvPr/>
        </p:nvSpPr>
        <p:spPr>
          <a:xfrm>
            <a:off x="613496" y="5283561"/>
            <a:ext cx="4222101" cy="1246495"/>
          </a:xfrm>
          <a:custGeom>
            <a:avLst/>
            <a:gdLst>
              <a:gd name="connsiteX0" fmla="*/ 0 w 4222101"/>
              <a:gd name="connsiteY0" fmla="*/ 0 h 1246495"/>
              <a:gd name="connsiteX1" fmla="*/ 612205 w 4222101"/>
              <a:gd name="connsiteY1" fmla="*/ 0 h 1246495"/>
              <a:gd name="connsiteX2" fmla="*/ 1224409 w 4222101"/>
              <a:gd name="connsiteY2" fmla="*/ 0 h 1246495"/>
              <a:gd name="connsiteX3" fmla="*/ 1794393 w 4222101"/>
              <a:gd name="connsiteY3" fmla="*/ 0 h 1246495"/>
              <a:gd name="connsiteX4" fmla="*/ 2322156 w 4222101"/>
              <a:gd name="connsiteY4" fmla="*/ 0 h 1246495"/>
              <a:gd name="connsiteX5" fmla="*/ 2765476 w 4222101"/>
              <a:gd name="connsiteY5" fmla="*/ 0 h 1246495"/>
              <a:gd name="connsiteX6" fmla="*/ 3208797 w 4222101"/>
              <a:gd name="connsiteY6" fmla="*/ 0 h 1246495"/>
              <a:gd name="connsiteX7" fmla="*/ 3652117 w 4222101"/>
              <a:gd name="connsiteY7" fmla="*/ 0 h 1246495"/>
              <a:gd name="connsiteX8" fmla="*/ 4222101 w 4222101"/>
              <a:gd name="connsiteY8" fmla="*/ 0 h 1246495"/>
              <a:gd name="connsiteX9" fmla="*/ 4222101 w 4222101"/>
              <a:gd name="connsiteY9" fmla="*/ 440428 h 1246495"/>
              <a:gd name="connsiteX10" fmla="*/ 4222101 w 4222101"/>
              <a:gd name="connsiteY10" fmla="*/ 818532 h 1246495"/>
              <a:gd name="connsiteX11" fmla="*/ 4222101 w 4222101"/>
              <a:gd name="connsiteY11" fmla="*/ 1246495 h 1246495"/>
              <a:gd name="connsiteX12" fmla="*/ 3821001 w 4222101"/>
              <a:gd name="connsiteY12" fmla="*/ 1246495 h 1246495"/>
              <a:gd name="connsiteX13" fmla="*/ 3208797 w 4222101"/>
              <a:gd name="connsiteY13" fmla="*/ 1246495 h 1246495"/>
              <a:gd name="connsiteX14" fmla="*/ 2596592 w 4222101"/>
              <a:gd name="connsiteY14" fmla="*/ 1246495 h 1246495"/>
              <a:gd name="connsiteX15" fmla="*/ 2026608 w 4222101"/>
              <a:gd name="connsiteY15" fmla="*/ 1246495 h 1246495"/>
              <a:gd name="connsiteX16" fmla="*/ 1541067 w 4222101"/>
              <a:gd name="connsiteY16" fmla="*/ 1246495 h 1246495"/>
              <a:gd name="connsiteX17" fmla="*/ 971083 w 4222101"/>
              <a:gd name="connsiteY17" fmla="*/ 1246495 h 1246495"/>
              <a:gd name="connsiteX18" fmla="*/ 0 w 4222101"/>
              <a:gd name="connsiteY18" fmla="*/ 1246495 h 1246495"/>
              <a:gd name="connsiteX19" fmla="*/ 0 w 4222101"/>
              <a:gd name="connsiteY19" fmla="*/ 843462 h 1246495"/>
              <a:gd name="connsiteX20" fmla="*/ 0 w 4222101"/>
              <a:gd name="connsiteY20" fmla="*/ 427963 h 1246495"/>
              <a:gd name="connsiteX21" fmla="*/ 0 w 4222101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222101" h="1246495" extrusionOk="0">
                <a:moveTo>
                  <a:pt x="0" y="0"/>
                </a:moveTo>
                <a:cubicBezTo>
                  <a:pt x="207036" y="-29582"/>
                  <a:pt x="427371" y="884"/>
                  <a:pt x="612205" y="0"/>
                </a:cubicBezTo>
                <a:cubicBezTo>
                  <a:pt x="797040" y="-884"/>
                  <a:pt x="1086232" y="69901"/>
                  <a:pt x="1224409" y="0"/>
                </a:cubicBezTo>
                <a:cubicBezTo>
                  <a:pt x="1362586" y="-69901"/>
                  <a:pt x="1643250" y="63956"/>
                  <a:pt x="1794393" y="0"/>
                </a:cubicBezTo>
                <a:cubicBezTo>
                  <a:pt x="1945536" y="-63956"/>
                  <a:pt x="2155834" y="13377"/>
                  <a:pt x="2322156" y="0"/>
                </a:cubicBezTo>
                <a:cubicBezTo>
                  <a:pt x="2488478" y="-13377"/>
                  <a:pt x="2590138" y="13070"/>
                  <a:pt x="2765476" y="0"/>
                </a:cubicBezTo>
                <a:cubicBezTo>
                  <a:pt x="2940814" y="-13070"/>
                  <a:pt x="3059894" y="28776"/>
                  <a:pt x="3208797" y="0"/>
                </a:cubicBezTo>
                <a:cubicBezTo>
                  <a:pt x="3357700" y="-28776"/>
                  <a:pt x="3538191" y="12212"/>
                  <a:pt x="3652117" y="0"/>
                </a:cubicBezTo>
                <a:cubicBezTo>
                  <a:pt x="3766043" y="-12212"/>
                  <a:pt x="3990823" y="45604"/>
                  <a:pt x="4222101" y="0"/>
                </a:cubicBezTo>
                <a:cubicBezTo>
                  <a:pt x="4239465" y="209551"/>
                  <a:pt x="4181880" y="243367"/>
                  <a:pt x="4222101" y="440428"/>
                </a:cubicBezTo>
                <a:cubicBezTo>
                  <a:pt x="4262322" y="637489"/>
                  <a:pt x="4204776" y="689276"/>
                  <a:pt x="4222101" y="818532"/>
                </a:cubicBezTo>
                <a:cubicBezTo>
                  <a:pt x="4239426" y="947788"/>
                  <a:pt x="4219216" y="1129850"/>
                  <a:pt x="4222101" y="1246495"/>
                </a:cubicBezTo>
                <a:cubicBezTo>
                  <a:pt x="4034129" y="1273098"/>
                  <a:pt x="3955442" y="1219050"/>
                  <a:pt x="3821001" y="1246495"/>
                </a:cubicBezTo>
                <a:cubicBezTo>
                  <a:pt x="3686560" y="1273940"/>
                  <a:pt x="3449952" y="1177146"/>
                  <a:pt x="3208797" y="1246495"/>
                </a:cubicBezTo>
                <a:cubicBezTo>
                  <a:pt x="2967642" y="1315844"/>
                  <a:pt x="2795109" y="1186393"/>
                  <a:pt x="2596592" y="1246495"/>
                </a:cubicBezTo>
                <a:cubicBezTo>
                  <a:pt x="2398076" y="1306597"/>
                  <a:pt x="2275333" y="1245934"/>
                  <a:pt x="2026608" y="1246495"/>
                </a:cubicBezTo>
                <a:cubicBezTo>
                  <a:pt x="1777883" y="1247056"/>
                  <a:pt x="1680068" y="1201254"/>
                  <a:pt x="1541067" y="1246495"/>
                </a:cubicBezTo>
                <a:cubicBezTo>
                  <a:pt x="1402066" y="1291736"/>
                  <a:pt x="1155913" y="1235966"/>
                  <a:pt x="971083" y="1246495"/>
                </a:cubicBezTo>
                <a:cubicBezTo>
                  <a:pt x="786253" y="1257024"/>
                  <a:pt x="348340" y="1195833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4</a:t>
            </a:r>
            <a:r>
              <a:rPr lang="en-PH" sz="2500" dirty="0"/>
              <a:t>: Choose the most important </a:t>
            </a:r>
            <a:r>
              <a:rPr lang="en-PH" sz="2500" b="1" dirty="0"/>
              <a:t>eigenvector</a:t>
            </a:r>
            <a:r>
              <a:rPr lang="en-PH" sz="2500" dirty="0"/>
              <a:t> and </a:t>
            </a:r>
            <a:r>
              <a:rPr lang="en-PH" sz="2500" b="1" dirty="0"/>
              <a:t>eigenvalue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68C133-C444-C0E0-2A9E-C5785BFBE372}"/>
                  </a:ext>
                </a:extLst>
              </p:cNvPr>
              <p:cNvSpPr txBox="1"/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68C133-C444-C0E0-2A9E-C5785BFBE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blipFill>
                <a:blip r:embed="rId4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825A2A-52E4-DFAF-C5D8-1F6E183989BA}"/>
                  </a:ext>
                </a:extLst>
              </p:cNvPr>
              <p:cNvSpPr txBox="1"/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825A2A-52E4-DFAF-C5D8-1F6E18398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blipFill>
                <a:blip r:embed="rId5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F02AA2-C72D-319A-E2DC-1617B37983D6}"/>
                  </a:ext>
                </a:extLst>
              </p:cNvPr>
              <p:cNvSpPr txBox="1"/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F02AA2-C72D-319A-E2DC-1617B3798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blipFill>
                <a:blip r:embed="rId6"/>
                <a:stretch>
                  <a:fillRect l="-18519" r="-16667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73FE62-7511-5CAD-4759-1045EAC85823}"/>
                  </a:ext>
                </a:extLst>
              </p:cNvPr>
              <p:cNvSpPr txBox="1"/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73FE62-7511-5CAD-4759-1045EAC85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blipFill>
                <a:blip r:embed="rId7"/>
                <a:stretch>
                  <a:fillRect l="-32258" r="-29032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1C5FD50-A418-52B1-6124-B6A4DAEB9CBE}"/>
              </a:ext>
            </a:extLst>
          </p:cNvPr>
          <p:cNvSpPr txBox="1"/>
          <p:nvPr/>
        </p:nvSpPr>
        <p:spPr>
          <a:xfrm>
            <a:off x="7641555" y="4306353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5332EA-8D2F-57EA-BA04-B408D014B5FB}"/>
              </a:ext>
            </a:extLst>
          </p:cNvPr>
          <p:cNvSpPr txBox="1"/>
          <p:nvPr/>
        </p:nvSpPr>
        <p:spPr>
          <a:xfrm>
            <a:off x="7594199" y="5536518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4D69EC-3C7B-71AF-A666-68D781191868}"/>
              </a:ext>
            </a:extLst>
          </p:cNvPr>
          <p:cNvCxnSpPr>
            <a:cxnSpLocks/>
          </p:cNvCxnSpPr>
          <p:nvPr/>
        </p:nvCxnSpPr>
        <p:spPr>
          <a:xfrm flipV="1">
            <a:off x="6188533" y="1720007"/>
            <a:ext cx="2346579" cy="13311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92A0DA-D0C2-120B-126B-DD87BC2BC1BF}"/>
              </a:ext>
            </a:extLst>
          </p:cNvPr>
          <p:cNvCxnSpPr>
            <a:cxnSpLocks/>
          </p:cNvCxnSpPr>
          <p:nvPr/>
        </p:nvCxnSpPr>
        <p:spPr>
          <a:xfrm flipH="1" flipV="1">
            <a:off x="5650806" y="2459755"/>
            <a:ext cx="460559" cy="59144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475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  <p:bldP spid="1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0EB84A87-DA4A-8B8C-132B-FC7A0BD87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2D62C84-A6D6-1AC3-9B91-5C88C957C235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68103E-8026-4CE1-831B-96A4186D0BCE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48BE51A6-18B2-B9ED-EDCC-D2F31F00F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36025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4558166E-447B-9C2B-DFA4-249414562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FC206B63-4523-AD47-3F7B-0385444A4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FA03404D-C72C-3591-C2F9-94647CB93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904229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CCA0C4FD-5EBA-B684-889C-239A0532F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3238016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C47BDEC7-EF55-451C-3905-CB10064A6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573302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827E02D4-BE83-3778-0CA6-D51802416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2757067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DBEDD228-2B58-69F1-899D-4703A297B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291916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BB01097B-551D-5355-1DB4-DCC716746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2622843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7B94A14-9D47-389C-0CEB-A8CEBFD8A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1846021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CEC269-C252-6805-D784-A1AB3EA5B355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2B8FC67-78C3-BBA7-2F48-10F40FDB1727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3075143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2.96296E-6 L 2.08333E-7 0.0604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00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04167E-6 -1.11111E-6 L 1.04167E-6 -0.0294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481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1.48148E-6 L -0.00013 -0.0412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06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0 L -2.5E-6 0.07454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727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4.07407E-6 L 4.16667E-6 0.08518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25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1.11111E-6 L -3.33333E-6 -0.1085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44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3.7037E-7 L 2.5E-6 0.04676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338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4.07407E-6 L -2.08333E-7 -0.10162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0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6CAEB2B-B4F2-FE94-C515-AA090D081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6779551-92B3-D431-1B1E-2C802E3AE240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423303-3F56-3212-A988-058F07D2BCB4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69EDA3BB-6F78-0053-620A-B2E0C4599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36025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6F800858-7145-1CAB-B462-E9CC7D7BE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8A691580-13AA-3CCF-EAF1-0C15D3164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3E04F09E-73ED-2B55-4963-603A50DD5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904229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F99A0F75-2609-7957-6E69-3581186F1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3238016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D1D6EE6-B65E-5179-F3D6-9F8677746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573302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79BE0DCB-851A-E8FF-3AF0-F56A3FE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2757067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856BFB91-1426-DDD9-FA1E-FA87E18BA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291916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21195315-8670-8BC4-5907-87C3A392D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2622843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EFAD5A11-44BA-7BA9-CEAE-9205C48B2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1846021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49F3801-D1DA-A63B-1B6F-F432968A6402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C55D093-63F6-9907-01F7-DCA6CF0D96A8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41957721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B0F328E-38B0-6627-FFE0-58038249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4D89100-C28D-FDAB-B634-DECFA14DDBE9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4A2F814-1922-1DCE-9287-90A1E43E61D2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1E874E36-55FA-90E7-5DC0-B7317F3AE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78181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92F9494C-32B9-09A9-0B60-8ED18F49E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9D011D70-D2EA-7CED-275C-14771ADA7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38C39DB0-7D24-628F-2F75-FC6B3D411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676457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D5FE9D20-5785-9CB0-D92E-61F488805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244739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BC74F2D-D1C3-203C-7B8B-2C14E61F7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261386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DB375E00-0545-520E-1FA5-2CEDAC76C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227938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80961D34-E02C-3D95-0290-7C6D87652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859262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B845FF88-25B3-4A55-5135-48B40EE1F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1985966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DC14BFE-E425-E020-389C-E63F04278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2137716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D0C66D6-CEA6-D586-86DD-0C4E57828D35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71FB489-42ED-D5F3-34F2-317F6BCE360D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35162275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3978</TotalTime>
  <Words>1568</Words>
  <Application>Microsoft Office PowerPoint</Application>
  <PresentationFormat>Widescreen</PresentationFormat>
  <Paragraphs>404</Paragraphs>
  <Slides>59</Slides>
  <Notes>4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5" baseType="lpstr">
      <vt:lpstr>Aptos</vt:lpstr>
      <vt:lpstr>Aptos Display</vt:lpstr>
      <vt:lpstr>Arial</vt:lpstr>
      <vt:lpstr>Cambria Math</vt:lpstr>
      <vt:lpstr>Wingdings</vt:lpstr>
      <vt:lpstr>Office Theme</vt:lpstr>
      <vt:lpstr>Principal Component Analysis (Math)</vt:lpstr>
      <vt:lpstr>PowerPoint Presentation</vt:lpstr>
      <vt:lpstr>Projecting Data </vt:lpstr>
      <vt:lpstr>Projecting Data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</vt:lpstr>
      <vt:lpstr>PowerPoint Presentation</vt:lpstr>
      <vt:lpstr>Mean</vt:lpstr>
      <vt:lpstr>Variance in One Dimension</vt:lpstr>
      <vt:lpstr>Variance in One Dimension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Covariance Matrix</vt:lpstr>
      <vt:lpstr>Covariance Matrix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458</cp:revision>
  <dcterms:created xsi:type="dcterms:W3CDTF">2024-08-08T01:29:50Z</dcterms:created>
  <dcterms:modified xsi:type="dcterms:W3CDTF">2025-12-12T03:14:38Z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