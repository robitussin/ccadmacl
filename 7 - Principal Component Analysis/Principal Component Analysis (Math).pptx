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3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notesSlides/notesSlide4.xml" ContentType="application/vnd.openxmlformats-officedocument.presentationml.notesSlid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drawings/drawing1.xml" ContentType="application/vnd.openxmlformats-officedocument.drawingml.chartshapes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7" r:id="rId2"/>
    <p:sldId id="263" r:id="rId3"/>
    <p:sldId id="337" r:id="rId4"/>
    <p:sldId id="338" r:id="rId5"/>
    <p:sldId id="265" r:id="rId6"/>
    <p:sldId id="266" r:id="rId7"/>
    <p:sldId id="267" r:id="rId8"/>
    <p:sldId id="268" r:id="rId9"/>
    <p:sldId id="269" r:id="rId10"/>
    <p:sldId id="270" r:id="rId11"/>
    <p:sldId id="318" r:id="rId12"/>
    <p:sldId id="341" r:id="rId13"/>
    <p:sldId id="322" r:id="rId14"/>
    <p:sldId id="323" r:id="rId15"/>
    <p:sldId id="324" r:id="rId16"/>
    <p:sldId id="274" r:id="rId17"/>
    <p:sldId id="275" r:id="rId18"/>
    <p:sldId id="276" r:id="rId19"/>
    <p:sldId id="277" r:id="rId20"/>
    <p:sldId id="278" r:id="rId21"/>
    <p:sldId id="314" r:id="rId22"/>
    <p:sldId id="313" r:id="rId23"/>
    <p:sldId id="312" r:id="rId24"/>
    <p:sldId id="281" r:id="rId25"/>
    <p:sldId id="282" r:id="rId26"/>
    <p:sldId id="283" r:id="rId27"/>
    <p:sldId id="309" r:id="rId28"/>
    <p:sldId id="284" r:id="rId29"/>
    <p:sldId id="285" r:id="rId30"/>
    <p:sldId id="339" r:id="rId31"/>
    <p:sldId id="286" r:id="rId32"/>
    <p:sldId id="340" r:id="rId33"/>
    <p:sldId id="287" r:id="rId34"/>
    <p:sldId id="289" r:id="rId35"/>
    <p:sldId id="342" r:id="rId36"/>
    <p:sldId id="352" r:id="rId37"/>
    <p:sldId id="358" r:id="rId38"/>
    <p:sldId id="353" r:id="rId39"/>
    <p:sldId id="354" r:id="rId40"/>
    <p:sldId id="355" r:id="rId41"/>
    <p:sldId id="356" r:id="rId42"/>
    <p:sldId id="357" r:id="rId43"/>
    <p:sldId id="307" r:id="rId44"/>
    <p:sldId id="344" r:id="rId45"/>
    <p:sldId id="347" r:id="rId46"/>
    <p:sldId id="348" r:id="rId47"/>
    <p:sldId id="345" r:id="rId48"/>
    <p:sldId id="346" r:id="rId49"/>
    <p:sldId id="349" r:id="rId50"/>
    <p:sldId id="343" r:id="rId51"/>
    <p:sldId id="350" r:id="rId52"/>
    <p:sldId id="291" r:id="rId53"/>
    <p:sldId id="296" r:id="rId54"/>
    <p:sldId id="295" r:id="rId55"/>
    <p:sldId id="294" r:id="rId56"/>
    <p:sldId id="298" r:id="rId57"/>
    <p:sldId id="299" r:id="rId58"/>
    <p:sldId id="300" r:id="rId59"/>
    <p:sldId id="325" r:id="rId60"/>
    <p:sldId id="326" r:id="rId61"/>
    <p:sldId id="333" r:id="rId62"/>
    <p:sldId id="334" r:id="rId63"/>
    <p:sldId id="335" r:id="rId64"/>
    <p:sldId id="328" r:id="rId65"/>
    <p:sldId id="329" r:id="rId66"/>
    <p:sldId id="331" r:id="rId67"/>
    <p:sldId id="332" r:id="rId68"/>
    <p:sldId id="351" r:id="rId69"/>
    <p:sldId id="301" r:id="rId70"/>
    <p:sldId id="302" r:id="rId71"/>
    <p:sldId id="303" r:id="rId72"/>
    <p:sldId id="304" r:id="rId73"/>
    <p:sldId id="305" r:id="rId74"/>
    <p:sldId id="320" r:id="rId75"/>
    <p:sldId id="321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85"/>
    <p:restoredTop sz="93729" autoAdjust="0"/>
  </p:normalViewPr>
  <p:slideViewPr>
    <p:cSldViewPr snapToGrid="0">
      <p:cViewPr varScale="1">
        <p:scale>
          <a:sx n="153" d="100"/>
          <a:sy n="153" d="100"/>
        </p:scale>
        <p:origin x="136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Relationship Id="rId4" Type="http://schemas.openxmlformats.org/officeDocument/2006/relationships/chartUserShapes" Target="../drawings/drawing1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2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-4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4</c:v>
                </c:pt>
                <c:pt idx="1">
                  <c:v>-9</c:v>
                </c:pt>
                <c:pt idx="2">
                  <c:v>-4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3</c:v>
                </c:pt>
                <c:pt idx="1">
                  <c:v>-4</c:v>
                </c:pt>
                <c:pt idx="2">
                  <c:v>-3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E78-4C15-B614-87F6FE12CA00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2E78-4C15-B614-87F6FE12CA00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2E78-4C15-B614-87F6FE12CA00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E78-4C15-B614-87F6FE12CA00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2E78-4C15-B614-87F6FE12CA00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2E78-4C15-B614-87F6FE12CA00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2E78-4C15-B614-87F6FE12CA00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2E78-4C15-B614-87F6FE12CA00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78-4C15-B614-87F6FE12CA00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2E78-4C15-B614-87F6FE12C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CF3-4B03-BE85-4FE2B3179021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CF3-4B03-BE85-4FE2B3179021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CF3-4B03-BE85-4FE2B3179021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DCF3-4B03-BE85-4FE2B3179021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DCF3-4B03-BE85-4FE2B3179021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DCF3-4B03-BE85-4FE2B3179021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DCF3-4B03-BE85-4FE2B3179021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DCF3-4B03-BE85-4FE2B3179021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DCF3-4B03-BE85-4FE2B3179021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DCF3-4B03-BE85-4FE2B31790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E78-4C15-B614-87F6FE12CA00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2E78-4C15-B614-87F6FE12CA00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2E78-4C15-B614-87F6FE12CA00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E78-4C15-B614-87F6FE12CA00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2E78-4C15-B614-87F6FE12CA00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2E78-4C15-B614-87F6FE12CA00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2E78-4C15-B614-87F6FE12CA00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2E78-4C15-B614-87F6FE12CA00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78-4C15-B614-87F6FE12CA00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2E78-4C15-B614-87F6FE12C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CF3-4B03-BE85-4FE2B3179021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CF3-4B03-BE85-4FE2B3179021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CF3-4B03-BE85-4FE2B3179021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DCF3-4B03-BE85-4FE2B3179021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DCF3-4B03-BE85-4FE2B3179021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DCF3-4B03-BE85-4FE2B3179021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DCF3-4B03-BE85-4FE2B3179021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DCF3-4B03-BE85-4FE2B3179021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DCF3-4B03-BE85-4FE2B3179021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DCF3-4B03-BE85-4FE2B31790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rgbClr val="FF000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E78-4C15-B614-87F6FE12CA00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2E78-4C15-B614-87F6FE12CA00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2E78-4C15-B614-87F6FE12CA00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E78-4C15-B614-87F6FE12CA00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2E78-4C15-B614-87F6FE12CA00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2E78-4C15-B614-87F6FE12CA00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2E78-4C15-B614-87F6FE12CA00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2E78-4C15-B614-87F6FE12CA00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78-4C15-B614-87F6FE12CA00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2E78-4C15-B614-87F6FE12C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19D0-423D-9D33-9204B99388CD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19D0-423D-9D33-9204B99388CD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19D0-423D-9D33-9204B99388CD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19D0-423D-9D33-9204B99388CD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19D0-423D-9D33-9204B99388CD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19D0-423D-9D33-9204B99388CD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19D0-423D-9D33-9204B99388CD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19D0-423D-9D33-9204B99388CD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19D0-423D-9D33-9204B99388CD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19D0-423D-9D33-9204B99388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rgbClr val="FF000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E78-4C15-B614-87F6FE12CA00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2E78-4C15-B614-87F6FE12CA00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2E78-4C15-B614-87F6FE12CA00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E78-4C15-B614-87F6FE12CA00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2E78-4C15-B614-87F6FE12CA00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2E78-4C15-B614-87F6FE12CA00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2E78-4C15-B614-87F6FE12CA00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2E78-4C15-B614-87F6FE12CA00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78-4C15-B614-87F6FE12CA00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2E78-4C15-B614-87F6FE12C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19D0-423D-9D33-9204B99388CD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19D0-423D-9D33-9204B99388CD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19D0-423D-9D33-9204B99388CD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19D0-423D-9D33-9204B99388CD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19D0-423D-9D33-9204B99388CD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19D0-423D-9D33-9204B99388CD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19D0-423D-9D33-9204B99388CD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19D0-423D-9D33-9204B99388CD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19D0-423D-9D33-9204B99388CD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19D0-423D-9D33-9204B99388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rgbClr val="FF000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E78-4C15-B614-87F6FE12CA00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2E78-4C15-B614-87F6FE12CA00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2E78-4C15-B614-87F6FE12CA00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E78-4C15-B614-87F6FE12CA00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2E78-4C15-B614-87F6FE12CA00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2E78-4C15-B614-87F6FE12CA00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2E78-4C15-B614-87F6FE12CA00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2E78-4C15-B614-87F6FE12CA00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78-4C15-B614-87F6FE12CA00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2E78-4C15-B614-87F6FE12C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19D0-423D-9D33-9204B99388CD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19D0-423D-9D33-9204B99388CD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19D0-423D-9D33-9204B99388CD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19D0-423D-9D33-9204B99388CD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19D0-423D-9D33-9204B99388CD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19D0-423D-9D33-9204B99388CD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19D0-423D-9D33-9204B99388CD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19D0-423D-9D33-9204B99388CD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19D0-423D-9D33-9204B99388CD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19D0-423D-9D33-9204B99388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rgbClr val="FF000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E78-4C15-B614-87F6FE12CA00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2E78-4C15-B614-87F6FE12CA00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2E78-4C15-B614-87F6FE12CA00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E78-4C15-B614-87F6FE12CA00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2E78-4C15-B614-87F6FE12CA00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2E78-4C15-B614-87F6FE12CA00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2E78-4C15-B614-87F6FE12CA00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2E78-4C15-B614-87F6FE12CA00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78-4C15-B614-87F6FE12CA00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2E78-4C15-B614-87F6FE12C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19D0-423D-9D33-9204B99388CD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19D0-423D-9D33-9204B99388CD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19D0-423D-9D33-9204B99388CD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19D0-423D-9D33-9204B99388CD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19D0-423D-9D33-9204B99388CD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19D0-423D-9D33-9204B99388CD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19D0-423D-9D33-9204B99388CD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19D0-423D-9D33-9204B99388CD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19D0-423D-9D33-9204B99388CD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19D0-423D-9D33-9204B99388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rgbClr val="FF000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E78-4C15-B614-87F6FE12CA00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2E78-4C15-B614-87F6FE12CA00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2E78-4C15-B614-87F6FE12CA00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E78-4C15-B614-87F6FE12CA00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2E78-4C15-B614-87F6FE12CA00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2E78-4C15-B614-87F6FE12CA00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2E78-4C15-B614-87F6FE12CA00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2E78-4C15-B614-87F6FE12CA00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78-4C15-B614-87F6FE12CA00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2E78-4C15-B614-87F6FE12C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bg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19D0-423D-9D33-9204B99388CD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19D0-423D-9D33-9204B99388CD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19D0-423D-9D33-9204B99388CD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19D0-423D-9D33-9204B99388CD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19D0-423D-9D33-9204B99388CD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19D0-423D-9D33-9204B99388CD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19D0-423D-9D33-9204B99388CD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19D0-423D-9D33-9204B99388CD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19D0-423D-9D33-9204B99388CD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19D0-423D-9D33-9204B99388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DF0D-488F-AAE4-B610C6E26CC3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DF0D-488F-AAE4-B610C6E26CC3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DF0D-488F-AAE4-B610C6E26CC3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DF0D-488F-AAE4-B610C6E26CC3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DF0D-488F-AAE4-B610C6E26CC3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DF0D-488F-AAE4-B610C6E26CC3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DF0D-488F-AAE4-B610C6E26CC3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DF0D-488F-AAE4-B610C6E26CC3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DF0D-488F-AAE4-B610C6E26CC3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DF0D-488F-AAE4-B610C6E26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134-4005-83F0-CEBFDC1CAEEC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134-4005-83F0-CEBFDC1CAEEC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134-4005-83F0-CEBFDC1CAEEC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134-4005-83F0-CEBFDC1CAEEC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134-4005-83F0-CEBFDC1CAEEC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134-4005-83F0-CEBFDC1CAEEC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134-4005-83F0-CEBFDC1CAEEC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134-4005-83F0-CEBFDC1CAEEC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34-4005-83F0-CEBFDC1CAEEC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134-4005-83F0-CEBFDC1CA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0.48333</cdr:x>
      <cdr:y>0.46124</cdr:y>
    </cdr:from>
    <cdr:to>
      <cdr:x>0.51667</cdr:x>
      <cdr:y>0.49457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2610000" y="2490682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0.67184</cdr:x>
      <cdr:y>0.32498</cdr:y>
    </cdr:from>
    <cdr:to>
      <cdr:x>0.70517</cdr:x>
      <cdr:y>0.35831</cdr:y>
    </cdr:to>
    <cdr:sp macro="" textlink="">
      <cdr:nvSpPr>
        <cdr:cNvPr id="3" name="Oval 2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3627934" y="1754876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0.90644</cdr:x>
      <cdr:y>0.27956</cdr:y>
    </cdr:from>
    <cdr:to>
      <cdr:x>0.93977</cdr:x>
      <cdr:y>0.31289</cdr:y>
    </cdr:to>
    <cdr:sp macro="" textlink="">
      <cdr:nvSpPr>
        <cdr:cNvPr id="4" name="Oval 3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4894758" y="1509607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 dirty="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9CEF-E98E-7129-1037-B2EC86148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0BE66-4989-BF1D-B295-9FE6A0E48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1404C-9DFA-6692-E1D8-785927063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3140E-884C-ABC0-4D3F-362BA9115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413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7DE2-9A90-6E4C-8932-E990E2FB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40731-5223-CEA1-1B1E-11C5774D2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7B6547-7F11-558A-DE44-3A09FCFFA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53128-C2BE-AE66-F882-826421E6A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7149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43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chart" Target="../charts/chart1.xml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2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37.png"/><Relationship Id="rId12" Type="http://schemas.openxmlformats.org/officeDocument/2006/relationships/image" Target="../media/image47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4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3" Type="http://schemas.openxmlformats.org/officeDocument/2006/relationships/chart" Target="../charts/chart5.xml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image" Target="../media/image320.png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4" Type="http://schemas.openxmlformats.org/officeDocument/2006/relationships/chart" Target="../charts/chart6.xml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chart" Target="../charts/chart9.xml"/><Relationship Id="rId7" Type="http://schemas.openxmlformats.org/officeDocument/2006/relationships/image" Target="../media/image63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chart" Target="../charts/char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0.png"/><Relationship Id="rId5" Type="http://schemas.openxmlformats.org/officeDocument/2006/relationships/image" Target="../media/image590.png"/><Relationship Id="rId4" Type="http://schemas.openxmlformats.org/officeDocument/2006/relationships/image" Target="../media/image58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4.xml"/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1.png"/><Relationship Id="rId4" Type="http://schemas.openxmlformats.org/officeDocument/2006/relationships/image" Target="../media/image6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png"/><Relationship Id="rId4" Type="http://schemas.openxmlformats.org/officeDocument/2006/relationships/image" Target="../media/image7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0.png"/><Relationship Id="rId11" Type="http://schemas.openxmlformats.org/officeDocument/2006/relationships/image" Target="../media/image76.svg"/><Relationship Id="rId5" Type="http://schemas.openxmlformats.org/officeDocument/2006/relationships/image" Target="../media/image650.png"/><Relationship Id="rId10" Type="http://schemas.openxmlformats.org/officeDocument/2006/relationships/image" Target="../media/image75.png"/><Relationship Id="rId4" Type="http://schemas.openxmlformats.org/officeDocument/2006/relationships/image" Target="../media/image640.png"/><Relationship Id="rId9" Type="http://schemas.openxmlformats.org/officeDocument/2006/relationships/image" Target="../media/image74.sv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image" Target="../media/image730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image" Target="../media/image720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0.png"/><Relationship Id="rId1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18" Type="http://schemas.openxmlformats.org/officeDocument/2006/relationships/image" Target="../media/image10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17" Type="http://schemas.openxmlformats.org/officeDocument/2006/relationships/image" Target="../media/image102.png"/><Relationship Id="rId2" Type="http://schemas.openxmlformats.org/officeDocument/2006/relationships/image" Target="../media/image87.png"/><Relationship Id="rId16" Type="http://schemas.openxmlformats.org/officeDocument/2006/relationships/image" Target="../media/image101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19" Type="http://schemas.openxmlformats.org/officeDocument/2006/relationships/image" Target="../media/image104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image" Target="../media/image99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18" Type="http://schemas.openxmlformats.org/officeDocument/2006/relationships/image" Target="../media/image12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17" Type="http://schemas.openxmlformats.org/officeDocument/2006/relationships/image" Target="../media/image120.png"/><Relationship Id="rId2" Type="http://schemas.openxmlformats.org/officeDocument/2006/relationships/image" Target="../media/image87.png"/><Relationship Id="rId16" Type="http://schemas.openxmlformats.org/officeDocument/2006/relationships/image" Target="../media/image119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19" Type="http://schemas.openxmlformats.org/officeDocument/2006/relationships/image" Target="../media/image104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10" Type="http://schemas.openxmlformats.org/officeDocument/2006/relationships/image" Target="../media/image130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2.png"/><Relationship Id="rId7" Type="http://schemas.openxmlformats.org/officeDocument/2006/relationships/image" Target="../media/image13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10" Type="http://schemas.openxmlformats.org/officeDocument/2006/relationships/image" Target="../media/image138.png"/><Relationship Id="rId4" Type="http://schemas.openxmlformats.org/officeDocument/2006/relationships/image" Target="../media/image113.png"/><Relationship Id="rId9" Type="http://schemas.openxmlformats.org/officeDocument/2006/relationships/image" Target="../media/image1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35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36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37.xml"/><Relationship Id="rId5" Type="http://schemas.openxmlformats.org/officeDocument/2006/relationships/image" Target="../media/image144.png"/><Relationship Id="rId4" Type="http://schemas.openxmlformats.org/officeDocument/2006/relationships/image" Target="../media/image14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9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0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Principal Component Analysis (Math)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21A9-7C0B-B52C-A63A-371E8C707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FC21-D7AF-8056-B10F-6787CF82E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Projecting data in PCA is the process of transforming high-dimensional data onto a lower-dimensional space (a "subspace") using new axes called </a:t>
            </a:r>
            <a:r>
              <a:rPr lang="en-US" b="1" dirty="0"/>
              <a:t>principal components (PCs)</a:t>
            </a:r>
            <a:r>
              <a:rPr lang="en-US" dirty="0"/>
              <a:t>, 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70FEB2D3-ECF1-1D7A-B209-85F1E418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80" y="1739764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04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055C-2E37-FA6C-05F6-F835ECFCD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2D0F-76F3-2A2C-47A3-1F3F0AE05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078AF-5B82-29C0-160E-F512AE587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Principal components (PCs)</a:t>
            </a:r>
            <a:r>
              <a:rPr lang="en-US" dirty="0"/>
              <a:t> are directions of maximum data variance, effectively creating a "shadow" where data points are represented by their scores (coordinates) along these new axes, reducing complexity while keeping essential information for tasks like visualization or modeling.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3EFFA107-0E8F-2624-1173-4026EA8BC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089" y="1746537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659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D6A0E6-016E-09A9-0F2C-1BDD7997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4B750F-96BF-546F-E944-B2629BF8F12E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3F6EA9B-9CAA-3A11-4FCB-C96B26C00A29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4EC084B-FD8D-E966-D2AA-B7483FF4E6E3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E4D745-1CD2-FC38-262B-4342E95D6F20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410A022E-B165-020C-0AD2-DE2567DDC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3995C059-498F-3C44-15EB-F62C8DDE2CFC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1E2C0F-F732-C71C-A486-8DA53EBD8196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AEFEC5-D80D-BF5C-0972-5EA09CE607BD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7C7C4B0-C03D-810B-FD7F-4A2383E477DD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49397F4-935D-D3BA-0219-DA266314F68F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E3E938-CA24-3E77-0489-5D4B4D02273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32BDC8-59CE-5FF4-6BF9-69E27E428ABA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EE6E9F-73B5-9123-66FF-0A2809A1FE4C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84BEDD-BEC5-9CAF-8C24-CEEF2DF98A20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D8370CDA-273C-BD2C-9338-08186A1D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2DD9E989-6A91-56D8-2C49-5298C4735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572604F0-287C-6EF1-1456-1393C8B6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F301A0B7-3275-AF26-5352-BD841EBED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D7E3B07-2508-6C92-1112-C0A460A2C41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9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7D227A-21C4-7E2C-66ED-23E6DD0C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71A3D1-2D97-14A5-F47C-CEB47020A330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CFF771D-0166-B3ED-458E-68A8852FEBAE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84A28E6-21B2-209F-96B9-3BDD7AE4310B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ABCFD1-EE21-6A1B-31DB-6E53E4186ECD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C4782217-E2F9-AEB0-D31E-D11BAB36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FD55BCFB-5931-EE06-C8C5-5F2B2D447008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F3DF72-1BE7-4362-5F65-543DFF3904D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F2D831-0859-B66A-E68C-983CC1B195F8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E6490A-727E-E314-2E4C-FC88B8BCB7E4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EE582F-AB44-9F1E-FE2F-17757464DD3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C94B8F-A29A-20F1-3D96-85012C63456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8E9DA6F-AF16-28DE-5284-4C825EA3B61F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CFE8D6-4F59-7D33-02A9-22E379D1973D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DAA710-81DD-8E42-0839-8B4F30B9BA23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AF1165AF-471C-8584-0337-6300E5F94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912ECC80-C30D-EF3E-C005-FFD3C0608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8B47F8D4-57D2-DD49-E368-C0533CC46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EE2F1A0B-F8F6-113E-EB1A-4C4FB9BA2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CE7310D-1F5F-B5C5-1991-E41028458059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69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0066 0.058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8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07407E-6 L -0.00013 0.1474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736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4.44444E-6 L -0.00026 0.1055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27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59259E-6 L -0.00039 -0.08658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432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4.44444E-6 L 0.00013 0.09814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2CF4EE-0FDE-5B93-82FA-30352332A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C12880-1CE4-17AC-A60F-0DBED4606939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C56B10-707B-70B3-7116-3C4FE6B2A192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B7BCD3A-1EF9-3951-6E33-FC25CEDF449A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F35D0F-0DCC-A68B-0B46-CB5D759F1221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4C00A3-6F4A-8F1D-8A45-2462ACF0EE05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B393F2-2E63-0C93-B148-F50DC7909F15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690831-920A-2D20-831F-49A04255833A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DD634B-4507-A8DB-A2F0-7F9E64B340FC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658019-1DB1-76C4-7AF1-F9995CB505B9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9DF415D-D976-BB5D-12AB-45CA8810C3DB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51D9A2-4AE0-1E4F-DDD0-F9EBC97A462E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D299103-9DC7-8804-77AE-5219C723541A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C138E8-4167-5660-77C9-4A0D368BBF95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11B90CC2-0A5C-E25F-F3ED-2A4D7DC4F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B17934B-B562-D4E0-354F-B42AD30A8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5FD68536-D729-1D2A-CB7E-BF15AF49B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CC7C3901-6BEE-462F-E363-82EA20857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D383A71C-D253-5AB2-F314-3657F15DD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28C341-05F1-0C18-23C9-7CBCEB4260C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316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023416-D6B9-1E51-4915-3CD185016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5D26BF-E7AC-4C03-727C-9D87E9AE7494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133114-39A0-01EA-36F4-B08C543D2E67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F3B2AB-FDBF-4BB8-1239-2C05BCA0DFA1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29E478-C47B-B92F-2C0B-32342840DCD6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917F1B-51B2-116D-9492-064D948D472F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62ABFAA-0021-6590-2DE6-76405A16599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DFA62E-FC3E-3D74-2C14-0B871F26D6F6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CCF180-27AA-F559-CB07-8E764CF06AA0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66515F-EDF5-1D56-E9AB-E1E1C06D5F9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187225-8D25-61CF-8D0C-65A3606C1348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D939A6-F236-8F75-6A8A-0EDAF1019C71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5342128-C8D0-0960-A5F9-D446A453C736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D062AC-8972-8755-311A-4BB667C3EEA1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C380A2D6-48DF-3951-4CDA-F13051DCB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F4A6D72-37A7-35C1-1165-4E090F4F7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EEF04F19-F124-E80A-0B09-5FE882C49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08B9FB6-0FB8-5AB4-E3F8-B56E463AC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93C3FEC7-6543-ECDD-48F5-55CAE6A7A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81CBF3-CAF7-6051-888F-89D268E49561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476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7" grpId="0"/>
      <p:bldP spid="69" grpId="0"/>
      <p:bldP spid="70" grpId="0"/>
      <p:bldP spid="71" grpId="0"/>
      <p:bldP spid="72" grpId="0"/>
      <p:bldP spid="73" grpId="0"/>
      <p:bldP spid="75" grpId="0"/>
      <p:bldP spid="76" grpId="0"/>
      <p:bldP spid="77" grpId="0"/>
      <p:bldP spid="7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1AB97B-ADD6-EBD4-CD4E-30891B62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29288B8-B841-7E7E-D0E1-CBC9DEF6102D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42BA81B2-AA71-50BA-5B80-00A4DA87E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5897CADD-FB49-273F-EFE5-DF3404223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CBF264BA-39B8-015C-95AF-6303E95DE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E1E8997D-92EA-6F35-4CF2-E4DC1F38F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63023B68-BB8D-7C07-FF47-DC180BD9E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7ED627-6B2F-7C32-7039-310505FD1B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7655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F584CA2-4E54-81E2-8FAC-71A133D8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4D6AF52-95B9-9015-0758-C1360C7EC186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185FE15F-8211-5A87-FFBB-F4C6B402D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21A85269-72C8-115D-A6CD-1EBF5085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BCB15CF6-FD8C-584A-B72D-470D24028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4A1E4B15-0573-F6CB-58E6-51686EDB9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03673ED5-CB18-940C-87DE-8F4CB298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828B4F-3DB2-D40A-9507-19F8CCAFF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BF018E8-C91C-5F90-FA83-0B496771E97C}"/>
              </a:ext>
            </a:extLst>
          </p:cNvPr>
          <p:cNvSpPr txBox="1"/>
          <p:nvPr/>
        </p:nvSpPr>
        <p:spPr>
          <a:xfrm>
            <a:off x="5766988" y="4663757"/>
            <a:ext cx="197281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 dimension</a:t>
            </a:r>
          </a:p>
        </p:txBody>
      </p:sp>
    </p:spTree>
    <p:extLst>
      <p:ext uri="{BB962C8B-B14F-4D97-AF65-F5344CB8AC3E}">
        <p14:creationId xmlns:p14="http://schemas.microsoft.com/office/powerpoint/2010/main" val="304603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380000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8C8F4-24C8-D3D1-362D-C6131274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</a:t>
            </a:r>
            <a:endParaRPr lang="en-PH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D7752B-EC8C-2997-9970-1AA8229C88F2}"/>
              </a:ext>
            </a:extLst>
          </p:cNvPr>
          <p:cNvSpPr txBox="1"/>
          <p:nvPr/>
        </p:nvSpPr>
        <p:spPr>
          <a:xfrm>
            <a:off x="1201121" y="3954105"/>
            <a:ext cx="19233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One feature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50054-8CD5-0ECA-7788-2FE2BBD43479}"/>
              </a:ext>
            </a:extLst>
          </p:cNvPr>
          <p:cNvSpPr txBox="1"/>
          <p:nvPr/>
        </p:nvSpPr>
        <p:spPr>
          <a:xfrm>
            <a:off x="5165526" y="3953983"/>
            <a:ext cx="2909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Two features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 and </a:t>
            </a:r>
            <a:r>
              <a:rPr lang="en-US" sz="1500" b="1" dirty="0"/>
              <a:t>Weight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62AB02-C0CB-3E3B-02A1-9B4178A2F596}"/>
              </a:ext>
            </a:extLst>
          </p:cNvPr>
          <p:cNvSpPr txBox="1"/>
          <p:nvPr/>
        </p:nvSpPr>
        <p:spPr>
          <a:xfrm>
            <a:off x="9229102" y="3953983"/>
            <a:ext cx="24311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Three features</a:t>
            </a:r>
          </a:p>
          <a:p>
            <a:pPr algn="ctr"/>
            <a:r>
              <a:rPr lang="en-US" sz="1500" dirty="0"/>
              <a:t> (</a:t>
            </a:r>
            <a:r>
              <a:rPr lang="en-US" sz="1500" b="1" dirty="0"/>
              <a:t>Height</a:t>
            </a:r>
            <a:r>
              <a:rPr lang="en-US" sz="1500" dirty="0"/>
              <a:t>, </a:t>
            </a:r>
            <a:r>
              <a:rPr lang="en-US" sz="1500" b="1" dirty="0"/>
              <a:t>Weight</a:t>
            </a:r>
            <a:r>
              <a:rPr lang="en-US" sz="1500" dirty="0"/>
              <a:t> and </a:t>
            </a:r>
            <a:r>
              <a:rPr lang="en-US" sz="1500" b="1" dirty="0"/>
              <a:t>Age</a:t>
            </a:r>
            <a:r>
              <a:rPr lang="en-US" sz="1500" dirty="0"/>
              <a:t>)</a:t>
            </a:r>
            <a:endParaRPr lang="en-PH" sz="1500" dirty="0"/>
          </a:p>
        </p:txBody>
      </p:sp>
      <p:pic>
        <p:nvPicPr>
          <p:cNvPr id="7" name="Picture 6" descr="A graph with blue dots&#10;&#10;AI-generated content may be incorrect.">
            <a:extLst>
              <a:ext uri="{FF2B5EF4-FFF2-40B4-BE49-F238E27FC236}">
                <a16:creationId xmlns:a16="http://schemas.microsoft.com/office/drawing/2014/main" id="{B6030F64-FF9F-BF3D-40C4-DB6D56BC8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6457" y="1599322"/>
            <a:ext cx="2496482" cy="2160000"/>
          </a:xfrm>
          <a:prstGeom prst="rect">
            <a:avLst/>
          </a:prstGeom>
        </p:spPr>
      </p:pic>
      <p:pic>
        <p:nvPicPr>
          <p:cNvPr id="8" name="Picture 7" descr="A line with numbers and text&#10;&#10;AI-generated content may be incorrect.">
            <a:extLst>
              <a:ext uri="{FF2B5EF4-FFF2-40B4-BE49-F238E27FC236}">
                <a16:creationId xmlns:a16="http://schemas.microsoft.com/office/drawing/2014/main" id="{EE7633B1-1610-EEE9-1C44-332B2A5D9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73" t="34238" r="9637" b="26738"/>
          <a:stretch>
            <a:fillRect/>
          </a:stretch>
        </p:blipFill>
        <p:spPr>
          <a:xfrm>
            <a:off x="567656" y="3142777"/>
            <a:ext cx="3190240" cy="457200"/>
          </a:xfrm>
          <a:prstGeom prst="rect">
            <a:avLst/>
          </a:prstGeom>
        </p:spPr>
      </p:pic>
      <p:pic>
        <p:nvPicPr>
          <p:cNvPr id="9" name="Picture 8" descr="A diagram of weight scale&#10;&#10;AI-generated content may be incorrect.">
            <a:extLst>
              <a:ext uri="{FF2B5EF4-FFF2-40B4-BE49-F238E27FC236}">
                <a16:creationId xmlns:a16="http://schemas.microsoft.com/office/drawing/2014/main" id="{67196C03-ADAC-0C39-6696-9C8D5BAA0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843" y="1687343"/>
            <a:ext cx="3100766" cy="216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0E6BBE3-65F2-F741-7204-05A9F591976B}"/>
              </a:ext>
            </a:extLst>
          </p:cNvPr>
          <p:cNvSpPr txBox="1"/>
          <p:nvPr/>
        </p:nvSpPr>
        <p:spPr>
          <a:xfrm>
            <a:off x="1236345" y="5278633"/>
            <a:ext cx="9719310" cy="477054"/>
          </a:xfrm>
          <a:custGeom>
            <a:avLst/>
            <a:gdLst>
              <a:gd name="connsiteX0" fmla="*/ 0 w 9719310"/>
              <a:gd name="connsiteY0" fmla="*/ 0 h 477054"/>
              <a:gd name="connsiteX1" fmla="*/ 766110 w 9719310"/>
              <a:gd name="connsiteY1" fmla="*/ 0 h 477054"/>
              <a:gd name="connsiteX2" fmla="*/ 1532221 w 9719310"/>
              <a:gd name="connsiteY2" fmla="*/ 0 h 477054"/>
              <a:gd name="connsiteX3" fmla="*/ 2201138 w 9719310"/>
              <a:gd name="connsiteY3" fmla="*/ 0 h 477054"/>
              <a:gd name="connsiteX4" fmla="*/ 2772862 w 9719310"/>
              <a:gd name="connsiteY4" fmla="*/ 0 h 477054"/>
              <a:gd name="connsiteX5" fmla="*/ 3150200 w 9719310"/>
              <a:gd name="connsiteY5" fmla="*/ 0 h 477054"/>
              <a:gd name="connsiteX6" fmla="*/ 3527538 w 9719310"/>
              <a:gd name="connsiteY6" fmla="*/ 0 h 477054"/>
              <a:gd name="connsiteX7" fmla="*/ 3904876 w 9719310"/>
              <a:gd name="connsiteY7" fmla="*/ 0 h 477054"/>
              <a:gd name="connsiteX8" fmla="*/ 4670986 w 9719310"/>
              <a:gd name="connsiteY8" fmla="*/ 0 h 477054"/>
              <a:gd name="connsiteX9" fmla="*/ 5437096 w 9719310"/>
              <a:gd name="connsiteY9" fmla="*/ 0 h 477054"/>
              <a:gd name="connsiteX10" fmla="*/ 5814434 w 9719310"/>
              <a:gd name="connsiteY10" fmla="*/ 0 h 477054"/>
              <a:gd name="connsiteX11" fmla="*/ 6288965 w 9719310"/>
              <a:gd name="connsiteY11" fmla="*/ 0 h 477054"/>
              <a:gd name="connsiteX12" fmla="*/ 6957883 w 9719310"/>
              <a:gd name="connsiteY12" fmla="*/ 0 h 477054"/>
              <a:gd name="connsiteX13" fmla="*/ 7529607 w 9719310"/>
              <a:gd name="connsiteY13" fmla="*/ 0 h 477054"/>
              <a:gd name="connsiteX14" fmla="*/ 7906945 w 9719310"/>
              <a:gd name="connsiteY14" fmla="*/ 0 h 477054"/>
              <a:gd name="connsiteX15" fmla="*/ 8478669 w 9719310"/>
              <a:gd name="connsiteY15" fmla="*/ 0 h 477054"/>
              <a:gd name="connsiteX16" fmla="*/ 9719310 w 9719310"/>
              <a:gd name="connsiteY16" fmla="*/ 0 h 477054"/>
              <a:gd name="connsiteX17" fmla="*/ 9719310 w 9719310"/>
              <a:gd name="connsiteY17" fmla="*/ 477054 h 477054"/>
              <a:gd name="connsiteX18" fmla="*/ 8953200 w 9719310"/>
              <a:gd name="connsiteY18" fmla="*/ 477054 h 477054"/>
              <a:gd name="connsiteX19" fmla="*/ 8478669 w 9719310"/>
              <a:gd name="connsiteY19" fmla="*/ 477054 h 477054"/>
              <a:gd name="connsiteX20" fmla="*/ 7906945 w 9719310"/>
              <a:gd name="connsiteY20" fmla="*/ 477054 h 477054"/>
              <a:gd name="connsiteX21" fmla="*/ 7238027 w 9719310"/>
              <a:gd name="connsiteY21" fmla="*/ 477054 h 477054"/>
              <a:gd name="connsiteX22" fmla="*/ 6471917 w 9719310"/>
              <a:gd name="connsiteY22" fmla="*/ 477054 h 477054"/>
              <a:gd name="connsiteX23" fmla="*/ 5900193 w 9719310"/>
              <a:gd name="connsiteY23" fmla="*/ 477054 h 477054"/>
              <a:gd name="connsiteX24" fmla="*/ 5620048 w 9719310"/>
              <a:gd name="connsiteY24" fmla="*/ 477054 h 477054"/>
              <a:gd name="connsiteX25" fmla="*/ 5339903 w 9719310"/>
              <a:gd name="connsiteY25" fmla="*/ 477054 h 477054"/>
              <a:gd name="connsiteX26" fmla="*/ 4573793 w 9719310"/>
              <a:gd name="connsiteY26" fmla="*/ 477054 h 477054"/>
              <a:gd name="connsiteX27" fmla="*/ 4099262 w 9719310"/>
              <a:gd name="connsiteY27" fmla="*/ 477054 h 477054"/>
              <a:gd name="connsiteX28" fmla="*/ 3527538 w 9719310"/>
              <a:gd name="connsiteY28" fmla="*/ 477054 h 477054"/>
              <a:gd name="connsiteX29" fmla="*/ 3150200 w 9719310"/>
              <a:gd name="connsiteY29" fmla="*/ 477054 h 477054"/>
              <a:gd name="connsiteX30" fmla="*/ 2870055 w 9719310"/>
              <a:gd name="connsiteY30" fmla="*/ 477054 h 477054"/>
              <a:gd name="connsiteX31" fmla="*/ 2492717 w 9719310"/>
              <a:gd name="connsiteY31" fmla="*/ 477054 h 477054"/>
              <a:gd name="connsiteX32" fmla="*/ 1920993 w 9719310"/>
              <a:gd name="connsiteY32" fmla="*/ 477054 h 477054"/>
              <a:gd name="connsiteX33" fmla="*/ 1543655 w 9719310"/>
              <a:gd name="connsiteY33" fmla="*/ 477054 h 477054"/>
              <a:gd name="connsiteX34" fmla="*/ 777545 w 9719310"/>
              <a:gd name="connsiteY34" fmla="*/ 477054 h 477054"/>
              <a:gd name="connsiteX35" fmla="*/ 0 w 9719310"/>
              <a:gd name="connsiteY35" fmla="*/ 477054 h 477054"/>
              <a:gd name="connsiteX36" fmla="*/ 0 w 9719310"/>
              <a:gd name="connsiteY36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9719310" h="477054" extrusionOk="0">
                <a:moveTo>
                  <a:pt x="0" y="0"/>
                </a:moveTo>
                <a:cubicBezTo>
                  <a:pt x="270594" y="-12581"/>
                  <a:pt x="384918" y="86466"/>
                  <a:pt x="766110" y="0"/>
                </a:cubicBezTo>
                <a:cubicBezTo>
                  <a:pt x="1147302" y="-86466"/>
                  <a:pt x="1329288" y="42607"/>
                  <a:pt x="1532221" y="0"/>
                </a:cubicBezTo>
                <a:cubicBezTo>
                  <a:pt x="1735154" y="-42607"/>
                  <a:pt x="1950550" y="20512"/>
                  <a:pt x="2201138" y="0"/>
                </a:cubicBezTo>
                <a:cubicBezTo>
                  <a:pt x="2451726" y="-20512"/>
                  <a:pt x="2575631" y="14155"/>
                  <a:pt x="2772862" y="0"/>
                </a:cubicBezTo>
                <a:cubicBezTo>
                  <a:pt x="2970093" y="-14155"/>
                  <a:pt x="2970749" y="2909"/>
                  <a:pt x="3150200" y="0"/>
                </a:cubicBezTo>
                <a:cubicBezTo>
                  <a:pt x="3329651" y="-2909"/>
                  <a:pt x="3358298" y="9511"/>
                  <a:pt x="3527538" y="0"/>
                </a:cubicBezTo>
                <a:cubicBezTo>
                  <a:pt x="3696778" y="-9511"/>
                  <a:pt x="3817143" y="17286"/>
                  <a:pt x="3904876" y="0"/>
                </a:cubicBezTo>
                <a:cubicBezTo>
                  <a:pt x="3992609" y="-17286"/>
                  <a:pt x="4483060" y="48913"/>
                  <a:pt x="4670986" y="0"/>
                </a:cubicBezTo>
                <a:cubicBezTo>
                  <a:pt x="4858912" y="-48913"/>
                  <a:pt x="5272327" y="27140"/>
                  <a:pt x="5437096" y="0"/>
                </a:cubicBezTo>
                <a:cubicBezTo>
                  <a:pt x="5601865" y="-27140"/>
                  <a:pt x="5681366" y="25179"/>
                  <a:pt x="5814434" y="0"/>
                </a:cubicBezTo>
                <a:cubicBezTo>
                  <a:pt x="5947502" y="-25179"/>
                  <a:pt x="6072320" y="49732"/>
                  <a:pt x="6288965" y="0"/>
                </a:cubicBezTo>
                <a:cubicBezTo>
                  <a:pt x="6505610" y="-49732"/>
                  <a:pt x="6703177" y="76370"/>
                  <a:pt x="6957883" y="0"/>
                </a:cubicBezTo>
                <a:cubicBezTo>
                  <a:pt x="7212589" y="-76370"/>
                  <a:pt x="7347493" y="1552"/>
                  <a:pt x="7529607" y="0"/>
                </a:cubicBezTo>
                <a:cubicBezTo>
                  <a:pt x="7711721" y="-1552"/>
                  <a:pt x="7824624" y="5697"/>
                  <a:pt x="7906945" y="0"/>
                </a:cubicBezTo>
                <a:cubicBezTo>
                  <a:pt x="7989266" y="-5697"/>
                  <a:pt x="8196788" y="31893"/>
                  <a:pt x="8478669" y="0"/>
                </a:cubicBezTo>
                <a:cubicBezTo>
                  <a:pt x="8760550" y="-31893"/>
                  <a:pt x="9371099" y="142272"/>
                  <a:pt x="9719310" y="0"/>
                </a:cubicBezTo>
                <a:cubicBezTo>
                  <a:pt x="9744652" y="215080"/>
                  <a:pt x="9674116" y="241454"/>
                  <a:pt x="9719310" y="477054"/>
                </a:cubicBezTo>
                <a:cubicBezTo>
                  <a:pt x="9352978" y="503632"/>
                  <a:pt x="9316200" y="431637"/>
                  <a:pt x="8953200" y="477054"/>
                </a:cubicBezTo>
                <a:cubicBezTo>
                  <a:pt x="8590200" y="522471"/>
                  <a:pt x="8701103" y="422685"/>
                  <a:pt x="8478669" y="477054"/>
                </a:cubicBezTo>
                <a:cubicBezTo>
                  <a:pt x="8256235" y="531423"/>
                  <a:pt x="8159708" y="441842"/>
                  <a:pt x="7906945" y="477054"/>
                </a:cubicBezTo>
                <a:cubicBezTo>
                  <a:pt x="7654182" y="512266"/>
                  <a:pt x="7521821" y="452733"/>
                  <a:pt x="7238027" y="477054"/>
                </a:cubicBezTo>
                <a:cubicBezTo>
                  <a:pt x="6954233" y="501375"/>
                  <a:pt x="6766470" y="475845"/>
                  <a:pt x="6471917" y="477054"/>
                </a:cubicBezTo>
                <a:cubicBezTo>
                  <a:pt x="6177364" y="478263"/>
                  <a:pt x="6113173" y="444096"/>
                  <a:pt x="5900193" y="477054"/>
                </a:cubicBezTo>
                <a:cubicBezTo>
                  <a:pt x="5687213" y="510012"/>
                  <a:pt x="5684555" y="464136"/>
                  <a:pt x="5620048" y="477054"/>
                </a:cubicBezTo>
                <a:cubicBezTo>
                  <a:pt x="5555541" y="489972"/>
                  <a:pt x="5469053" y="444896"/>
                  <a:pt x="5339903" y="477054"/>
                </a:cubicBezTo>
                <a:cubicBezTo>
                  <a:pt x="5210754" y="509212"/>
                  <a:pt x="4741949" y="400629"/>
                  <a:pt x="4573793" y="477054"/>
                </a:cubicBezTo>
                <a:cubicBezTo>
                  <a:pt x="4405637" y="553479"/>
                  <a:pt x="4298256" y="435869"/>
                  <a:pt x="4099262" y="477054"/>
                </a:cubicBezTo>
                <a:cubicBezTo>
                  <a:pt x="3900268" y="518239"/>
                  <a:pt x="3669778" y="411189"/>
                  <a:pt x="3527538" y="477054"/>
                </a:cubicBezTo>
                <a:cubicBezTo>
                  <a:pt x="3385298" y="542919"/>
                  <a:pt x="3253644" y="463851"/>
                  <a:pt x="3150200" y="477054"/>
                </a:cubicBezTo>
                <a:cubicBezTo>
                  <a:pt x="3046756" y="490257"/>
                  <a:pt x="2992112" y="445019"/>
                  <a:pt x="2870055" y="477054"/>
                </a:cubicBezTo>
                <a:cubicBezTo>
                  <a:pt x="2747998" y="509089"/>
                  <a:pt x="2579348" y="460273"/>
                  <a:pt x="2492717" y="477054"/>
                </a:cubicBezTo>
                <a:cubicBezTo>
                  <a:pt x="2406086" y="493835"/>
                  <a:pt x="2178577" y="444070"/>
                  <a:pt x="1920993" y="477054"/>
                </a:cubicBezTo>
                <a:cubicBezTo>
                  <a:pt x="1663409" y="510038"/>
                  <a:pt x="1726488" y="438143"/>
                  <a:pt x="1543655" y="477054"/>
                </a:cubicBezTo>
                <a:cubicBezTo>
                  <a:pt x="1360822" y="515965"/>
                  <a:pt x="1131812" y="459934"/>
                  <a:pt x="777545" y="477054"/>
                </a:cubicBezTo>
                <a:cubicBezTo>
                  <a:pt x="423278" y="494174"/>
                  <a:pt x="271128" y="425633"/>
                  <a:pt x="0" y="477054"/>
                </a:cubicBezTo>
                <a:cubicBezTo>
                  <a:pt x="-57150" y="351676"/>
                  <a:pt x="34718" y="145785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datasets with more than </a:t>
            </a:r>
            <a:r>
              <a:rPr lang="en-PH" sz="2500" b="1" dirty="0"/>
              <a:t>three features</a:t>
            </a:r>
            <a:r>
              <a:rPr lang="en-PH" sz="2500" dirty="0"/>
              <a:t>, we simply cannot draw it.</a:t>
            </a:r>
          </a:p>
        </p:txBody>
      </p:sp>
    </p:spTree>
    <p:extLst>
      <p:ext uri="{BB962C8B-B14F-4D97-AF65-F5344CB8AC3E}">
        <p14:creationId xmlns:p14="http://schemas.microsoft.com/office/powerpoint/2010/main" val="420631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57188-5DB0-619E-343E-50C78701A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957E480-D39A-2571-F26D-C5B51534B503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B8AF8D-C299-7663-6DF3-E4A623D6D05E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1812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36CCC-249B-D8DB-0C8E-961C6C15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F1F0-4B68-17D5-FD6F-BB6EC66B0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 dirty="0"/>
          </a:p>
        </p:txBody>
      </p:sp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C6AA110D-996C-7AEE-2BAF-FE58894C7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000" y="3202015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17841BC1-54CF-59ED-3508-BA529BF51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000" y="3106738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F70ED9F5-D12D-F69A-8A34-C9103DEA9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000" y="3047419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BFD3D48E-DC11-C283-1EE4-3EB5B38C9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8000" y="2879850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1A11155A-9721-33B6-7667-0A482FF91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000" y="2641093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DB7A66-8D75-2D0E-8677-C0650907603C}"/>
              </a:ext>
            </a:extLst>
          </p:cNvPr>
          <p:cNvCxnSpPr>
            <a:cxnSpLocks/>
          </p:cNvCxnSpPr>
          <p:nvPr/>
        </p:nvCxnSpPr>
        <p:spPr>
          <a:xfrm flipV="1">
            <a:off x="948267" y="3549771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09B2DA7-FC99-27FC-7502-06589CDA0311}"/>
              </a:ext>
            </a:extLst>
          </p:cNvPr>
          <p:cNvSpPr txBox="1"/>
          <p:nvPr/>
        </p:nvSpPr>
        <p:spPr>
          <a:xfrm>
            <a:off x="1343951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021024-7699-3971-9995-53F59F98CDE0}"/>
              </a:ext>
            </a:extLst>
          </p:cNvPr>
          <p:cNvSpPr txBox="1"/>
          <p:nvPr/>
        </p:nvSpPr>
        <p:spPr>
          <a:xfrm>
            <a:off x="323792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AF6614-025C-656A-421E-E8EF5C3048D3}"/>
              </a:ext>
            </a:extLst>
          </p:cNvPr>
          <p:cNvSpPr txBox="1"/>
          <p:nvPr/>
        </p:nvSpPr>
        <p:spPr>
          <a:xfrm>
            <a:off x="5265765" y="404724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BFB038-94B2-E28C-71F7-9154DEA3A115}"/>
              </a:ext>
            </a:extLst>
          </p:cNvPr>
          <p:cNvSpPr txBox="1"/>
          <p:nvPr/>
        </p:nvSpPr>
        <p:spPr>
          <a:xfrm>
            <a:off x="7476597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C9F440-3347-C849-75FC-17C8007104B6}"/>
              </a:ext>
            </a:extLst>
          </p:cNvPr>
          <p:cNvSpPr txBox="1"/>
          <p:nvPr/>
        </p:nvSpPr>
        <p:spPr>
          <a:xfrm>
            <a:off x="994539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/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𝑴𝒆𝒂𝒏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1+2+3+4+5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E1A4DDAF-2EA5-7AE2-8722-E7F82439C4FB}"/>
              </a:ext>
            </a:extLst>
          </p:cNvPr>
          <p:cNvSpPr txBox="1"/>
          <p:nvPr/>
        </p:nvSpPr>
        <p:spPr>
          <a:xfrm>
            <a:off x="961156" y="2609848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B1EA51-0370-42EC-4FA2-743B2B46B52B}"/>
              </a:ext>
            </a:extLst>
          </p:cNvPr>
          <p:cNvSpPr txBox="1"/>
          <p:nvPr/>
        </p:nvSpPr>
        <p:spPr>
          <a:xfrm>
            <a:off x="2938480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7525BE-23B4-4568-78A0-586A77918146}"/>
              </a:ext>
            </a:extLst>
          </p:cNvPr>
          <p:cNvSpPr txBox="1"/>
          <p:nvPr/>
        </p:nvSpPr>
        <p:spPr>
          <a:xfrm>
            <a:off x="5025625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DFE5F1-4D58-6D6B-2558-DEE987CEB09B}"/>
              </a:ext>
            </a:extLst>
          </p:cNvPr>
          <p:cNvSpPr txBox="1"/>
          <p:nvPr/>
        </p:nvSpPr>
        <p:spPr>
          <a:xfrm>
            <a:off x="7288692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2649B-68C4-EDB2-2901-0466AA312B44}"/>
              </a:ext>
            </a:extLst>
          </p:cNvPr>
          <p:cNvSpPr txBox="1"/>
          <p:nvPr/>
        </p:nvSpPr>
        <p:spPr>
          <a:xfrm>
            <a:off x="9736502" y="2594059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E31906-0529-2E01-FBD1-59FC3B0ABD90}"/>
              </a:ext>
            </a:extLst>
          </p:cNvPr>
          <p:cNvSpPr txBox="1"/>
          <p:nvPr/>
        </p:nvSpPr>
        <p:spPr>
          <a:xfrm>
            <a:off x="4403511" y="5890428"/>
            <a:ext cx="3729559" cy="553998"/>
          </a:xfrm>
          <a:custGeom>
            <a:avLst/>
            <a:gdLst>
              <a:gd name="connsiteX0" fmla="*/ 0 w 3729559"/>
              <a:gd name="connsiteY0" fmla="*/ 0 h 553998"/>
              <a:gd name="connsiteX1" fmla="*/ 696184 w 3729559"/>
              <a:gd name="connsiteY1" fmla="*/ 0 h 553998"/>
              <a:gd name="connsiteX2" fmla="*/ 1317778 w 3729559"/>
              <a:gd name="connsiteY2" fmla="*/ 0 h 553998"/>
              <a:gd name="connsiteX3" fmla="*/ 1976666 w 3729559"/>
              <a:gd name="connsiteY3" fmla="*/ 0 h 553998"/>
              <a:gd name="connsiteX4" fmla="*/ 2486373 w 3729559"/>
              <a:gd name="connsiteY4" fmla="*/ 0 h 553998"/>
              <a:gd name="connsiteX5" fmla="*/ 3033375 w 3729559"/>
              <a:gd name="connsiteY5" fmla="*/ 0 h 553998"/>
              <a:gd name="connsiteX6" fmla="*/ 3729559 w 3729559"/>
              <a:gd name="connsiteY6" fmla="*/ 0 h 553998"/>
              <a:gd name="connsiteX7" fmla="*/ 3729559 w 3729559"/>
              <a:gd name="connsiteY7" fmla="*/ 553998 h 553998"/>
              <a:gd name="connsiteX8" fmla="*/ 3145261 w 3729559"/>
              <a:gd name="connsiteY8" fmla="*/ 553998 h 553998"/>
              <a:gd name="connsiteX9" fmla="*/ 2523668 w 3729559"/>
              <a:gd name="connsiteY9" fmla="*/ 553998 h 553998"/>
              <a:gd name="connsiteX10" fmla="*/ 1976666 w 3729559"/>
              <a:gd name="connsiteY10" fmla="*/ 553998 h 553998"/>
              <a:gd name="connsiteX11" fmla="*/ 1355073 w 3729559"/>
              <a:gd name="connsiteY11" fmla="*/ 553998 h 553998"/>
              <a:gd name="connsiteX12" fmla="*/ 770776 w 3729559"/>
              <a:gd name="connsiteY12" fmla="*/ 553998 h 553998"/>
              <a:gd name="connsiteX13" fmla="*/ 0 w 3729559"/>
              <a:gd name="connsiteY13" fmla="*/ 553998 h 553998"/>
              <a:gd name="connsiteX14" fmla="*/ 0 w 3729559"/>
              <a:gd name="connsiteY14" fmla="*/ 0 h 553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729559" h="553998" extrusionOk="0">
                <a:moveTo>
                  <a:pt x="0" y="0"/>
                </a:moveTo>
                <a:cubicBezTo>
                  <a:pt x="189150" y="-20076"/>
                  <a:pt x="385722" y="9401"/>
                  <a:pt x="696184" y="0"/>
                </a:cubicBezTo>
                <a:cubicBezTo>
                  <a:pt x="1006646" y="-9401"/>
                  <a:pt x="1012250" y="24333"/>
                  <a:pt x="1317778" y="0"/>
                </a:cubicBezTo>
                <a:cubicBezTo>
                  <a:pt x="1623306" y="-24333"/>
                  <a:pt x="1770324" y="13710"/>
                  <a:pt x="1976666" y="0"/>
                </a:cubicBezTo>
                <a:cubicBezTo>
                  <a:pt x="2183008" y="-13710"/>
                  <a:pt x="2378216" y="-2081"/>
                  <a:pt x="2486373" y="0"/>
                </a:cubicBezTo>
                <a:cubicBezTo>
                  <a:pt x="2594530" y="2081"/>
                  <a:pt x="2824995" y="2562"/>
                  <a:pt x="3033375" y="0"/>
                </a:cubicBezTo>
                <a:cubicBezTo>
                  <a:pt x="3241755" y="-2562"/>
                  <a:pt x="3548609" y="18460"/>
                  <a:pt x="3729559" y="0"/>
                </a:cubicBezTo>
                <a:cubicBezTo>
                  <a:pt x="3714453" y="267575"/>
                  <a:pt x="3708571" y="280489"/>
                  <a:pt x="3729559" y="553998"/>
                </a:cubicBezTo>
                <a:cubicBezTo>
                  <a:pt x="3572033" y="574760"/>
                  <a:pt x="3424007" y="526407"/>
                  <a:pt x="3145261" y="553998"/>
                </a:cubicBezTo>
                <a:cubicBezTo>
                  <a:pt x="2866515" y="581589"/>
                  <a:pt x="2653660" y="562476"/>
                  <a:pt x="2523668" y="553998"/>
                </a:cubicBezTo>
                <a:cubicBezTo>
                  <a:pt x="2393676" y="545520"/>
                  <a:pt x="2116829" y="565693"/>
                  <a:pt x="1976666" y="553998"/>
                </a:cubicBezTo>
                <a:cubicBezTo>
                  <a:pt x="1836503" y="542303"/>
                  <a:pt x="1555731" y="551036"/>
                  <a:pt x="1355073" y="553998"/>
                </a:cubicBezTo>
                <a:cubicBezTo>
                  <a:pt x="1154415" y="556960"/>
                  <a:pt x="921938" y="530117"/>
                  <a:pt x="770776" y="553998"/>
                </a:cubicBezTo>
                <a:cubicBezTo>
                  <a:pt x="619614" y="577879"/>
                  <a:pt x="171688" y="545452"/>
                  <a:pt x="0" y="553998"/>
                </a:cubicBezTo>
                <a:cubicBezTo>
                  <a:pt x="11662" y="402030"/>
                  <a:pt x="9133" y="11239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5554960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3000" b="1" dirty="0">
                <a:solidFill>
                  <a:srgbClr val="FFC000"/>
                </a:solidFill>
              </a:rPr>
              <a:t>House C </a:t>
            </a:r>
            <a:r>
              <a:rPr lang="en-PH" sz="3000" dirty="0"/>
              <a:t>is the mean</a:t>
            </a:r>
          </a:p>
        </p:txBody>
      </p:sp>
    </p:spTree>
    <p:extLst>
      <p:ext uri="{BB962C8B-B14F-4D97-AF65-F5344CB8AC3E}">
        <p14:creationId xmlns:p14="http://schemas.microsoft.com/office/powerpoint/2010/main" val="142647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F6F9D-8C60-F256-212E-16BE36C93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6484A52A-D0B5-925B-3650-445796EE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1A3A4A9E-A1E8-E1F2-22B8-F7212D62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46" name="Picture 45" descr="A cartoon of a house&#10;&#10;Description automatically generated">
            <a:extLst>
              <a:ext uri="{FF2B5EF4-FFF2-40B4-BE49-F238E27FC236}">
                <a16:creationId xmlns:a16="http://schemas.microsoft.com/office/drawing/2014/main" id="{15FF58EB-E343-3591-5AAD-306709940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5B2C92-02AD-19E6-F956-53ADF36819D0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1F6AB4D-572D-5DA2-037E-83637C76A06B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B81572C-6DC9-38C1-380A-1B0FF3EF4323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14B5D90-D7AA-18A4-4F8D-E563CDBAFA0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133E706-2465-55D3-8B45-0C2CFCEB6EA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0C66AA5-080E-7E49-0A54-E1DCC265A89F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BCAD0BDA-3D7A-58F5-F54C-0F7EE51401C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D1BB87-7942-F373-1F1C-3D5FF40F6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868AB81-A156-DF26-1E0C-826ED43A9709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541D0DD-B6F3-AA7E-F17F-080A224AD1A7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D5EE77-D2D4-324D-D5AB-51CB5BA6EB7C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D8CA13-84ED-A455-8A12-D64BA16108EF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F7C7B1-B472-0098-49D5-7FF584507F2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D4832E-C4D2-BC10-1E3C-C8DA0777B833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0829CC-5717-C14A-25A8-B71E5299F5CE}"/>
              </a:ext>
            </a:extLst>
          </p:cNvPr>
          <p:cNvSpPr txBox="1"/>
          <p:nvPr/>
        </p:nvSpPr>
        <p:spPr>
          <a:xfrm>
            <a:off x="7744728" y="1127668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FF0000"/>
                </a:solidFill>
              </a:rPr>
              <a:t>House B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FFC000"/>
                </a:solidFill>
              </a:rPr>
              <a:t> </a:t>
            </a:r>
            <a:r>
              <a:rPr lang="en-PH" sz="2500" b="1" dirty="0">
                <a:solidFill>
                  <a:srgbClr val="92D050"/>
                </a:solidFill>
              </a:rPr>
              <a:t>House D </a:t>
            </a:r>
            <a:r>
              <a:rPr lang="en-PH" sz="2500" dirty="0"/>
              <a:t>is 1 point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171461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7" grpId="0"/>
      <p:bldP spid="58" grpId="0"/>
      <p:bldP spid="59" grpId="0"/>
      <p:bldP spid="60" grpId="0"/>
      <p:bldP spid="61" grpId="0"/>
      <p:bldP spid="6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2B03-94F3-550F-DF8E-638658EAC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3FA70-E655-53C0-9FD6-A6C0823E7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41E249F-8A18-CB09-1479-B39C5D7168F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47ABE87E-91F9-8A90-9C90-089B09A4D59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DB5AE1A6-989D-FA5B-9122-93E94B963FB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99FCE9-6ECA-94C1-9E6E-E09FE648BCDF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C3FFB975-D481-96C9-7561-C0CC42640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920" y="4601579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6A8D95-5DAC-CF48-0172-17234BC12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4446983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A08D7CD-3209-F44A-77E0-057E58F42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920" y="4040657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6BF875-1733-27BA-EA59-4FB620E1E93E}"/>
              </a:ext>
            </a:extLst>
          </p:cNvPr>
          <p:cNvCxnSpPr>
            <a:cxnSpLocks/>
          </p:cNvCxnSpPr>
          <p:nvPr/>
        </p:nvCxnSpPr>
        <p:spPr>
          <a:xfrm flipV="1">
            <a:off x="1070187" y="4949335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/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CF83E73-5CD7-8957-CE9C-F731186EB6F6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928935-93C1-8140-4B9A-6D684EDF9CD5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BE3D0A7-B285-B5A1-F9AF-ABD4F4D836E8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1C6CCE-50B8-2C4F-3363-92D075D783EE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8827C0-D76B-0E60-C77B-EDE635346242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2BE9DE-EB4E-081F-2534-43E8865DA93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F88FE7F-27D6-523F-6B7F-9148A18316F3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6B15A6C-D42B-B465-DEF4-8D519FAC87B3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85F4F8-7B3B-2EB7-A1DE-6898FE6D0E77}"/>
              </a:ext>
            </a:extLst>
          </p:cNvPr>
          <p:cNvGrpSpPr/>
          <p:nvPr/>
        </p:nvGrpSpPr>
        <p:grpSpPr>
          <a:xfrm>
            <a:off x="1948992" y="4628111"/>
            <a:ext cx="3110687" cy="258022"/>
            <a:chOff x="3894666" y="2424536"/>
            <a:chExt cx="1316448" cy="25802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BE87BDA-1150-9E76-1763-DFFC1BE1966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ABBD8C7-25F6-FE48-15BB-0B3F430797D9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1B2F285-E5AA-B539-D84B-8CDC57F2C9C7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E038892-DC49-9C65-3D05-42EE7E37B7E9}"/>
              </a:ext>
            </a:extLst>
          </p:cNvPr>
          <p:cNvGrpSpPr/>
          <p:nvPr/>
        </p:nvGrpSpPr>
        <p:grpSpPr>
          <a:xfrm>
            <a:off x="6064858" y="4628111"/>
            <a:ext cx="3528722" cy="258022"/>
            <a:chOff x="3894666" y="2424536"/>
            <a:chExt cx="1316448" cy="25802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33943D2-E9FA-562C-5A84-952702C52E5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FB78A70-F16C-D81B-BD6D-1E75FDFF663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28AAE80-562A-2956-3786-A46D2FF10EE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F3547DC-17FF-4538-DB4E-53380C6C0803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848B2C-DF8B-C1AB-7E63-912BB2586D44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17EE2-93F1-8AF0-DFF6-C6D0CB73183F}"/>
              </a:ext>
            </a:extLst>
          </p:cNvPr>
          <p:cNvSpPr txBox="1"/>
          <p:nvPr/>
        </p:nvSpPr>
        <p:spPr>
          <a:xfrm>
            <a:off x="3377871" y="43771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68235-C25E-3243-92E6-877660E93AF3}"/>
              </a:ext>
            </a:extLst>
          </p:cNvPr>
          <p:cNvSpPr txBox="1"/>
          <p:nvPr/>
        </p:nvSpPr>
        <p:spPr>
          <a:xfrm>
            <a:off x="7813498" y="44236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/>
              <a:t>2</a:t>
            </a:r>
            <a:endParaRPr lang="en-PH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00043-7C8F-5650-E082-6422EB12475E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C2D0CC-E08A-159E-34C3-6D84B94577F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DE5CC2-22B8-B6A5-1502-E424E4BDFEC6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E564AA-65D8-0C1B-40A3-BF601894BF0C}"/>
              </a:ext>
            </a:extLst>
          </p:cNvPr>
          <p:cNvSpPr txBox="1"/>
          <p:nvPr/>
        </p:nvSpPr>
        <p:spPr>
          <a:xfrm>
            <a:off x="1149760" y="4271930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FC601C-2E05-2234-9476-2ED99AF21306}"/>
              </a:ext>
            </a:extLst>
          </p:cNvPr>
          <p:cNvSpPr txBox="1"/>
          <p:nvPr/>
        </p:nvSpPr>
        <p:spPr>
          <a:xfrm>
            <a:off x="5214229" y="425380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155931-AD92-AA94-3D99-A6D9DAAEA336}"/>
              </a:ext>
            </a:extLst>
          </p:cNvPr>
          <p:cNvSpPr txBox="1"/>
          <p:nvPr/>
        </p:nvSpPr>
        <p:spPr>
          <a:xfrm>
            <a:off x="9895600" y="404254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481F06-1D41-69FA-0247-C92F6AD85D85}"/>
              </a:ext>
            </a:extLst>
          </p:cNvPr>
          <p:cNvSpPr txBox="1"/>
          <p:nvPr/>
        </p:nvSpPr>
        <p:spPr>
          <a:xfrm>
            <a:off x="7559040" y="1201225"/>
            <a:ext cx="3970020" cy="861774"/>
          </a:xfrm>
          <a:custGeom>
            <a:avLst/>
            <a:gdLst>
              <a:gd name="connsiteX0" fmla="*/ 0 w 3970020"/>
              <a:gd name="connsiteY0" fmla="*/ 0 h 861774"/>
              <a:gd name="connsiteX1" fmla="*/ 646546 w 3970020"/>
              <a:gd name="connsiteY1" fmla="*/ 0 h 861774"/>
              <a:gd name="connsiteX2" fmla="*/ 1293092 w 3970020"/>
              <a:gd name="connsiteY2" fmla="*/ 0 h 861774"/>
              <a:gd name="connsiteX3" fmla="*/ 1899938 w 3970020"/>
              <a:gd name="connsiteY3" fmla="*/ 0 h 861774"/>
              <a:gd name="connsiteX4" fmla="*/ 2467084 w 3970020"/>
              <a:gd name="connsiteY4" fmla="*/ 0 h 861774"/>
              <a:gd name="connsiteX5" fmla="*/ 2954829 w 3970020"/>
              <a:gd name="connsiteY5" fmla="*/ 0 h 861774"/>
              <a:gd name="connsiteX6" fmla="*/ 3442574 w 3970020"/>
              <a:gd name="connsiteY6" fmla="*/ 0 h 861774"/>
              <a:gd name="connsiteX7" fmla="*/ 3970020 w 3970020"/>
              <a:gd name="connsiteY7" fmla="*/ 0 h 861774"/>
              <a:gd name="connsiteX8" fmla="*/ 3970020 w 3970020"/>
              <a:gd name="connsiteY8" fmla="*/ 448122 h 861774"/>
              <a:gd name="connsiteX9" fmla="*/ 3970020 w 3970020"/>
              <a:gd name="connsiteY9" fmla="*/ 861774 h 861774"/>
              <a:gd name="connsiteX10" fmla="*/ 3521975 w 3970020"/>
              <a:gd name="connsiteY10" fmla="*/ 861774 h 861774"/>
              <a:gd name="connsiteX11" fmla="*/ 2875429 w 3970020"/>
              <a:gd name="connsiteY11" fmla="*/ 861774 h 861774"/>
              <a:gd name="connsiteX12" fmla="*/ 2387683 w 3970020"/>
              <a:gd name="connsiteY12" fmla="*/ 861774 h 861774"/>
              <a:gd name="connsiteX13" fmla="*/ 1741137 w 3970020"/>
              <a:gd name="connsiteY13" fmla="*/ 861774 h 861774"/>
              <a:gd name="connsiteX14" fmla="*/ 1094591 w 3970020"/>
              <a:gd name="connsiteY14" fmla="*/ 861774 h 861774"/>
              <a:gd name="connsiteX15" fmla="*/ 487745 w 3970020"/>
              <a:gd name="connsiteY15" fmla="*/ 861774 h 861774"/>
              <a:gd name="connsiteX16" fmla="*/ 0 w 3970020"/>
              <a:gd name="connsiteY16" fmla="*/ 861774 h 861774"/>
              <a:gd name="connsiteX17" fmla="*/ 0 w 3970020"/>
              <a:gd name="connsiteY17" fmla="*/ 422269 h 861774"/>
              <a:gd name="connsiteX18" fmla="*/ 0 w 3970020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970020" h="861774" extrusionOk="0">
                <a:moveTo>
                  <a:pt x="0" y="0"/>
                </a:moveTo>
                <a:cubicBezTo>
                  <a:pt x="225301" y="-56052"/>
                  <a:pt x="423477" y="22285"/>
                  <a:pt x="646546" y="0"/>
                </a:cubicBezTo>
                <a:cubicBezTo>
                  <a:pt x="869615" y="-22285"/>
                  <a:pt x="1122595" y="17446"/>
                  <a:pt x="1293092" y="0"/>
                </a:cubicBezTo>
                <a:cubicBezTo>
                  <a:pt x="1463589" y="-17446"/>
                  <a:pt x="1772448" y="19933"/>
                  <a:pt x="1899938" y="0"/>
                </a:cubicBezTo>
                <a:cubicBezTo>
                  <a:pt x="2027428" y="-19933"/>
                  <a:pt x="2186180" y="17267"/>
                  <a:pt x="2467084" y="0"/>
                </a:cubicBezTo>
                <a:cubicBezTo>
                  <a:pt x="2747988" y="-17267"/>
                  <a:pt x="2793722" y="43311"/>
                  <a:pt x="2954829" y="0"/>
                </a:cubicBezTo>
                <a:cubicBezTo>
                  <a:pt x="3115936" y="-43311"/>
                  <a:pt x="3251460" y="18901"/>
                  <a:pt x="3442574" y="0"/>
                </a:cubicBezTo>
                <a:cubicBezTo>
                  <a:pt x="3633688" y="-18901"/>
                  <a:pt x="3762788" y="33476"/>
                  <a:pt x="3970020" y="0"/>
                </a:cubicBezTo>
                <a:cubicBezTo>
                  <a:pt x="3971070" y="159120"/>
                  <a:pt x="3949848" y="353239"/>
                  <a:pt x="3970020" y="448122"/>
                </a:cubicBezTo>
                <a:cubicBezTo>
                  <a:pt x="3990192" y="543005"/>
                  <a:pt x="3942686" y="778302"/>
                  <a:pt x="3970020" y="861774"/>
                </a:cubicBezTo>
                <a:cubicBezTo>
                  <a:pt x="3763019" y="875000"/>
                  <a:pt x="3740771" y="833728"/>
                  <a:pt x="3521975" y="861774"/>
                </a:cubicBezTo>
                <a:cubicBezTo>
                  <a:pt x="3303180" y="889820"/>
                  <a:pt x="3074082" y="851261"/>
                  <a:pt x="2875429" y="861774"/>
                </a:cubicBezTo>
                <a:cubicBezTo>
                  <a:pt x="2676776" y="872287"/>
                  <a:pt x="2533472" y="822954"/>
                  <a:pt x="2387683" y="861774"/>
                </a:cubicBezTo>
                <a:cubicBezTo>
                  <a:pt x="2241894" y="900594"/>
                  <a:pt x="1888601" y="807367"/>
                  <a:pt x="1741137" y="861774"/>
                </a:cubicBezTo>
                <a:cubicBezTo>
                  <a:pt x="1593673" y="916181"/>
                  <a:pt x="1368558" y="784809"/>
                  <a:pt x="1094591" y="861774"/>
                </a:cubicBezTo>
                <a:cubicBezTo>
                  <a:pt x="820624" y="938739"/>
                  <a:pt x="696935" y="805575"/>
                  <a:pt x="487745" y="861774"/>
                </a:cubicBezTo>
                <a:cubicBezTo>
                  <a:pt x="278555" y="917973"/>
                  <a:pt x="226256" y="856894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C00000"/>
                </a:solidFill>
              </a:rPr>
              <a:t>House A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00B050"/>
                </a:solidFill>
              </a:rPr>
              <a:t> House E</a:t>
            </a:r>
            <a:r>
              <a:rPr lang="en-PH" sz="2500" b="1" dirty="0">
                <a:solidFill>
                  <a:srgbClr val="92D050"/>
                </a:solidFill>
              </a:rPr>
              <a:t> </a:t>
            </a:r>
            <a:r>
              <a:rPr lang="en-PH" sz="2500" dirty="0"/>
              <a:t>is 2 points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3174186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4" grpId="0"/>
      <p:bldP spid="35" grpId="0"/>
      <p:bldP spid="39" grpId="0"/>
      <p:bldP spid="40" grpId="0"/>
      <p:bldP spid="41" grpId="0"/>
      <p:bldP spid="4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B91100-7A94-6A30-C17A-2211F4DD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77803E-7DE0-C972-4A09-CA6DD0CA5FC0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487071-525D-FD73-4170-E74C61F7F814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7902A966-83C9-0733-DC4E-52CB20DEF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D3DDF62D-2D8E-2DBE-FDB9-5C7725E7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3D43E70-76A2-0751-D725-8343F9C67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0F19CBE-BF57-1958-358A-5394AB8CD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F810EB1C-517B-3CA8-7EDD-898BDA1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E0D62348-70BA-3C8F-828D-D370A13C1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4BE2268-5EC4-1C0D-13D6-3790E7C9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701D38-AAC4-FB5A-AFA4-6C55E020F8F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How about the variance for two-dimensional data? Can we use the same method?</a:t>
            </a:r>
          </a:p>
        </p:txBody>
      </p:sp>
    </p:spTree>
    <p:extLst>
      <p:ext uri="{BB962C8B-B14F-4D97-AF65-F5344CB8AC3E}">
        <p14:creationId xmlns:p14="http://schemas.microsoft.com/office/powerpoint/2010/main" val="281024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DBFEE4-5F89-0FDF-7430-7F9D61A1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749CA69-3518-32C1-89D3-CBE8DFECE842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A7EE54CD-2A41-5C87-82E6-7931747C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BCAC3579-9866-FB0B-5A9F-9D975BD45E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0F561291-C920-FAA3-F1AA-2640A1FEC8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E70F36D-DA27-362B-519D-232144CC14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D368573B-0557-B05E-73DF-D24E186860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3564EDB8-3BE0-0393-A391-3C22B6053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5AEB47DA-9B4A-92B0-451C-39EFD82CB7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8F2FDB-0665-288E-8ED2-6AF2F6492C73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35223E9-BC1D-2771-A718-76FD50600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6AB55F7B-12EB-A946-2E63-6617FFC72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6A9F4CB6-7949-51D5-45FD-47D3F8C965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DA7567B6-BDBB-15A3-124F-1DE90D596B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3C44CDC-C38E-EC1E-E820-955943D2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C87D861A-0C6D-88B7-E8C9-A9CD846054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B72EBC92-C982-E842-89A8-1D54FE9C36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7C9CF2-C017-5178-5714-0857AADFD94D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two-dimensional data, we need to get the variance of the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  <a:r>
              <a:rPr lang="en-PH" sz="2500" b="1" dirty="0">
                <a:solidFill>
                  <a:srgbClr val="002060"/>
                </a:solidFill>
              </a:rPr>
              <a:t>x-axis (x-variance)</a:t>
            </a:r>
            <a:r>
              <a:rPr lang="en-PH" sz="2500" dirty="0">
                <a:solidFill>
                  <a:srgbClr val="002060"/>
                </a:solidFill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387663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2.5E-6 0.2592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96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2.5E-6 0.3669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8333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4.16667E-7 0.2423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106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00013 0.2023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011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00027 0.3669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1.25E-6 0.26065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032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0.00221 0.4129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2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0E6DBA-111F-E1BA-1210-4D8C8D24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06AD0EF-A0F6-B42A-B5C5-70D20CEC5359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5F0334F-636F-1523-15C1-BEC332EEC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59CBE193-96F2-6B39-8342-57B1461583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A976CA3-480A-91AD-19CB-F4DA4E9D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915F10F7-80F1-2B05-E39B-2A7FF5F46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BB16D30E-8328-2FAF-26F1-7D76ABA246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FB691D04-AA40-1EFF-44BA-3821CFC3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ED7AD9C3-CE1C-EF8D-EE6D-51E38BBE83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6737F52-F7EE-CB1D-6049-CADBB636AC12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63ED36E-F4B6-ABC7-B6E2-F84FCE612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79878691-E9BD-0A1E-382A-11F4AEBA3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744AD8A4-35A4-A8C5-B904-9F38873E3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9247AA7E-E1C5-9C96-F5AF-8D0A42F62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2C73A9B-BACC-8583-2E47-643BB72B9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09F0BFD-589A-51B2-6BDB-BC31B1BBB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9E35CCE4-73D6-35FA-E8E5-F2516B3C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453A1836-1635-BF88-22D6-8306628991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3601E3-4126-3E76-5694-4B7A2EA3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D0483495-3254-A1AE-78E8-FD238324F4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73A7E8A0-020B-FEAE-829C-3268348C37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A3FBF643-FE48-D3BF-98FF-34373F43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2DE9DCE1-7A6A-DF7E-DA37-75094E6E80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51048E0A-9C3C-6B36-8457-A388BBA92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60E3F0C-CCA4-4B1C-C1E1-8327459B690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8076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-0.1694 -0.0004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77" y="-2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-0.24466 0.000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-0.27786 0.0004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89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33919 -0.0004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66" y="-2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3737 0.0011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685" y="4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-0.4319 -7.40741E-7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602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-0.47018 0.0011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16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C44624-FF3F-3E9D-068F-C84B142B5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74A0EF0-5506-675D-09C9-AB5CEF4B19C5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FA9045B-CFCB-E985-46CB-64D48F8C41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A42D830C-419A-4F4A-1DC4-E542A1C0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801F7023-006E-966A-7F2E-C3CFAAFF6F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7C516476-F1E7-D278-8C39-6279285D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2657F836-8C90-FB4B-ECA6-BD603F722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BD8A150B-B228-856A-61C2-E37996EDB1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F1FEA30-F290-C777-AB4E-ED23D93316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560100-1A3B-3DC8-1B4F-5C2A8AAC0D6C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917C58AB-A1E4-AD2A-46F7-0DD37FD0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EB095E43-ACD4-905E-11B0-5507936B5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9C3CFF32-F451-08E9-2E76-519DFA5E1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E5E4634E-8867-BD55-0636-6655FD755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824B1448-11F3-EC06-F1BF-9F35D960B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ED42E17-BC3B-D8CE-1A1A-6C28156F4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73692015-6C04-52FA-ED98-0BBA2134C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5B8BDA55-D388-7D8E-5DC3-36C7AAE0C4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EE2DBD6-1732-5DAF-F0F0-01B8C798A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4A35FAD-351D-FF29-A03D-23D3425A1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B6033938-F9AC-89F4-0DA6-B57D87ECE6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13876CBC-DC25-280F-387F-AB488CD3F0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4E68A76-A8E7-EA39-14F5-3118D4D330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CE8D6F46-EEC0-CC9E-3EC6-217081A04E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096CC732-2E3B-2751-F733-3B3D5AD4F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749" y="3359944"/>
            <a:ext cx="531769" cy="377380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C3A7C463-E52B-3503-F758-ED3BCB02D1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3076003"/>
            <a:ext cx="531769" cy="377380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89CB18BA-57D9-337E-EF21-2DEEDED9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0801" y="2982564"/>
            <a:ext cx="531769" cy="377380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F70FB8D-B2F2-F006-4969-B2B6AB77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4787" y="2961133"/>
            <a:ext cx="531769" cy="377380"/>
          </a:xfrm>
          <a:prstGeom prst="rect">
            <a:avLst/>
          </a:prstGeom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E03D759C-9FBB-9D32-6120-6EA31979B1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28708" y="2228182"/>
            <a:ext cx="531769" cy="377380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CCC6FF55-A213-0011-428F-48CD1A4C3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445" y="2219639"/>
            <a:ext cx="531769" cy="377380"/>
          </a:xfrm>
          <a:prstGeom prst="rect">
            <a:avLst/>
          </a:prstGeom>
        </p:spPr>
      </p:pic>
      <p:pic>
        <p:nvPicPr>
          <p:cNvPr id="27" name="Picture 26" descr="A cartoon of a house&#10;&#10;Description automatically generated">
            <a:extLst>
              <a:ext uri="{FF2B5EF4-FFF2-40B4-BE49-F238E27FC236}">
                <a16:creationId xmlns:a16="http://schemas.microsoft.com/office/drawing/2014/main" id="{F8BCE3AC-818F-A4BB-49A0-66C5B7033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1903175"/>
            <a:ext cx="531769" cy="37738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36EECB3-74AC-D848-2213-252DC6B1E3CE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57620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20C11-1E70-392E-895B-3D9506052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97D1689-AE8D-9B9B-81A4-3FC891945D3C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6C3053F-028C-06C7-1D3C-508C7B69E6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5333E6D2-75CF-3B19-0BF1-A0768282E568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F0A96F64-7A8A-8809-DF33-0DC350CD9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160EE4EE-CCC9-C798-60ED-73327A33B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792C6523-60E9-0102-45AE-0D2FF18493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4055C0-E063-6287-5337-F6289F08EF9F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E6D7C2-B65F-A326-E316-D8953931B5B9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CAEE4153-C31E-8BD4-6CF2-6A4EB5549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DF3C373B-EFC3-0263-9982-6C9D39478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3AB405A3-0AA1-2039-CFA8-37B30560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595A8B-4304-2992-8F04-557978F4A60C}"/>
              </a:ext>
            </a:extLst>
          </p:cNvPr>
          <p:cNvSpPr txBox="1"/>
          <p:nvPr/>
        </p:nvSpPr>
        <p:spPr>
          <a:xfrm>
            <a:off x="1628986" y="4861630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But there will be datasets that are different but will have the same </a:t>
            </a:r>
            <a:r>
              <a:rPr lang="en-PH" sz="2500" b="1" dirty="0">
                <a:solidFill>
                  <a:srgbClr val="002060"/>
                </a:solidFill>
              </a:rPr>
              <a:t>x-variance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268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862DE67-3201-F42E-A2C8-3AC8967D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30299E40-05ED-851E-EFAF-83E34A0F8A20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520B83B-7D32-3AFD-926F-4CC0567C69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9B6FD9B8-D696-04C4-0795-F16ABF17B262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E49AC01-5C95-9526-5ED3-3F078BBE7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509C18C-8350-5765-B2E5-B87FDEB22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94BAD834-CB2A-CCBD-15DF-1488E313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A5A2E97-527B-9222-D2A4-B847D2FB22E9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4971B87-5F75-D37E-37D8-99F196EE3C63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7A7F24E9-CD09-0834-E407-8563D7EB0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87FF9666-0FBD-34DB-E2C9-6AD3D57A6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57E4187C-7267-9F5B-0523-E4736FCB5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8670EE7C-A891-4437-19F5-2FC581596E4D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2CC2DC0-F724-AB1E-6CDD-7056073C5095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D8CB6DB3-B026-6464-6E29-421DF07735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5268EC9-8F1B-CA1C-153F-4705A69B8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B51A94C-C298-4C01-C4FE-096B0E1FD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E2D2E68-A8F4-7453-FD6D-8D2EDC6E1460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8BF6C4-F436-F8DD-8302-D32C9122496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0D6CE7E-216D-F8D3-6D24-C3919444E49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1590BC7-C212-7ADD-E51A-89791178E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47163D5-18E3-6781-BCF1-0042874A7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2C569D57-0CF4-97DD-C3A3-896A35642C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C4BD155-D8E4-0A82-D78E-C1495AB2A7B6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CCD9FEB-3036-AB7B-C8C3-3CDE68353F7B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66E23B3-BE69-6D0C-ABE3-4CB8E59D419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68B1D9B5-3BBA-D2AC-F837-3F3D62E9A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29C3D92-2A6E-4620-1551-5DD9C7EDAE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A2024AB-A878-DCA1-998F-B939A37A8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528C7B6-0A6F-68DD-841A-3BE5C35BC073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F56A991-B15E-1F66-27E0-0E35497B73B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3F30B8B0-2066-7E9B-ED65-3C38DE7B45D9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7EE3B67-B33B-F2FE-B5D6-FDE4A71E24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502582A-480B-1FE1-9356-D6B3368063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191217EE-AD30-6E19-CCE9-250FA0CB8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61A1690-7221-AA45-1D6D-88BFBED8F1C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6EDB04A-9FCE-E4F7-F278-9EDAE1540EC6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60771389-6DA3-870F-B395-EB387D5D09FF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CB4FB06F-CDC1-C339-4B2F-566DD31C5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522A653-6B24-4F4E-EA6F-F5AE496CF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742B0F8-9E36-F76E-6114-291EC788C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4D529B3-0BD6-81FE-CFC0-3F15AD21B32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354DE3A-CFF4-13E8-6798-98E7B5DABBB9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493FB6-C2E1-6837-BB6F-0A7945609E9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AE1C3F80-8CBD-EEA3-7339-D783D30F6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62A8FC3-D4F7-8B50-9939-802ABCD42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DA88C18-4E8C-A660-FE35-FA48BAEC03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760CB19-A00A-9715-2110-3449A2E225F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26C4CEC-356E-2C63-05B9-3C7CF5FC7258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283886FA-B145-1594-1E23-91F5719C4CA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EEFAAD2-6851-35CC-3B9F-CB4411072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1A655C0-EDAA-E809-FC69-5E25E7532B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08EF8FEC-5C73-9538-50E9-FDFD52A3E2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8B76C65-025B-DC7A-135B-A157957AD96E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48E4461-C06C-D499-201C-58D096220703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99047219-0A55-99F7-BBB2-4B6B97087118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466BACEB-D407-3731-7213-97E2C1CC4E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7F3E24B5-8C14-51BA-5A37-1D8AB56D7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27986AF4-31F6-8D8F-CDD4-BFA07368E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A62D9E9-979E-0675-00B2-843611C66E8B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7D52960-A5D5-711A-275F-EA82D7578D86}"/>
              </a:ext>
            </a:extLst>
          </p:cNvPr>
          <p:cNvSpPr txBox="1"/>
          <p:nvPr/>
        </p:nvSpPr>
        <p:spPr>
          <a:xfrm>
            <a:off x="1628986" y="4861630"/>
            <a:ext cx="8934027" cy="1246495"/>
          </a:xfrm>
          <a:custGeom>
            <a:avLst/>
            <a:gdLst>
              <a:gd name="connsiteX0" fmla="*/ 0 w 8934027"/>
              <a:gd name="connsiteY0" fmla="*/ 0 h 1246495"/>
              <a:gd name="connsiteX1" fmla="*/ 774282 w 8934027"/>
              <a:gd name="connsiteY1" fmla="*/ 0 h 1246495"/>
              <a:gd name="connsiteX2" fmla="*/ 1548565 w 8934027"/>
              <a:gd name="connsiteY2" fmla="*/ 0 h 1246495"/>
              <a:gd name="connsiteX3" fmla="*/ 2233507 w 8934027"/>
              <a:gd name="connsiteY3" fmla="*/ 0 h 1246495"/>
              <a:gd name="connsiteX4" fmla="*/ 2829109 w 8934027"/>
              <a:gd name="connsiteY4" fmla="*/ 0 h 1246495"/>
              <a:gd name="connsiteX5" fmla="*/ 3246030 w 8934027"/>
              <a:gd name="connsiteY5" fmla="*/ 0 h 1246495"/>
              <a:gd name="connsiteX6" fmla="*/ 3662951 w 8934027"/>
              <a:gd name="connsiteY6" fmla="*/ 0 h 1246495"/>
              <a:gd name="connsiteX7" fmla="*/ 4079872 w 8934027"/>
              <a:gd name="connsiteY7" fmla="*/ 0 h 1246495"/>
              <a:gd name="connsiteX8" fmla="*/ 4854155 w 8934027"/>
              <a:gd name="connsiteY8" fmla="*/ 0 h 1246495"/>
              <a:gd name="connsiteX9" fmla="*/ 5628437 w 8934027"/>
              <a:gd name="connsiteY9" fmla="*/ 0 h 1246495"/>
              <a:gd name="connsiteX10" fmla="*/ 6045358 w 8934027"/>
              <a:gd name="connsiteY10" fmla="*/ 0 h 1246495"/>
              <a:gd name="connsiteX11" fmla="*/ 6551620 w 8934027"/>
              <a:gd name="connsiteY11" fmla="*/ 0 h 1246495"/>
              <a:gd name="connsiteX12" fmla="*/ 7236562 w 8934027"/>
              <a:gd name="connsiteY12" fmla="*/ 0 h 1246495"/>
              <a:gd name="connsiteX13" fmla="*/ 7832164 w 8934027"/>
              <a:gd name="connsiteY13" fmla="*/ 0 h 1246495"/>
              <a:gd name="connsiteX14" fmla="*/ 8249085 w 8934027"/>
              <a:gd name="connsiteY14" fmla="*/ 0 h 1246495"/>
              <a:gd name="connsiteX15" fmla="*/ 8934027 w 8934027"/>
              <a:gd name="connsiteY15" fmla="*/ 0 h 1246495"/>
              <a:gd name="connsiteX16" fmla="*/ 8934027 w 8934027"/>
              <a:gd name="connsiteY16" fmla="*/ 440428 h 1246495"/>
              <a:gd name="connsiteX17" fmla="*/ 8934027 w 8934027"/>
              <a:gd name="connsiteY17" fmla="*/ 855927 h 1246495"/>
              <a:gd name="connsiteX18" fmla="*/ 8934027 w 8934027"/>
              <a:gd name="connsiteY18" fmla="*/ 1246495 h 1246495"/>
              <a:gd name="connsiteX19" fmla="*/ 8338425 w 8934027"/>
              <a:gd name="connsiteY19" fmla="*/ 1246495 h 1246495"/>
              <a:gd name="connsiteX20" fmla="*/ 7742823 w 8934027"/>
              <a:gd name="connsiteY20" fmla="*/ 1246495 h 1246495"/>
              <a:gd name="connsiteX21" fmla="*/ 7057881 w 8934027"/>
              <a:gd name="connsiteY21" fmla="*/ 1246495 h 1246495"/>
              <a:gd name="connsiteX22" fmla="*/ 6283599 w 8934027"/>
              <a:gd name="connsiteY22" fmla="*/ 1246495 h 1246495"/>
              <a:gd name="connsiteX23" fmla="*/ 5687997 w 8934027"/>
              <a:gd name="connsiteY23" fmla="*/ 1246495 h 1246495"/>
              <a:gd name="connsiteX24" fmla="*/ 5360416 w 8934027"/>
              <a:gd name="connsiteY24" fmla="*/ 1246495 h 1246495"/>
              <a:gd name="connsiteX25" fmla="*/ 5032835 w 8934027"/>
              <a:gd name="connsiteY25" fmla="*/ 1246495 h 1246495"/>
              <a:gd name="connsiteX26" fmla="*/ 4258553 w 8934027"/>
              <a:gd name="connsiteY26" fmla="*/ 1246495 h 1246495"/>
              <a:gd name="connsiteX27" fmla="*/ 3752291 w 8934027"/>
              <a:gd name="connsiteY27" fmla="*/ 1246495 h 1246495"/>
              <a:gd name="connsiteX28" fmla="*/ 3156690 w 8934027"/>
              <a:gd name="connsiteY28" fmla="*/ 1246495 h 1246495"/>
              <a:gd name="connsiteX29" fmla="*/ 2739768 w 8934027"/>
              <a:gd name="connsiteY29" fmla="*/ 1246495 h 1246495"/>
              <a:gd name="connsiteX30" fmla="*/ 2412187 w 8934027"/>
              <a:gd name="connsiteY30" fmla="*/ 1246495 h 1246495"/>
              <a:gd name="connsiteX31" fmla="*/ 1995266 w 8934027"/>
              <a:gd name="connsiteY31" fmla="*/ 1246495 h 1246495"/>
              <a:gd name="connsiteX32" fmla="*/ 1399664 w 8934027"/>
              <a:gd name="connsiteY32" fmla="*/ 1246495 h 1246495"/>
              <a:gd name="connsiteX33" fmla="*/ 982743 w 8934027"/>
              <a:gd name="connsiteY33" fmla="*/ 1246495 h 1246495"/>
              <a:gd name="connsiteX34" fmla="*/ 0 w 8934027"/>
              <a:gd name="connsiteY34" fmla="*/ 1246495 h 1246495"/>
              <a:gd name="connsiteX35" fmla="*/ 0 w 8934027"/>
              <a:gd name="connsiteY35" fmla="*/ 830997 h 1246495"/>
              <a:gd name="connsiteX36" fmla="*/ 0 w 8934027"/>
              <a:gd name="connsiteY36" fmla="*/ 427963 h 1246495"/>
              <a:gd name="connsiteX37" fmla="*/ 0 w 8934027"/>
              <a:gd name="connsiteY37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934027" h="1246495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7390" y="95068"/>
                  <a:pt x="8895087" y="349903"/>
                  <a:pt x="8934027" y="440428"/>
                </a:cubicBezTo>
                <a:cubicBezTo>
                  <a:pt x="8972967" y="530953"/>
                  <a:pt x="8928149" y="705562"/>
                  <a:pt x="8934027" y="855927"/>
                </a:cubicBezTo>
                <a:cubicBezTo>
                  <a:pt x="8939905" y="1006292"/>
                  <a:pt x="8925694" y="1163429"/>
                  <a:pt x="8934027" y="1246495"/>
                </a:cubicBezTo>
                <a:cubicBezTo>
                  <a:pt x="8789729" y="1316554"/>
                  <a:pt x="8568120" y="1207844"/>
                  <a:pt x="8338425" y="1246495"/>
                </a:cubicBezTo>
                <a:cubicBezTo>
                  <a:pt x="8108730" y="1285146"/>
                  <a:pt x="8016852" y="1238447"/>
                  <a:pt x="7742823" y="1246495"/>
                </a:cubicBezTo>
                <a:cubicBezTo>
                  <a:pt x="7468794" y="1254543"/>
                  <a:pt x="7330137" y="1222292"/>
                  <a:pt x="7057881" y="1246495"/>
                </a:cubicBezTo>
                <a:cubicBezTo>
                  <a:pt x="6785625" y="1270698"/>
                  <a:pt x="6568467" y="1244394"/>
                  <a:pt x="6283599" y="1246495"/>
                </a:cubicBezTo>
                <a:cubicBezTo>
                  <a:pt x="5998731" y="1248596"/>
                  <a:pt x="5888150" y="1186485"/>
                  <a:pt x="5687997" y="1246495"/>
                </a:cubicBezTo>
                <a:cubicBezTo>
                  <a:pt x="5487844" y="1306505"/>
                  <a:pt x="5522796" y="1216776"/>
                  <a:pt x="5360416" y="1246495"/>
                </a:cubicBezTo>
                <a:cubicBezTo>
                  <a:pt x="5198036" y="1276214"/>
                  <a:pt x="5119637" y="1215819"/>
                  <a:pt x="5032835" y="1246495"/>
                </a:cubicBezTo>
                <a:cubicBezTo>
                  <a:pt x="4946033" y="1277171"/>
                  <a:pt x="4550447" y="1168389"/>
                  <a:pt x="4258553" y="1246495"/>
                </a:cubicBezTo>
                <a:cubicBezTo>
                  <a:pt x="3966659" y="1324601"/>
                  <a:pt x="3910417" y="1245837"/>
                  <a:pt x="3752291" y="1246495"/>
                </a:cubicBezTo>
                <a:cubicBezTo>
                  <a:pt x="3594165" y="1247153"/>
                  <a:pt x="3356796" y="1205558"/>
                  <a:pt x="3156690" y="1246495"/>
                </a:cubicBezTo>
                <a:cubicBezTo>
                  <a:pt x="2956584" y="1287432"/>
                  <a:pt x="2893883" y="1242183"/>
                  <a:pt x="2739768" y="1246495"/>
                </a:cubicBezTo>
                <a:cubicBezTo>
                  <a:pt x="2585653" y="1250807"/>
                  <a:pt x="2573545" y="1208373"/>
                  <a:pt x="2412187" y="1246495"/>
                </a:cubicBezTo>
                <a:cubicBezTo>
                  <a:pt x="2250829" y="1284617"/>
                  <a:pt x="2199502" y="1232303"/>
                  <a:pt x="1995266" y="1246495"/>
                </a:cubicBezTo>
                <a:cubicBezTo>
                  <a:pt x="1791030" y="1260687"/>
                  <a:pt x="1617613" y="1221395"/>
                  <a:pt x="1399664" y="1246495"/>
                </a:cubicBezTo>
                <a:cubicBezTo>
                  <a:pt x="1181715" y="1271595"/>
                  <a:pt x="1128423" y="1205409"/>
                  <a:pt x="982743" y="1246495"/>
                </a:cubicBezTo>
                <a:cubicBezTo>
                  <a:pt x="837063" y="1287581"/>
                  <a:pt x="341567" y="1144387"/>
                  <a:pt x="0" y="1246495"/>
                </a:cubicBezTo>
                <a:cubicBezTo>
                  <a:pt x="-34572" y="1042784"/>
                  <a:pt x="16246" y="917564"/>
                  <a:pt x="0" y="830997"/>
                </a:cubicBezTo>
                <a:cubicBezTo>
                  <a:pt x="-16246" y="744430"/>
                  <a:pt x="24742" y="514916"/>
                  <a:pt x="0" y="427963"/>
                </a:cubicBezTo>
                <a:cubicBezTo>
                  <a:pt x="-24742" y="341010"/>
                  <a:pt x="31456" y="1240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Look at these two datasets. If you notice they are different from each other, but they will have the same</a:t>
            </a:r>
            <a:r>
              <a:rPr lang="en-PH" sz="2500" b="1" dirty="0"/>
              <a:t> </a:t>
            </a:r>
            <a:r>
              <a:rPr lang="en-PH" sz="2500" b="1" dirty="0">
                <a:solidFill>
                  <a:srgbClr val="002060"/>
                </a:solidFill>
              </a:rPr>
              <a:t>x-variance </a:t>
            </a:r>
            <a:r>
              <a:rPr lang="en-PH" sz="2500" dirty="0"/>
              <a:t>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98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5E5828-24B9-39B2-063C-F5E93E73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C7FE4C73-EA65-AB9A-8BA9-145E52455C7F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6AEC968-0F1E-1B57-35D6-E579B573F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EE73712-6205-F6DF-CCD3-543BC5AC3F67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AC6C230-2570-7785-DCC2-1D20E8457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C43F3A27-3F49-BEF4-61FC-17298F4B9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DD879399-6B16-2B7E-A2C4-61ADD634B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B01144-1068-1834-6786-0520552BD451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BE56345-6088-47F0-BB91-8DFEC403DF80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989A3F8B-0171-83A0-AFE1-2B72B4BF8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577A16D-2C26-0F8F-7BEC-F444BC3DF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052D4FDB-85D8-B9EB-BF53-28D14EF1F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/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/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eqArr>
                            <m:eqArr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/>
                          </m:eqAr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4D28E366-827B-A0AC-229E-0C61D1535E4B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5A59E5B-9C1C-0C9C-8117-795F3AD766B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14D5E96-6F39-70D2-035B-1F38B96FC5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D5371D6-7EA6-BE46-4FF7-71FB02122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89E2446-B7A1-26AE-6331-DC06EC9E34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4DE5E3-CA78-7C3F-B711-797CD53258DE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1ECFF35-F5B2-0EC7-752B-4D60A2F01AD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2F5C841-9A35-12EB-9570-9C7C4B053BAA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88CB7E2-ED1F-2604-ADF1-45E3682F16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6BB132F-674F-AD06-E222-F8E8027D83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838112E7-B301-EA83-7913-8C9A2FE456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BF877BC-7876-03E1-EFE5-7DE2B71A5159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AB3F903-994B-2097-B3F5-FD4452FC17E0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9A6BFC0-CF1B-50BD-A854-71495E1DF43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FEAEF26-6246-F67C-4676-E79588CEB5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11DDBB25-B691-ABE0-D860-77E7E9020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A644C16A-0838-CD11-2FEC-524F70E8EE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02E880D-9D92-39EC-2647-E938E9D392B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B4BED4B-1A9D-42A7-0EFB-FBB7AFE87714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8A1CB92-7AD4-E5D6-E305-CBBA7E4508E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26547808-2D2B-9E75-230F-33D2CDAD1F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84CE04CA-14CE-9BBA-567A-03B6FDB670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B3A618F-1805-624B-4D9D-EA7C6BF1B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80FF4E7-32D6-FCBB-91DE-ACE2A8FF69E4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52A6BAD-0EBD-E3E3-CA3E-2C7FF16A3CBA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AEF5E79-4C96-ABE6-BDE4-8EDA56B4F5C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BFE21400-EB5A-1C88-4154-E3BD0F87A6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F38EAAB-7F4E-B959-DF51-D7A836B11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C227897-400C-245B-631C-9C2C599EE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5755213-4D28-2C67-7F07-C74056DD7D3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5A6F17C-F2D9-9A49-87D1-471F3725371E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89195FE9-01E2-5207-9EF0-DF486B090726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465072A-F9E0-7A2A-4F2C-28701FBBA8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CE1A6BF-2D53-D6DB-1503-FCBF61A0B2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5CA51A0-B3A4-10C7-4E75-0FA5D3824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CED83F6-706E-292D-99F0-254EBAFEC7F6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AEBBD3-FACB-99B9-7297-2D941413BBC5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FDF74A6-04DD-E188-98B1-885D63843B0D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45E96C0-9F45-026D-E110-D27369F9BB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CEA29E-C0D8-1C16-6BF5-4C7F1AD9EA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0E11D59-3B10-F163-E753-37B307012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C1E4BAF-ACAE-D629-9E26-6D9D6EFD4675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806905C-511E-954C-9E85-353513F2A3A2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18BAB18-5C20-D23B-4BBA-9501AC08BDF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BF86FCA-9BD6-0EA6-3236-038572BA89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7372EB0-890D-D845-5748-CCA0216C9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D5E9BD0B-F8F3-DDDE-D7FA-8677326F89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390A7B2-EBEA-52A8-034E-9E48F388F614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131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B6850B-D45E-2854-F7DF-75C74A19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68B4F81-5DCA-8652-2835-35AA72F67027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B1DCBE3-31C1-272E-ACDB-7A032599D0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D3ADD2A-9922-6C54-2576-B3D0352D4BA1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54F2E392-8CC0-C878-A428-8F7E0E88E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724F24E-B891-B0C2-1882-01AE41ABA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6CB55A97-2099-DCFA-2F32-FCAFD5642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CEDDB26-5192-FED0-7B28-32C9E525F663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7BF6E6B-18AD-00CD-C1A0-97F32B90007B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6542A34A-286C-667C-1432-8BB76FDDE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145A058-3CF2-B64C-971D-52636CBE6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95B5AB10-B715-601F-75F4-5988A76C3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B628A9D-7C0F-CBEA-F499-9DC786257166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D48A14A-545D-A2D9-E39B-3770E0A74A33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9859C42A-B7F5-32AE-F59D-0E464782A4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98830C7-BA84-79D4-D6B5-7654514338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17D5C11-F679-6AD8-03BF-F657B23CB3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D3196E4-857D-2624-37F6-D1E14A2BF09C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1971A08-9387-1F1B-A8F1-8497984B500D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840A7A9-FA4B-9D5C-0ECA-84E7BCF8188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82F45E87-A38B-1B2F-C24F-1FB516C77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4A2C27C-06B1-8EDD-64AF-39211AB78D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87F84C-0E82-A83C-EDD7-B95B8F29CC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BBB417-CAB1-6F58-A4CC-5527914CA665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21E917-2E9E-F7F9-EBA2-697579DE9A97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1B0AD93-A240-CFF8-03BA-E61E18872F27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48D7651-F1AE-D113-099F-E3261EFCC9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732A851-5ED3-54E1-55A5-7AC088CE84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352512BB-8A70-82AD-F819-6EA2E90B45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72C8C4-454A-1A1A-E35E-3FEFC979E12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FDCDF6A-E1D9-45EC-113E-63ED17BC00E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7054FEB-2805-83B9-DED0-845222F152A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F2867F4-BB91-E88D-5E56-B1BBC4926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E859367-DDA1-532F-FE73-2C6D53E8F1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C2D740F-3128-C3B1-B1CD-245FED87D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730AFE-C8F2-6A2C-43C1-F719A3CB1D7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E428745-B2FC-998D-84D7-675193C07739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9834936-80DA-9A29-E8AF-545754B0AD6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F6EDF8F-DB01-6E6A-215C-76716EF1B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1097365B-607D-4699-ECE4-101621BEB3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B9AF398-CC60-487B-68A0-F85DC24CB3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8496B07-957F-DA87-E185-E2C6475DBD1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8D8F1D8-91FC-296D-3FB8-DF2AFAFD557C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7C078D-922A-D38B-5C79-8D691F5A2E2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7B26D93-552B-7DF6-97C2-0D8BBA9FE3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AE0CE82A-A2AA-D02F-9C0C-43D343975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89D9D480-F577-7305-428E-4814DBE09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47A4E9F-1A3B-F848-5E6B-DCE3F49B1439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65CA96F-071F-C944-73D9-27DAB6A799CF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FB62304-C7C4-356B-AFDC-CFE97E20F91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417DCA8F-4AE0-7EC9-1D44-44EF85648A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4317570-4F37-AAC2-A03E-816A66D337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6A16CB0-0BA6-9AC8-9EE7-947545F85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6F5F566-C876-4CC7-F86C-AC7CE68643A8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D3ADC26-1AFA-FCF1-6CAD-ED6FDC8B1167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D75CA129-5676-84EB-5645-3CCE50E996A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0FC4215C-6F5E-FE3A-3E07-40C5F06C9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403E0237-97B6-B7E4-23A5-69C432B865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446C1F8-3754-F529-A567-FE08BE0D45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ED5A2DF-3703-B72E-65B1-7F669A07EB5A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D4EDF03-88C4-29D9-81AA-EBE4DCDD08BB}"/>
              </a:ext>
            </a:extLst>
          </p:cNvPr>
          <p:cNvSpPr txBox="1"/>
          <p:nvPr/>
        </p:nvSpPr>
        <p:spPr>
          <a:xfrm>
            <a:off x="1628986" y="4448850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Is there another metric to tell us that these two are different?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DB38E-C9DF-A16B-9F10-FAC556EFEBA0}"/>
              </a:ext>
            </a:extLst>
          </p:cNvPr>
          <p:cNvSpPr txBox="1"/>
          <p:nvPr/>
        </p:nvSpPr>
        <p:spPr>
          <a:xfrm>
            <a:off x="4213858" y="5218374"/>
            <a:ext cx="3764282" cy="477054"/>
          </a:xfrm>
          <a:custGeom>
            <a:avLst/>
            <a:gdLst>
              <a:gd name="connsiteX0" fmla="*/ 0 w 3764282"/>
              <a:gd name="connsiteY0" fmla="*/ 0 h 477054"/>
              <a:gd name="connsiteX1" fmla="*/ 613040 w 3764282"/>
              <a:gd name="connsiteY1" fmla="*/ 0 h 477054"/>
              <a:gd name="connsiteX2" fmla="*/ 1226080 w 3764282"/>
              <a:gd name="connsiteY2" fmla="*/ 0 h 477054"/>
              <a:gd name="connsiteX3" fmla="*/ 1801478 w 3764282"/>
              <a:gd name="connsiteY3" fmla="*/ 0 h 477054"/>
              <a:gd name="connsiteX4" fmla="*/ 2339232 w 3764282"/>
              <a:gd name="connsiteY4" fmla="*/ 0 h 477054"/>
              <a:gd name="connsiteX5" fmla="*/ 2801701 w 3764282"/>
              <a:gd name="connsiteY5" fmla="*/ 0 h 477054"/>
              <a:gd name="connsiteX6" fmla="*/ 3264170 w 3764282"/>
              <a:gd name="connsiteY6" fmla="*/ 0 h 477054"/>
              <a:gd name="connsiteX7" fmla="*/ 3764282 w 3764282"/>
              <a:gd name="connsiteY7" fmla="*/ 0 h 477054"/>
              <a:gd name="connsiteX8" fmla="*/ 3764282 w 3764282"/>
              <a:gd name="connsiteY8" fmla="*/ 477054 h 477054"/>
              <a:gd name="connsiteX9" fmla="*/ 3188885 w 3764282"/>
              <a:gd name="connsiteY9" fmla="*/ 477054 h 477054"/>
              <a:gd name="connsiteX10" fmla="*/ 2726416 w 3764282"/>
              <a:gd name="connsiteY10" fmla="*/ 477054 h 477054"/>
              <a:gd name="connsiteX11" fmla="*/ 2113375 w 3764282"/>
              <a:gd name="connsiteY11" fmla="*/ 477054 h 477054"/>
              <a:gd name="connsiteX12" fmla="*/ 1650907 w 3764282"/>
              <a:gd name="connsiteY12" fmla="*/ 477054 h 477054"/>
              <a:gd name="connsiteX13" fmla="*/ 1037866 w 3764282"/>
              <a:gd name="connsiteY13" fmla="*/ 477054 h 477054"/>
              <a:gd name="connsiteX14" fmla="*/ 0 w 3764282"/>
              <a:gd name="connsiteY14" fmla="*/ 477054 h 477054"/>
              <a:gd name="connsiteX15" fmla="*/ 0 w 3764282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4282" h="477054" extrusionOk="0">
                <a:moveTo>
                  <a:pt x="0" y="0"/>
                </a:moveTo>
                <a:cubicBezTo>
                  <a:pt x="150329" y="-45632"/>
                  <a:pt x="342301" y="1272"/>
                  <a:pt x="613040" y="0"/>
                </a:cubicBezTo>
                <a:cubicBezTo>
                  <a:pt x="883779" y="-1272"/>
                  <a:pt x="1067052" y="47386"/>
                  <a:pt x="1226080" y="0"/>
                </a:cubicBezTo>
                <a:cubicBezTo>
                  <a:pt x="1385108" y="-47386"/>
                  <a:pt x="1596213" y="57659"/>
                  <a:pt x="1801478" y="0"/>
                </a:cubicBezTo>
                <a:cubicBezTo>
                  <a:pt x="2006743" y="-57659"/>
                  <a:pt x="2229737" y="30709"/>
                  <a:pt x="2339232" y="0"/>
                </a:cubicBezTo>
                <a:cubicBezTo>
                  <a:pt x="2448727" y="-30709"/>
                  <a:pt x="2590722" y="7530"/>
                  <a:pt x="2801701" y="0"/>
                </a:cubicBezTo>
                <a:cubicBezTo>
                  <a:pt x="3012680" y="-7530"/>
                  <a:pt x="3160145" y="12167"/>
                  <a:pt x="3264170" y="0"/>
                </a:cubicBezTo>
                <a:cubicBezTo>
                  <a:pt x="3368195" y="-12167"/>
                  <a:pt x="3612670" y="49192"/>
                  <a:pt x="3764282" y="0"/>
                </a:cubicBezTo>
                <a:cubicBezTo>
                  <a:pt x="3782968" y="178763"/>
                  <a:pt x="3722608" y="238531"/>
                  <a:pt x="3764282" y="477054"/>
                </a:cubicBezTo>
                <a:cubicBezTo>
                  <a:pt x="3587557" y="509901"/>
                  <a:pt x="3390331" y="419143"/>
                  <a:pt x="3188885" y="477054"/>
                </a:cubicBezTo>
                <a:cubicBezTo>
                  <a:pt x="2987439" y="534965"/>
                  <a:pt x="2952939" y="429705"/>
                  <a:pt x="2726416" y="477054"/>
                </a:cubicBezTo>
                <a:cubicBezTo>
                  <a:pt x="2499893" y="524403"/>
                  <a:pt x="2309838" y="447156"/>
                  <a:pt x="2113375" y="477054"/>
                </a:cubicBezTo>
                <a:cubicBezTo>
                  <a:pt x="1916912" y="506952"/>
                  <a:pt x="1802761" y="450228"/>
                  <a:pt x="1650907" y="477054"/>
                </a:cubicBezTo>
                <a:cubicBezTo>
                  <a:pt x="1499053" y="503880"/>
                  <a:pt x="1286931" y="416929"/>
                  <a:pt x="1037866" y="477054"/>
                </a:cubicBezTo>
                <a:cubicBezTo>
                  <a:pt x="788801" y="537179"/>
                  <a:pt x="253956" y="366969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accent6">
                    <a:lumMod val="75000"/>
                  </a:schemeClr>
                </a:solidFill>
              </a:rPr>
              <a:t>Yes! </a:t>
            </a:r>
            <a:r>
              <a:rPr lang="en-PH" sz="2500" dirty="0"/>
              <a:t>Its called </a:t>
            </a:r>
            <a:r>
              <a:rPr lang="en-PH" sz="2500" b="1" dirty="0">
                <a:solidFill>
                  <a:srgbClr val="002060"/>
                </a:solidFill>
              </a:rPr>
              <a:t>covariance</a:t>
            </a:r>
          </a:p>
        </p:txBody>
      </p:sp>
    </p:spTree>
    <p:extLst>
      <p:ext uri="{BB962C8B-B14F-4D97-AF65-F5344CB8AC3E}">
        <p14:creationId xmlns:p14="http://schemas.microsoft.com/office/powerpoint/2010/main" val="38457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360D920-CFE4-3EEC-FF69-9A43B43C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220B98-5274-3AD2-399C-9BAC8E86C11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F6B63FE-E3A3-C032-4E91-1BF215A118C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8BA6EFF-6A06-58DE-02DE-AAD11405B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1447305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482A7A77-5C36-B931-843C-F6D3FCAD3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48E8181D-822E-BEC4-10C8-535684053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9" y="14473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/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C3112CD0-74B6-F44F-2ACF-52F7C43AF648}"/>
              </a:ext>
            </a:extLst>
          </p:cNvPr>
          <p:cNvSpPr txBox="1"/>
          <p:nvPr/>
        </p:nvSpPr>
        <p:spPr>
          <a:xfrm>
            <a:off x="257981" y="786593"/>
            <a:ext cx="2054188" cy="1246495"/>
          </a:xfrm>
          <a:custGeom>
            <a:avLst/>
            <a:gdLst>
              <a:gd name="connsiteX0" fmla="*/ 0 w 2054188"/>
              <a:gd name="connsiteY0" fmla="*/ 0 h 1246495"/>
              <a:gd name="connsiteX1" fmla="*/ 554631 w 2054188"/>
              <a:gd name="connsiteY1" fmla="*/ 0 h 1246495"/>
              <a:gd name="connsiteX2" fmla="*/ 1109262 w 2054188"/>
              <a:gd name="connsiteY2" fmla="*/ 0 h 1246495"/>
              <a:gd name="connsiteX3" fmla="*/ 2054188 w 2054188"/>
              <a:gd name="connsiteY3" fmla="*/ 0 h 1246495"/>
              <a:gd name="connsiteX4" fmla="*/ 2054188 w 2054188"/>
              <a:gd name="connsiteY4" fmla="*/ 415498 h 1246495"/>
              <a:gd name="connsiteX5" fmla="*/ 2054188 w 2054188"/>
              <a:gd name="connsiteY5" fmla="*/ 793602 h 1246495"/>
              <a:gd name="connsiteX6" fmla="*/ 2054188 w 2054188"/>
              <a:gd name="connsiteY6" fmla="*/ 1246495 h 1246495"/>
              <a:gd name="connsiteX7" fmla="*/ 1540641 w 2054188"/>
              <a:gd name="connsiteY7" fmla="*/ 1246495 h 1246495"/>
              <a:gd name="connsiteX8" fmla="*/ 1047636 w 2054188"/>
              <a:gd name="connsiteY8" fmla="*/ 1246495 h 1246495"/>
              <a:gd name="connsiteX9" fmla="*/ 534089 w 2054188"/>
              <a:gd name="connsiteY9" fmla="*/ 1246495 h 1246495"/>
              <a:gd name="connsiteX10" fmla="*/ 0 w 2054188"/>
              <a:gd name="connsiteY10" fmla="*/ 1246495 h 1246495"/>
              <a:gd name="connsiteX11" fmla="*/ 0 w 2054188"/>
              <a:gd name="connsiteY11" fmla="*/ 806067 h 1246495"/>
              <a:gd name="connsiteX12" fmla="*/ 0 w 2054188"/>
              <a:gd name="connsiteY12" fmla="*/ 415498 h 1246495"/>
              <a:gd name="connsiteX13" fmla="*/ 0 w 2054188"/>
              <a:gd name="connsiteY13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54188" h="1246495" extrusionOk="0">
                <a:moveTo>
                  <a:pt x="0" y="0"/>
                </a:moveTo>
                <a:cubicBezTo>
                  <a:pt x="244917" y="-50131"/>
                  <a:pt x="277763" y="439"/>
                  <a:pt x="554631" y="0"/>
                </a:cubicBezTo>
                <a:cubicBezTo>
                  <a:pt x="831499" y="-439"/>
                  <a:pt x="842736" y="48956"/>
                  <a:pt x="1109262" y="0"/>
                </a:cubicBezTo>
                <a:cubicBezTo>
                  <a:pt x="1375788" y="-48956"/>
                  <a:pt x="1810144" y="95816"/>
                  <a:pt x="2054188" y="0"/>
                </a:cubicBezTo>
                <a:cubicBezTo>
                  <a:pt x="2100144" y="186887"/>
                  <a:pt x="2005465" y="279662"/>
                  <a:pt x="2054188" y="415498"/>
                </a:cubicBezTo>
                <a:cubicBezTo>
                  <a:pt x="2102911" y="551334"/>
                  <a:pt x="2046457" y="660645"/>
                  <a:pt x="2054188" y="793602"/>
                </a:cubicBezTo>
                <a:cubicBezTo>
                  <a:pt x="2061919" y="926559"/>
                  <a:pt x="2030424" y="1042730"/>
                  <a:pt x="2054188" y="1246495"/>
                </a:cubicBezTo>
                <a:cubicBezTo>
                  <a:pt x="1813824" y="1271629"/>
                  <a:pt x="1784269" y="1242391"/>
                  <a:pt x="1540641" y="1246495"/>
                </a:cubicBezTo>
                <a:cubicBezTo>
                  <a:pt x="1297013" y="1250599"/>
                  <a:pt x="1154868" y="1198436"/>
                  <a:pt x="1047636" y="1246495"/>
                </a:cubicBezTo>
                <a:cubicBezTo>
                  <a:pt x="940404" y="1294554"/>
                  <a:pt x="723410" y="1210066"/>
                  <a:pt x="534089" y="1246495"/>
                </a:cubicBezTo>
                <a:cubicBezTo>
                  <a:pt x="344768" y="1282924"/>
                  <a:pt x="258822" y="1222815"/>
                  <a:pt x="0" y="1246495"/>
                </a:cubicBezTo>
                <a:cubicBezTo>
                  <a:pt x="-13178" y="1040745"/>
                  <a:pt x="52624" y="914642"/>
                  <a:pt x="0" y="806067"/>
                </a:cubicBezTo>
                <a:cubicBezTo>
                  <a:pt x="-52624" y="697492"/>
                  <a:pt x="14132" y="524359"/>
                  <a:pt x="0" y="415498"/>
                </a:cubicBezTo>
                <a:cubicBezTo>
                  <a:pt x="-14132" y="306637"/>
                  <a:pt x="7470" y="2009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Sum of Product of Coordinates</a:t>
            </a:r>
          </a:p>
        </p:txBody>
      </p:sp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A3DC970-0C51-1B8F-CCA1-47D699C4C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415118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A558CE-29D0-5AAD-8A1B-327F98BA0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8" y="4151189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/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blipFill>
                <a:blip r:embed="rId4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/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/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blipFill>
                <a:blip r:embed="rId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/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/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/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/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blipFill>
                <a:blip r:embed="rId10"/>
                <a:stretch>
                  <a:fillRect b="-1449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/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66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3D0FE55-F28D-CCF5-44AB-A4D27B925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ADBF3-4C20-24B1-E649-6EBD9FD8066E}"/>
              </a:ext>
            </a:extLst>
          </p:cNvPr>
          <p:cNvCxnSpPr>
            <a:cxnSpLocks/>
          </p:cNvCxnSpPr>
          <p:nvPr/>
        </p:nvCxnSpPr>
        <p:spPr>
          <a:xfrm flipV="1">
            <a:off x="2899131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C8A4B0F-E8E5-B0AA-DCCB-DC81CA4277CB}"/>
              </a:ext>
            </a:extLst>
          </p:cNvPr>
          <p:cNvCxnSpPr>
            <a:cxnSpLocks/>
          </p:cNvCxnSpPr>
          <p:nvPr/>
        </p:nvCxnSpPr>
        <p:spPr>
          <a:xfrm>
            <a:off x="171449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AFA4149-6EAC-3117-4BC7-4BC4FD0CA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5" y="792069"/>
            <a:ext cx="296795" cy="253891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7A92C72E-D36E-7475-4399-14ACFAEA5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733" y="166867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/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blipFill>
                <a:blip r:embed="rId3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B0ED4648-9754-FB7A-6503-B17C6A4D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72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/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/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/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/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463B34-346D-9B42-D68E-246C3E6E2010}"/>
              </a:ext>
            </a:extLst>
          </p:cNvPr>
          <p:cNvCxnSpPr>
            <a:cxnSpLocks/>
          </p:cNvCxnSpPr>
          <p:nvPr/>
        </p:nvCxnSpPr>
        <p:spPr>
          <a:xfrm flipV="1">
            <a:off x="9150299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DEB056-E8ED-6814-B9A5-B5533484A377}"/>
              </a:ext>
            </a:extLst>
          </p:cNvPr>
          <p:cNvCxnSpPr>
            <a:cxnSpLocks/>
          </p:cNvCxnSpPr>
          <p:nvPr/>
        </p:nvCxnSpPr>
        <p:spPr>
          <a:xfrm>
            <a:off x="6422617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D579C069-A0BF-EDBA-7650-91E85781E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901" y="1668676"/>
            <a:ext cx="296795" cy="253891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8B6552A-CD1B-2D01-493B-2E31787AB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941" y="792069"/>
            <a:ext cx="296795" cy="253891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D21501B3-944B-F895-FF1D-E5E7D843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863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/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/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/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/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/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/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(−2)+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+(−2)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/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33545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A98C1-D460-AAE8-F694-D755ADCB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55CC708-ADCD-E147-0AC9-41EA404D1E8A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3C647A-2CA6-CC1A-0FBB-9F4A84345FA3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2394E22F-F83E-5BDC-254D-159B86B31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237837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4743815-4486-ACB8-F0D1-0F51556E3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B14FF72-BBDB-4DA4-1170-E34AEF416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337339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46525D73-E4BD-58C7-26B3-ACF5AED55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3781813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663C004-A2CA-199E-5FBA-66C4DA7A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115600"/>
            <a:ext cx="444007" cy="402124"/>
          </a:xfrm>
          <a:prstGeom prst="rect">
            <a:avLst/>
          </a:prstGeom>
        </p:spPr>
      </p:pic>
      <p:pic>
        <p:nvPicPr>
          <p:cNvPr id="41" name="Picture 40" descr="A cartoon of a house&#10;&#10;Description automatically generated">
            <a:extLst>
              <a:ext uri="{FF2B5EF4-FFF2-40B4-BE49-F238E27FC236}">
                <a16:creationId xmlns:a16="http://schemas.microsoft.com/office/drawing/2014/main" id="{D0093E54-A029-E9FE-40E2-88B9D4363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450886"/>
            <a:ext cx="444007" cy="402124"/>
          </a:xfrm>
          <a:prstGeom prst="rect">
            <a:avLst/>
          </a:prstGeom>
        </p:spPr>
      </p:pic>
      <p:pic>
        <p:nvPicPr>
          <p:cNvPr id="42" name="Picture 41" descr="A cartoon of a house&#10;&#10;Description automatically generated">
            <a:extLst>
              <a:ext uri="{FF2B5EF4-FFF2-40B4-BE49-F238E27FC236}">
                <a16:creationId xmlns:a16="http://schemas.microsoft.com/office/drawing/2014/main" id="{FDC1FF4B-E7A2-139B-A64A-CA2FE9EDE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2634651"/>
            <a:ext cx="444007" cy="402124"/>
          </a:xfrm>
          <a:prstGeom prst="rect">
            <a:avLst/>
          </a:prstGeom>
        </p:spPr>
      </p:pic>
      <p:pic>
        <p:nvPicPr>
          <p:cNvPr id="43" name="Picture 42" descr="A cartoon of a house&#10;&#10;Description automatically generated">
            <a:extLst>
              <a:ext uri="{FF2B5EF4-FFF2-40B4-BE49-F238E27FC236}">
                <a16:creationId xmlns:a16="http://schemas.microsoft.com/office/drawing/2014/main" id="{9E4C384A-7402-E7D6-EC66-B45401D33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169500"/>
            <a:ext cx="444007" cy="402124"/>
          </a:xfrm>
          <a:prstGeom prst="rect">
            <a:avLst/>
          </a:prstGeom>
        </p:spPr>
      </p:pic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0E451101-919B-DA0C-03F9-C454AC54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2500427"/>
            <a:ext cx="444007" cy="402124"/>
          </a:xfrm>
          <a:prstGeom prst="rect">
            <a:avLst/>
          </a:prstGeom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4B54FC57-6551-589E-EBA9-7D82B0336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17236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/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5A37C65-6F54-A60B-1946-039C1F514599}"/>
                  </a:ext>
                </a:extLst>
              </p:cNvPr>
              <p:cNvSpPr txBox="1"/>
              <p:nvPr/>
            </p:nvSpPr>
            <p:spPr>
              <a:xfrm>
                <a:off x="7073152" y="375409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5A37C65-6F54-A60B-1946-039C1F514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375409"/>
                <a:ext cx="4759825" cy="122475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271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CCCCA-6214-C68D-7142-D6629F05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1B586-6076-41C5-5895-EFFF780F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 covariance matrix is a square matrix with diagonal elements that represent the variance and the non-diagonal components that express covariance.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6C464C9-60A5-359D-68C5-5A21209C70C8}"/>
                  </a:ext>
                </a:extLst>
              </p:cNvPr>
              <p:cNvSpPr txBox="1"/>
              <p:nvPr/>
            </p:nvSpPr>
            <p:spPr>
              <a:xfrm>
                <a:off x="3716087" y="4099607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6C464C9-60A5-359D-68C5-5A21209C7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087" y="4099607"/>
                <a:ext cx="4759825" cy="12247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13139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3FC44A-A152-1B56-7F17-F61EDE91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5BD0CE88-FF33-89FD-3546-B2C91099B5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500857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19424800-8748-9610-4714-10E619BE89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725346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F0F53F-73E8-6D84-DF4A-3218657504F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220B5-599C-ED39-0F95-AA40E01878FB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If we apply the covariance matrix to our graph from the left, this will result in a graph in the right. 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619588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08C864-66D3-8494-2C2D-6571764D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6489A425-B375-1DEC-7C27-4E68EB4C7D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0527080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7AFBF391-9D0D-A5DF-DB19-D8AA7E90E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1122771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C427D02E-D522-45C9-7945-87E09EA9FA07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4C6105-22E9-315B-7950-3A0C41A8BA6A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08A9027-6452-E776-E4DE-097A7C9A405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58C291-9C71-6911-B149-B0F6EA58444E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We can see that the original graph was</a:t>
            </a:r>
            <a:r>
              <a:rPr lang="en-US" sz="2500" b="1" dirty="0"/>
              <a:t> extended in two directions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98442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300D52-E8FC-B11E-98B2-E27EB6689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AEECC73-5B2C-A51C-A9DC-1E7016649AD0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404F865F-000A-1EE7-5341-815F064D1885}"/>
              </a:ext>
            </a:extLst>
          </p:cNvPr>
          <p:cNvGraphicFramePr/>
          <p:nvPr/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4DC473E5-2E02-A18E-EA96-F44BE3EB7B95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081FE0-47D7-E303-7355-DE964081EC9E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FDB4CD6-6108-5802-E35F-1BBF542C0AA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20BDC-4F87-39FD-623F-230F1B24E17C}"/>
              </a:ext>
            </a:extLst>
          </p:cNvPr>
          <p:cNvSpPr txBox="1"/>
          <p:nvPr/>
        </p:nvSpPr>
        <p:spPr>
          <a:xfrm>
            <a:off x="3559418" y="4080622"/>
            <a:ext cx="4722514" cy="861774"/>
          </a:xfrm>
          <a:custGeom>
            <a:avLst/>
            <a:gdLst>
              <a:gd name="connsiteX0" fmla="*/ 0 w 4722514"/>
              <a:gd name="connsiteY0" fmla="*/ 0 h 861774"/>
              <a:gd name="connsiteX1" fmla="*/ 684765 w 4722514"/>
              <a:gd name="connsiteY1" fmla="*/ 0 h 861774"/>
              <a:gd name="connsiteX2" fmla="*/ 1369529 w 4722514"/>
              <a:gd name="connsiteY2" fmla="*/ 0 h 861774"/>
              <a:gd name="connsiteX3" fmla="*/ 2007068 w 4722514"/>
              <a:gd name="connsiteY3" fmla="*/ 0 h 861774"/>
              <a:gd name="connsiteX4" fmla="*/ 2597383 w 4722514"/>
              <a:gd name="connsiteY4" fmla="*/ 0 h 861774"/>
              <a:gd name="connsiteX5" fmla="*/ 3093247 w 4722514"/>
              <a:gd name="connsiteY5" fmla="*/ 0 h 861774"/>
              <a:gd name="connsiteX6" fmla="*/ 3589111 w 4722514"/>
              <a:gd name="connsiteY6" fmla="*/ 0 h 861774"/>
              <a:gd name="connsiteX7" fmla="*/ 4084975 w 4722514"/>
              <a:gd name="connsiteY7" fmla="*/ 0 h 861774"/>
              <a:gd name="connsiteX8" fmla="*/ 4722514 w 4722514"/>
              <a:gd name="connsiteY8" fmla="*/ 0 h 861774"/>
              <a:gd name="connsiteX9" fmla="*/ 4722514 w 4722514"/>
              <a:gd name="connsiteY9" fmla="*/ 448122 h 861774"/>
              <a:gd name="connsiteX10" fmla="*/ 4722514 w 4722514"/>
              <a:gd name="connsiteY10" fmla="*/ 861774 h 861774"/>
              <a:gd name="connsiteX11" fmla="*/ 4273875 w 4722514"/>
              <a:gd name="connsiteY11" fmla="*/ 861774 h 861774"/>
              <a:gd name="connsiteX12" fmla="*/ 3778011 w 4722514"/>
              <a:gd name="connsiteY12" fmla="*/ 861774 h 861774"/>
              <a:gd name="connsiteX13" fmla="*/ 3093247 w 4722514"/>
              <a:gd name="connsiteY13" fmla="*/ 861774 h 861774"/>
              <a:gd name="connsiteX14" fmla="*/ 2408482 w 4722514"/>
              <a:gd name="connsiteY14" fmla="*/ 861774 h 861774"/>
              <a:gd name="connsiteX15" fmla="*/ 1770943 w 4722514"/>
              <a:gd name="connsiteY15" fmla="*/ 861774 h 861774"/>
              <a:gd name="connsiteX16" fmla="*/ 1227854 w 4722514"/>
              <a:gd name="connsiteY16" fmla="*/ 861774 h 861774"/>
              <a:gd name="connsiteX17" fmla="*/ 590314 w 4722514"/>
              <a:gd name="connsiteY17" fmla="*/ 861774 h 861774"/>
              <a:gd name="connsiteX18" fmla="*/ 0 w 4722514"/>
              <a:gd name="connsiteY18" fmla="*/ 861774 h 861774"/>
              <a:gd name="connsiteX19" fmla="*/ 0 w 4722514"/>
              <a:gd name="connsiteY19" fmla="*/ 439505 h 861774"/>
              <a:gd name="connsiteX20" fmla="*/ 0 w 4722514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722514" h="861774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61105" y="221970"/>
                  <a:pt x="4679899" y="347530"/>
                  <a:pt x="4722514" y="448122"/>
                </a:cubicBezTo>
                <a:cubicBezTo>
                  <a:pt x="4765129" y="548714"/>
                  <a:pt x="4677398" y="741709"/>
                  <a:pt x="4722514" y="861774"/>
                </a:cubicBezTo>
                <a:cubicBezTo>
                  <a:pt x="4568481" y="887684"/>
                  <a:pt x="4407851" y="824353"/>
                  <a:pt x="4273875" y="861774"/>
                </a:cubicBezTo>
                <a:cubicBezTo>
                  <a:pt x="4139899" y="899195"/>
                  <a:pt x="3989008" y="846668"/>
                  <a:pt x="3778011" y="861774"/>
                </a:cubicBezTo>
                <a:cubicBezTo>
                  <a:pt x="3567014" y="876880"/>
                  <a:pt x="3265437" y="854054"/>
                  <a:pt x="3093247" y="861774"/>
                </a:cubicBezTo>
                <a:cubicBezTo>
                  <a:pt x="2921057" y="869494"/>
                  <a:pt x="2688209" y="852678"/>
                  <a:pt x="2408482" y="861774"/>
                </a:cubicBezTo>
                <a:cubicBezTo>
                  <a:pt x="2128755" y="870870"/>
                  <a:pt x="1951187" y="852657"/>
                  <a:pt x="1770943" y="861774"/>
                </a:cubicBezTo>
                <a:cubicBezTo>
                  <a:pt x="1590699" y="870891"/>
                  <a:pt x="1428005" y="833843"/>
                  <a:pt x="1227854" y="861774"/>
                </a:cubicBezTo>
                <a:cubicBezTo>
                  <a:pt x="1027703" y="889705"/>
                  <a:pt x="842657" y="837828"/>
                  <a:pt x="590314" y="861774"/>
                </a:cubicBezTo>
                <a:cubicBezTo>
                  <a:pt x="337971" y="885720"/>
                  <a:pt x="127784" y="810486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This is called </a:t>
            </a:r>
            <a:r>
              <a:rPr lang="en-US" sz="2500" b="1" dirty="0">
                <a:solidFill>
                  <a:srgbClr val="002060"/>
                </a:solidFill>
              </a:rPr>
              <a:t>linear </a:t>
            </a:r>
            <a:r>
              <a:rPr lang="en-US" sz="2500" b="1" dirty="0" err="1">
                <a:solidFill>
                  <a:srgbClr val="002060"/>
                </a:solidFill>
              </a:rPr>
              <a:t>tranformation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143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FB3158E-CD73-3323-33D6-A15CB68A0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695374E-5279-B812-49D7-3F96F410EB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012009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DC09FFA5-6307-320E-4F06-0B19413707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4831200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2" name="Arrow: Right 51">
            <a:extLst>
              <a:ext uri="{FF2B5EF4-FFF2-40B4-BE49-F238E27FC236}">
                <a16:creationId xmlns:a16="http://schemas.microsoft.com/office/drawing/2014/main" id="{F8BE9C79-D5A6-1C05-F8F5-274349A40A86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9144402-413B-FC22-FE82-88E281A5D8E1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EBB97A-077C-35BE-203B-22BB89D4DF1D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ABF756-DAB8-EE28-F037-53E0C92965E9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EAD75-A67E-0A4B-E916-73B78D9B7500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7223641" y="1375715"/>
            <a:ext cx="3821958" cy="1408125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01D176-CC17-648E-E123-22BD552F6B38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7B8F8-DECB-556E-0FD2-433D788EE476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484293" cy="445158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381A40-11A1-C140-CB30-2FEB607A8F9F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FD7D2E-611F-7E95-1AB2-6149D4B84A1F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4C73DB-F361-F656-0C76-FEC40A33ECA7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116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80276-0334-D33F-0576-3A0C039E2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9E50503-2A84-8CDE-78FA-CED9DEB0A2EE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6F6F3DC0-10F8-E207-B2E2-27001F2299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1543488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/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1DFC794-CA1E-5A34-CF7D-6C931D03D02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68EF49-A27F-C800-D18F-332625DC7CA4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C82D641-03F8-1BD9-30D9-F40113593FD5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A5393DA-4725-177F-1644-F6D54480500F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D875B49-EACE-DC64-0ADA-FB17E04F3D5D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9079710" y="1375715"/>
            <a:ext cx="1965889" cy="7242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/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934CAC-9C5F-C03E-1873-A35D195AE6D6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/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7BA001-BE2B-F72A-C142-DAC0F1BBCF0D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/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3368EDD-30DB-5189-A570-BF180DF0380E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A8BA40-87ED-6441-089D-E3029E367E1D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49AEA3-BFC0-8747-4E4C-D5E34A284CAF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2753233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988401-C3C9-81D2-7017-633288A0B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0F73D36B-172B-5A33-D38F-F9CFD3FDC9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2939892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B8C0B9C8-F257-4A6D-EDD3-11F31BD86AED}"/>
              </a:ext>
            </a:extLst>
          </p:cNvPr>
          <p:cNvSpPr/>
          <p:nvPr/>
        </p:nvSpPr>
        <p:spPr>
          <a:xfrm>
            <a:off x="5615093" y="2617545"/>
            <a:ext cx="113792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1F2379D-FC46-8B00-03D9-1EA87F4D96F6}"/>
              </a:ext>
            </a:extLst>
          </p:cNvPr>
          <p:cNvCxnSpPr>
            <a:cxnSpLocks/>
          </p:cNvCxnSpPr>
          <p:nvPr/>
        </p:nvCxnSpPr>
        <p:spPr>
          <a:xfrm flipV="1">
            <a:off x="6188533" y="2617545"/>
            <a:ext cx="1153760" cy="43365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DA532DB-9831-85F3-3E72-60929EF4ED48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7ED4696-AFBB-C438-C825-9CADD4BA1357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573440" cy="86698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80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B841ADA-4444-6B31-84DB-E8E7E9893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ED9D1D4-0636-9CE2-5D3D-A1B19265DC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7118937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/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/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1211E47-2E2F-8635-2DC3-422BEDC4736E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C417DC-6F6E-5379-B773-69C50BDFB090}"/>
              </a:ext>
            </a:extLst>
          </p:cNvPr>
          <p:cNvSpPr txBox="1"/>
          <p:nvPr/>
        </p:nvSpPr>
        <p:spPr>
          <a:xfrm>
            <a:off x="9709914" y="3498090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5F84BF-DEA4-D78A-8EBB-02215C925C5C}"/>
              </a:ext>
            </a:extLst>
          </p:cNvPr>
          <p:cNvSpPr/>
          <p:nvPr/>
        </p:nvSpPr>
        <p:spPr>
          <a:xfrm rot="20486510">
            <a:off x="3164433" y="2062309"/>
            <a:ext cx="6095459" cy="199083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A8932D4-3787-6B0C-559F-3FE597356073}"/>
              </a:ext>
            </a:extLst>
          </p:cNvPr>
          <p:cNvCxnSpPr>
            <a:cxnSpLocks/>
          </p:cNvCxnSpPr>
          <p:nvPr/>
        </p:nvCxnSpPr>
        <p:spPr>
          <a:xfrm flipV="1">
            <a:off x="3305387" y="1963265"/>
            <a:ext cx="5777653" cy="217159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D6B8488-80D2-F9F1-EEB4-7C0DF00DF26A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1137920" cy="172042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949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43303-A6A4-D404-0CAC-299D94583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9385D32-C1B7-C435-5A23-DF995E48E660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PCA Concepts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Mean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Covariance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Covariance Matrix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Linear Transformation</a:t>
            </a:r>
          </a:p>
          <a:p>
            <a:pPr marL="1143000" lvl="1" indent="-685800" algn="l">
              <a:buFont typeface="Wingdings" pitchFamily="2" charset="2"/>
              <a:buChar char="Ø"/>
            </a:pPr>
            <a:r>
              <a:rPr lang="en-US" sz="2600" b="1" dirty="0"/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How PCA Works?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769742-55AF-B2CB-5E5D-714F45E33456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7338515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C1C8C7F-519E-A84E-DA3C-022DD6DD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0B04F9-09FA-53CA-5C3D-77D705744956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For example, we have this dataset</a:t>
            </a:r>
            <a:endParaRPr lang="en-PH" sz="2500" dirty="0">
              <a:solidFill>
                <a:srgbClr val="002060"/>
              </a:solidFill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1D1C111-5A67-A10D-AA18-05E34AAA81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6195131"/>
              </p:ext>
            </p:extLst>
          </p:nvPr>
        </p:nvGraphicFramePr>
        <p:xfrm>
          <a:off x="6371354" y="157186"/>
          <a:ext cx="2880000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78887C2A-202F-9031-0224-2118B7C3BC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040373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41766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5DA7232-3D43-DAA7-56B5-0EBDD5A15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04750E-EB9B-8C91-13C2-A82B60D79F8F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1</a:t>
            </a:r>
            <a:r>
              <a:rPr lang="en-PH" sz="2500" dirty="0"/>
              <a:t>: Find the center of mass or the mean of the data</a:t>
            </a:r>
            <a:endParaRPr lang="en-PH" sz="2500" dirty="0">
              <a:solidFill>
                <a:srgbClr val="002060"/>
              </a:solidFill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B768128-A473-7684-591D-BE60D5B1A838}"/>
              </a:ext>
            </a:extLst>
          </p:cNvPr>
          <p:cNvGraphicFramePr/>
          <p:nvPr/>
        </p:nvGraphicFramePr>
        <p:xfrm>
          <a:off x="6371354" y="157186"/>
          <a:ext cx="2880000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2D1FE23-AF02-E3F3-2099-ACA412F1E342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203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1627185-4D6C-49AC-77CB-B422CF773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177DCB-C90E-53C4-5429-EB285B171CB1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1</a:t>
            </a:r>
            <a:r>
              <a:rPr lang="en-PH" sz="2500" dirty="0"/>
              <a:t>: Find the center of mass or the mean of the data</a:t>
            </a:r>
            <a:endParaRPr lang="en-PH" sz="2500" dirty="0">
              <a:solidFill>
                <a:srgbClr val="002060"/>
              </a:solidFill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55F19C6-A976-EEA6-4EF0-8169B85114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816558"/>
              </p:ext>
            </p:extLst>
          </p:nvPr>
        </p:nvGraphicFramePr>
        <p:xfrm>
          <a:off x="6371354" y="157186"/>
          <a:ext cx="2880000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8395ADB-4897-BE08-811D-5D5C55B8833B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674920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B8BC610-C08F-2EAD-DB83-F5E25536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AB9343-878E-B92E-7FD7-8A8ACCE0FEC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1</a:t>
            </a:r>
            <a:r>
              <a:rPr lang="en-PH" sz="2500" dirty="0"/>
              <a:t>: Find the center of mass or the mean of the data</a:t>
            </a:r>
            <a:endParaRPr lang="en-PH" sz="2500" dirty="0">
              <a:solidFill>
                <a:srgbClr val="002060"/>
              </a:solidFill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64655CD-20AD-36A8-EDFF-9FFEE51C88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6472685"/>
              </p:ext>
            </p:extLst>
          </p:nvPr>
        </p:nvGraphicFramePr>
        <p:xfrm>
          <a:off x="4655999" y="1484945"/>
          <a:ext cx="2880000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31B24137-CC84-6156-135D-160BC0A1E921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174677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B1D9677-9123-3E85-EB1B-234B706A6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342D41F-C72E-0115-3950-F2705F1847AA}"/>
              </a:ext>
            </a:extLst>
          </p:cNvPr>
          <p:cNvGraphicFramePr/>
          <p:nvPr/>
        </p:nvGraphicFramePr>
        <p:xfrm>
          <a:off x="4655999" y="1484945"/>
          <a:ext cx="2880000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D800C137-CE70-5946-5744-7702B02FCAF4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183D77-3B11-6D3C-CBBA-05F853D89A1D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3</a:t>
            </a:r>
            <a:r>
              <a:rPr lang="en-PH" sz="2500" dirty="0"/>
              <a:t>: Find the covariance matrix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41827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7BBAD7-AE46-BFF5-692A-FDCE44E74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9125DBD5-3926-B196-3025-1A1A8A164003}"/>
              </a:ext>
            </a:extLst>
          </p:cNvPr>
          <p:cNvGraphicFramePr/>
          <p:nvPr/>
        </p:nvGraphicFramePr>
        <p:xfrm>
          <a:off x="4655999" y="1484945"/>
          <a:ext cx="2880000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88135CC-267F-CF7F-3FBA-38705CBA2AAB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14A639D-0A63-EB9D-7DEE-BF87ED06566A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3</a:t>
            </a:r>
            <a:r>
              <a:rPr lang="en-PH" sz="2500" dirty="0"/>
              <a:t>: Find the covariance matrix</a:t>
            </a:r>
            <a:endParaRPr lang="en-PH" sz="2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A57C01-7102-549D-65CE-6660A81ECC0C}"/>
                  </a:ext>
                </a:extLst>
              </p:cNvPr>
              <p:cNvSpPr txBox="1"/>
              <p:nvPr/>
            </p:nvSpPr>
            <p:spPr>
              <a:xfrm>
                <a:off x="8749430" y="929687"/>
                <a:ext cx="3083547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A57C01-7102-549D-65CE-6660A81EC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430" y="929687"/>
                <a:ext cx="3083547" cy="12247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063AB7-5DE0-5160-ABA1-0DDDFF09101A}"/>
                  </a:ext>
                </a:extLst>
              </p:cNvPr>
              <p:cNvSpPr txBox="1"/>
              <p:nvPr/>
            </p:nvSpPr>
            <p:spPr>
              <a:xfrm>
                <a:off x="8175415" y="3773613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063AB7-5DE0-5160-ABA1-0DDDFF091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3773613"/>
                <a:ext cx="3508586" cy="28219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3285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2599EFB-66C7-2A43-F4EA-4A567EE9F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C73AD7B-3AB7-FE13-28BB-3782F48CD1CA}"/>
              </a:ext>
            </a:extLst>
          </p:cNvPr>
          <p:cNvGraphicFramePr/>
          <p:nvPr/>
        </p:nvGraphicFramePr>
        <p:xfrm>
          <a:off x="4655999" y="1484945"/>
          <a:ext cx="2880000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47DE171D-5E66-A86F-AC55-FBDF0CFD3C4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314DB0-1A61-9679-B1FA-A11FA6169B49}"/>
                  </a:ext>
                </a:extLst>
              </p:cNvPr>
              <p:cNvSpPr txBox="1"/>
              <p:nvPr/>
            </p:nvSpPr>
            <p:spPr>
              <a:xfrm>
                <a:off x="8175415" y="3311936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314DB0-1A61-9679-B1FA-A11FA6169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3311936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9DB6A1C-A498-FD3A-8D10-271AE727602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4</a:t>
            </a:r>
            <a:r>
              <a:rPr lang="en-PH" sz="2500" dirty="0"/>
              <a:t>: Create principal components by finding the eigenvectors and eigenvalues</a:t>
            </a:r>
            <a:endParaRPr lang="en-PH" sz="2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D3FFD5C-2568-FD1C-B838-0FB519C44C8D}"/>
                  </a:ext>
                </a:extLst>
              </p:cNvPr>
              <p:cNvSpPr txBox="1"/>
              <p:nvPr/>
            </p:nvSpPr>
            <p:spPr>
              <a:xfrm>
                <a:off x="7845698" y="50927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D3FFD5C-2568-FD1C-B838-0FB519C44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5698" y="509271"/>
                <a:ext cx="4168020" cy="12311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61000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9FE5057-29E0-8B7B-98E5-F58198C4E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F7806DCC-364B-51E1-4BCA-E4554A52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F2D57D00-F1BB-4FA1-6AA2-93581F699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038D3838-5E30-8E3A-4C97-DBA2B663C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B56B42-989F-9D8A-CD79-F7FE63244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2E5A266D-A047-C7D5-1941-5F16B80DA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1BAEFC1-DC2B-2BFB-BC99-914C7C5EC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9B6D4044-B264-CE38-5B27-676C8F11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3DC01B48-B646-4716-DA15-1A62F947C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DB62B239-E52B-0A44-E496-FBAACACFC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F0928A8-411B-3188-9D64-812D7FBAB252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For example, we have this dataset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2279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5F1CB1-018C-F690-B572-C8AA724D8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19E3618F-8F97-D75E-E340-EF9D29F37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D0D276C5-306A-A306-86C8-00D8D9E69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  <a:solidFill>
            <a:srgbClr val="FF0000"/>
          </a:solidFill>
          <a:ln w="76200"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E78C551B-DDD7-7A8E-BD5A-39AE8C4D9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21ECF415-3BA4-5A38-F1B8-B49D15853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B32BB723-ADB8-5591-2325-D9EB5858F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0E7CACE1-63E3-20EC-CE87-C2EA34571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5C389B3-1F9A-3354-6935-AF65AB546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19567B1-0097-34E5-160F-9D37E7A54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378D0896-E519-9AF5-03A3-01F525018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A67E99D-5256-AC0C-EC86-68A06918D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CFED1E2-BA5B-B219-D0B1-61C95C1BA046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CF8329E-940F-17FD-D4AD-71E0C99D514D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1</a:t>
            </a:r>
            <a:r>
              <a:rPr lang="en-PH" sz="2500" dirty="0"/>
              <a:t>: Find the center of mass or the mean of the data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2895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33B7F-EFDE-44C3-E44B-A1D5D66B7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CE53C1B0-D507-CCE6-8AAC-A92939A06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D373A15E-49FB-9F38-B596-6FAA4B3EA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  <a:solidFill>
            <a:srgbClr val="FF0000"/>
          </a:solidFill>
          <a:ln w="76200">
            <a:solidFill>
              <a:srgbClr val="FF0000"/>
            </a:solidFill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1A1FE2AC-9482-4D4E-1912-F838F69F0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AAC0E7CE-6ED5-A97F-40CC-F71BCAAB1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D0F6396-A6C9-6C0F-CEE1-8406854F2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8FBCF9EB-5A19-35BC-FA91-EC087D561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B480BA53-513C-3C2B-02E4-E9D47B28C6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1085533D-7533-3DE4-D2B1-8F80F87F4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BC7F4BB6-B033-B802-A885-4E1C99F57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CE7ABAE3-DA74-DE4A-A069-A300A762C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DC9206E-0902-498A-3A61-D89E26351B1D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4FF58CA-522F-7C3E-9148-C6E43C051EB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1</a:t>
            </a:r>
            <a:r>
              <a:rPr lang="en-PH" sz="2500" dirty="0"/>
              <a:t>: Find the center of mass or the mean of the data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7179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82A0B4-6052-E7A7-C0C0-E1ABA6B10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462C29B8-5699-1FDC-BE1C-860119F3E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778" y="256616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521C49DF-EA13-096D-8817-EAFC3D39D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16" y="2164037"/>
            <a:ext cx="444007" cy="402124"/>
          </a:xfrm>
          <a:prstGeom prst="rect">
            <a:avLst/>
          </a:prstGeom>
          <a:solidFill>
            <a:srgbClr val="FF0000"/>
          </a:solidFill>
          <a:ln w="76200">
            <a:solidFill>
              <a:srgbClr val="FF0000"/>
            </a:solidFill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B7E14DB3-898D-A75A-F9A6-4C9879615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2730" y="166566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BF3FE49D-A53A-4151-66DA-0862B12D8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781" y="311013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4794C168-E466-9418-5D0D-29E83BF07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3065" y="244392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CBDE79B5-5879-C540-6552-059C12A16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277921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4CF77D9A-A271-B5D9-B4DF-9776CAE5A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918" y="196297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5879365-6263-4EC5-9D78-2B76F405A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6315" y="149782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5EE4562E-DAF8-F592-EB24-3BEAA6194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453" y="182875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041563F2-D64F-F5A7-153E-4D2825D11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8311" y="105192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BFEEA52-E4D4-788A-E737-567586969DD8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2812057-ACFF-5126-11EA-5F68CBC2D6A3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2</a:t>
            </a:r>
            <a:r>
              <a:rPr lang="en-PH" sz="2500" dirty="0"/>
              <a:t>: Put the center of mass/mean at the </a:t>
            </a:r>
            <a:r>
              <a:rPr lang="en-PH" sz="2500" b="1" dirty="0"/>
              <a:t>origin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43456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3B63926C-3C1E-F867-9CD3-9ED11621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58C72B64-F402-9165-27AE-D3CD792F9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DD64E527-B855-14A4-F1EB-06445E470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F1C586CD-8E96-DD1A-D695-1CE9776F9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0B46DDA1-FCDB-385E-43B7-6D6B73A65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18A3E5E3-4C2B-C922-BC40-06B907614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4DF914BD-665E-0A3B-F5B3-293E9005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ABCF0EA-A739-BF44-B1D7-D2B1648F2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63A0190E-2CB9-CE29-B3F7-9EBF4A42F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17E3A35D-F816-0A23-E371-AB6CA4530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3EAAE51-ECA7-40BC-AC21-1FA7232DD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B98ECC3-23FA-E56B-5124-11C0CA0F43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1381378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4500572-8B5D-CDED-15A9-4C1B1AA55055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2</a:t>
            </a:r>
            <a:r>
              <a:rPr lang="en-PH" sz="2500" dirty="0"/>
              <a:t>: Put the center of mass/mean at the </a:t>
            </a:r>
            <a:r>
              <a:rPr lang="en-PH" sz="2500" b="1" dirty="0"/>
              <a:t>origin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47132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6425E051-6D1E-F2CC-A2CA-FB851C82F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19673E0-501E-C4E4-F2D6-7FEBC69FF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665FD22B-0CC7-1C34-1C23-59F69F375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020C573C-6DE1-F068-B4D0-17D9974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EDBA42CD-68C6-CDB2-86BE-7791A7EB5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E8D2F88-C7A8-4354-804A-B5151F468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D301035D-90B2-0C67-E6D9-7AFF6CB52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15CBCC7C-D0A8-166C-BCB9-7AB1E0044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B6437E83-6D87-939C-CE53-76E6EF149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48C8B447-208E-4746-A766-5FE4501EF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06C0BF27-FF06-268F-EA87-17E5CCE2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F6E7BCC3-5ACE-C5EC-7C65-BF3EBA8D08BF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E0FD91-8EDC-2F82-30AD-0134147E05A5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3</a:t>
            </a:r>
            <a:r>
              <a:rPr lang="en-PH" sz="2500" dirty="0"/>
              <a:t>: Find the covariance matrix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4888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E83E51-CB47-D980-6F46-EB6AB702C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730F15CB-3843-DA66-FAF5-FC0DDC616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6E86116-073F-D967-3E41-0612719F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2256BAF6-3CE3-B2A0-DF39-382C7721A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FB233DE4-6E10-F9D9-4654-3646BB735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5A602CA9-A369-9C17-B960-590FC9960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7FB19F5-B4C3-A333-3AEF-3F3C92714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FB21725-81DE-BD18-38D2-C39C7A7C7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4DD41E80-E932-AB8B-61BF-2E4997E4A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DDDF9092-1A75-9040-5860-CD86174D4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DB242EE-A273-8E06-DF20-C4D3F570A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47E8456-694A-A18D-FE04-758147D5DF8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4F0E3A5-9843-14CB-450D-2121759149CC}"/>
                  </a:ext>
                </a:extLst>
              </p:cNvPr>
              <p:cNvSpPr txBox="1"/>
              <p:nvPr/>
            </p:nvSpPr>
            <p:spPr>
              <a:xfrm>
                <a:off x="8749430" y="929687"/>
                <a:ext cx="3083547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4F0E3A5-9843-14CB-450D-212175914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9430" y="929687"/>
                <a:ext cx="3083547" cy="12247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8CAEA-4D69-7F65-B18C-6F697C731E0A}"/>
                  </a:ext>
                </a:extLst>
              </p:cNvPr>
              <p:cNvSpPr txBox="1"/>
              <p:nvPr/>
            </p:nvSpPr>
            <p:spPr>
              <a:xfrm>
                <a:off x="8175415" y="3773613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168CAEA-4D69-7F65-B18C-6F697C731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3773613"/>
                <a:ext cx="3508586" cy="282192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F060B6A-6505-525B-E6C9-E68ECB750499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3</a:t>
            </a:r>
            <a:r>
              <a:rPr lang="en-PH" sz="2500" dirty="0"/>
              <a:t>: Find the covariance matrix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5401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21F8B6D4-CCE6-4A28-ED49-EB22C1991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C9586A5-F891-3760-72E9-B21A13A65C0E}"/>
              </a:ext>
            </a:extLst>
          </p:cNvPr>
          <p:cNvCxnSpPr>
            <a:cxnSpLocks/>
          </p:cNvCxnSpPr>
          <p:nvPr/>
        </p:nvCxnSpPr>
        <p:spPr>
          <a:xfrm flipV="1">
            <a:off x="6096000" y="126020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B72ECB-4137-578D-DF26-F69943992348}"/>
              </a:ext>
            </a:extLst>
          </p:cNvPr>
          <p:cNvCxnSpPr>
            <a:cxnSpLocks/>
          </p:cNvCxnSpPr>
          <p:nvPr/>
        </p:nvCxnSpPr>
        <p:spPr>
          <a:xfrm>
            <a:off x="2015371" y="370610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DB53B9ED-9592-58AD-5550-60B54D752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867757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3482FD8-F207-5B8A-9824-18740833B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3465633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6247E571-3306-777E-DD79-6A1277835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967259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859DB3C7-91D4-3D41-0C0D-56CD8041D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4411733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56C317C-7017-F793-33F3-E0009ABF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74552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81EF514-A553-C94D-7632-9A175039FEED}"/>
                  </a:ext>
                </a:extLst>
              </p:cNvPr>
              <p:cNvSpPr txBox="1"/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81EF514-A553-C94D-7632-9A175039F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B6138EC-3252-B13E-BAC5-498884FF8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4080806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78D8B5D-0830-5C21-D3FC-EBD010B62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264571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30EFB95D-12C2-E39B-B83E-3DBDCF957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799420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E6EF0631-7151-A120-E361-9F51FA836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3130347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138DDF1-0386-B8FA-D32D-84E4B5002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235352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D494D1E-9E59-8385-F545-475504289982}"/>
                  </a:ext>
                </a:extLst>
              </p:cNvPr>
              <p:cNvSpPr txBox="1"/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D494D1E-9E59-8385-F545-4755042899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5950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45E556-0DBA-D56D-9CBF-59437E4E0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D55CA59-A58B-907A-038C-4291E5083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178" y="3399281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C7438CE4-8433-6BA0-A1C4-28F0AC3D0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316" y="2997157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87E48B90-B5C5-E95D-1680-D304DE415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130" y="249878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353162E-6656-4A94-9887-DD488DB14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181" y="3943257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A8A7C35D-5DAE-0430-E933-E6EE5C800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465" y="3277044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10062DBB-796E-28C6-45C5-3D417EE0A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3612330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4B55716B-2520-FD45-1F97-937F76F9C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318" y="2796095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79B4ABCB-0C04-A0A0-3B6E-AEFE43C5C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15" y="2330944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CEC80CD2-AADE-57E6-E6D6-E6135E44B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853" y="266187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2635DBC3-3721-727C-7B86-1C1B075A2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711" y="1885049"/>
            <a:ext cx="444007" cy="402124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E5481FD-B32B-45A6-23A4-3771EB9F0C97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D2CA59-9FFE-9BD6-F1C0-3E54075D0F53}"/>
                  </a:ext>
                </a:extLst>
              </p:cNvPr>
              <p:cNvSpPr txBox="1"/>
              <p:nvPr/>
            </p:nvSpPr>
            <p:spPr>
              <a:xfrm>
                <a:off x="8175415" y="3311936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D2CA59-9FFE-9BD6-F1C0-3E54075D0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3311936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C48925E-8A20-4C4F-B80E-2A318D5CEDB6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762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4</a:t>
            </a:r>
            <a:r>
              <a:rPr lang="en-PH" sz="2500" dirty="0"/>
              <a:t>: Create principal components by finding the eigenvectors and eigenvalues</a:t>
            </a:r>
            <a:endParaRPr lang="en-PH" sz="2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04430C-381F-D075-422D-88AEEF06931D}"/>
                  </a:ext>
                </a:extLst>
              </p:cNvPr>
              <p:cNvSpPr txBox="1"/>
              <p:nvPr/>
            </p:nvSpPr>
            <p:spPr>
              <a:xfrm>
                <a:off x="7845698" y="50927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04430C-381F-D075-422D-88AEEF06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5698" y="509271"/>
                <a:ext cx="4168020" cy="12311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65914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3929B9-136E-C39E-5B57-BA2FAADE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/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/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5000" b="0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a covariance matrix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eigenvector</a:t>
                </a:r>
              </a:p>
              <a:p>
                <a14:m>
                  <m:oMath xmlns:m="http://schemas.openxmlformats.org/officeDocument/2006/math">
                    <m:r>
                      <a:rPr lang="el-GR" sz="5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eigenvalue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blipFill>
                <a:blip r:embed="rId3"/>
                <a:stretch>
                  <a:fillRect l="-4180" t="-6226" b="-1089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6406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113D4-AF26-719E-4EA3-0D0F3AFA6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/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/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/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/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/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noFill/>
              <a:ln w="38100">
                <a:solidFill>
                  <a:srgbClr val="7030A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7EE015F2-B549-78F5-8E2E-6C6B5506BE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04939" y="4201980"/>
            <a:ext cx="446277" cy="446277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D97B720F-7FFD-B8C2-870E-C2C212A72F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04939" y="5243444"/>
            <a:ext cx="446277" cy="4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DE767A-92CC-99E3-C0EC-61F7997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/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/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/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/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27−9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−3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/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11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/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−11)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/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/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/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/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3C44D4ED-B40E-D48E-8B6A-F2D14FE6956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3429845" y="5017406"/>
            <a:ext cx="4785770" cy="112596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E05C84A0-A120-68AB-00BD-BE6B02FE82D3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3429845" y="6039914"/>
            <a:ext cx="4785771" cy="10345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/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/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Graphic 32" descr="Badge with solid fill">
            <a:extLst>
              <a:ext uri="{FF2B5EF4-FFF2-40B4-BE49-F238E27FC236}">
                <a16:creationId xmlns:a16="http://schemas.microsoft.com/office/drawing/2014/main" id="{2565B6DC-DA40-964D-EAE7-26D806175F9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883194" y="180291"/>
            <a:ext cx="446277" cy="446277"/>
          </a:xfrm>
          <a:prstGeom prst="rect">
            <a:avLst/>
          </a:prstGeom>
        </p:spPr>
      </p:pic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7E85764C-5F86-26E0-8325-1DCEA590FB1D}"/>
              </a:ext>
            </a:extLst>
          </p:cNvPr>
          <p:cNvCxnSpPr>
            <a:cxnSpLocks/>
            <a:stCxn id="30" idx="1"/>
            <a:endCxn id="14" idx="3"/>
          </p:cNvCxnSpPr>
          <p:nvPr/>
        </p:nvCxnSpPr>
        <p:spPr>
          <a:xfrm rot="10800000" flipV="1">
            <a:off x="4106334" y="524136"/>
            <a:ext cx="5804747" cy="64501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/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324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3" grpId="0"/>
      <p:bldP spid="9" grpId="0"/>
      <p:bldP spid="10" grpId="0" animBg="1"/>
      <p:bldP spid="13" grpId="0" animBg="1"/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F25184-5053-4E65-5C2E-CBCBC7506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/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/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/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/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/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/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l="-1114" r="-3343"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/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−8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/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/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/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91CB47B8-2AB8-5A17-A8C3-CF620B02AD2E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rot="10800000" flipV="1">
            <a:off x="4597400" y="2166996"/>
            <a:ext cx="5286347" cy="1233762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2F8EB084-9A33-3F8F-E32D-4CB6B29AEBDF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499020" y="520719"/>
            <a:ext cx="5358816" cy="117220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/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blipFill>
                <a:blip r:embed="rId13"/>
                <a:stretch>
                  <a:fillRect l="-5702" r="-2632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/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/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/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=8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blipFill>
                <a:blip r:embed="rId16"/>
                <a:stretch>
                  <a:fillRect l="-5702" r="-2632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/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/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Graphic 31" descr="Badge 1 with solid fill">
            <a:extLst>
              <a:ext uri="{FF2B5EF4-FFF2-40B4-BE49-F238E27FC236}">
                <a16:creationId xmlns:a16="http://schemas.microsoft.com/office/drawing/2014/main" id="{173A4D2E-F5C8-750B-73F5-9A1712A57CA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2" y="436226"/>
            <a:ext cx="446277" cy="446277"/>
          </a:xfrm>
          <a:prstGeom prst="rect">
            <a:avLst/>
          </a:prstGeom>
        </p:spPr>
      </p:pic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81E35C64-AEDD-F7EE-A6BF-E878EF6F339C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20158" y="4692864"/>
            <a:ext cx="2116246" cy="195438"/>
          </a:xfrm>
          <a:prstGeom prst="curvedConnector4">
            <a:avLst>
              <a:gd name="adj1" fmla="val 33573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2BB71BB2-7100-D5D9-71EA-BB69971EE6F5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20157" y="5404768"/>
            <a:ext cx="2116246" cy="158171"/>
          </a:xfrm>
          <a:prstGeom prst="curvedConnector4">
            <a:avLst>
              <a:gd name="adj1" fmla="val 33573"/>
              <a:gd name="adj2" fmla="val 244527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1A5A0B49-8309-0067-8E10-AEB63B2A3458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5" y="5378273"/>
            <a:ext cx="844495" cy="184666"/>
          </a:xfrm>
          <a:prstGeom prst="curvedConnector4">
            <a:avLst>
              <a:gd name="adj1" fmla="val 8835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3B3D2CC8-5404-EAEF-6D9A-B5B73FB7083C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31676" y="4692336"/>
            <a:ext cx="844494" cy="185194"/>
          </a:xfrm>
          <a:prstGeom prst="curvedConnector4">
            <a:avLst>
              <a:gd name="adj1" fmla="val 8835"/>
              <a:gd name="adj2" fmla="val 22343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F1B5B40C-E6D9-88F7-E4CC-98B5C0F2125F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6671442" y="4714408"/>
            <a:ext cx="1708969" cy="162594"/>
          </a:xfrm>
          <a:prstGeom prst="curvedConnector4">
            <a:avLst>
              <a:gd name="adj1" fmla="val 33886"/>
              <a:gd name="adj2" fmla="val 25417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5E967996-5630-B0B4-BE26-C8A178AE5235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6671442" y="5378273"/>
            <a:ext cx="1708969" cy="74799"/>
          </a:xfrm>
          <a:prstGeom prst="curvedConnector4">
            <a:avLst>
              <a:gd name="adj1" fmla="val 33886"/>
              <a:gd name="adj2" fmla="val 40561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9271182E-8AA6-655D-0232-4FE064C8ABE5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8931165" y="4785421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79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3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B571E-8C87-8D84-30EC-7E7889F5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/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/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/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/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/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/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/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/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/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79B4D302-3C0E-97CB-CDD0-B5CED3333412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rot="10800000" flipV="1">
            <a:off x="4297384" y="2607894"/>
            <a:ext cx="5701750" cy="80453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407D2013-4A4D-876C-1E09-E351E03E5120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528945" y="369991"/>
            <a:ext cx="5470188" cy="132293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/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blipFill>
                <a:blip r:embed="rId13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/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blipFill>
                <a:blip r:embed="rId14"/>
                <a:stretch>
                  <a:fillRect l="-3689" r="-820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/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l="-6077" r="-9392"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/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blipFill>
                <a:blip r:embed="rId16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/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l="-7895" r="-4386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/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raphic 17" descr="Badge 1 with solid fill">
            <a:extLst>
              <a:ext uri="{FF2B5EF4-FFF2-40B4-BE49-F238E27FC236}">
                <a16:creationId xmlns:a16="http://schemas.microsoft.com/office/drawing/2014/main" id="{F883B26F-B9CB-BF23-2450-60BEDE51BFA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1" y="432707"/>
            <a:ext cx="446277" cy="446277"/>
          </a:xfrm>
          <a:prstGeom prst="rect">
            <a:avLst/>
          </a:prstGeom>
        </p:spPr>
      </p:pic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2CEB24A-4CE6-F7D3-4785-5F37C587AB98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50083" y="4692864"/>
            <a:ext cx="2015360" cy="195438"/>
          </a:xfrm>
          <a:prstGeom prst="curvedConnector4">
            <a:avLst>
              <a:gd name="adj1" fmla="val 30248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1DFBE197-20E0-FC26-9C30-621ABFF96BB3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50082" y="5404768"/>
            <a:ext cx="1985436" cy="173894"/>
          </a:xfrm>
          <a:prstGeom prst="curvedConnector4">
            <a:avLst>
              <a:gd name="adj1" fmla="val 29950"/>
              <a:gd name="adj2" fmla="val 2314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611BD47E-F8FC-2B3F-23B2-E2C04979645E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61602" y="4714408"/>
            <a:ext cx="1288570" cy="163122"/>
          </a:xfrm>
          <a:prstGeom prst="curvedConnector4">
            <a:avLst>
              <a:gd name="adj1" fmla="val 21084"/>
              <a:gd name="adj2" fmla="val 25334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A7D0EAFA-C0A5-7C5F-8642-60DC2E9A9F9C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6" y="5393996"/>
            <a:ext cx="1323751" cy="184666"/>
          </a:xfrm>
          <a:prstGeom prst="curvedConnector4">
            <a:avLst>
              <a:gd name="adj1" fmla="val 23739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635C3ABA-BCE8-F63B-D6BA-2FA5498466FE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7195369" y="4714408"/>
            <a:ext cx="1721069" cy="184666"/>
          </a:xfrm>
          <a:prstGeom prst="curvedConnector4">
            <a:avLst>
              <a:gd name="adj1" fmla="val 34000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9AF2B08D-4CD3-B54B-EFC4-8B97DD117FDE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7150699" y="5393996"/>
            <a:ext cx="1765739" cy="59076"/>
          </a:xfrm>
          <a:prstGeom prst="curvedConnector4">
            <a:avLst>
              <a:gd name="adj1" fmla="val 34404"/>
              <a:gd name="adj2" fmla="val 4869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9C49B6E1-6686-87C2-E51C-B303D5785A97}"/>
              </a:ext>
            </a:extLst>
          </p:cNvPr>
          <p:cNvCxnSpPr>
            <a:cxnSpLocks/>
            <a:stCxn id="26" idx="3"/>
            <a:endCxn id="17" idx="0"/>
          </p:cNvCxnSpPr>
          <p:nvPr/>
        </p:nvCxnSpPr>
        <p:spPr>
          <a:xfrm flipV="1">
            <a:off x="9467192" y="4734115"/>
            <a:ext cx="1628374" cy="349625"/>
          </a:xfrm>
          <a:prstGeom prst="curvedConnector4">
            <a:avLst>
              <a:gd name="adj1" fmla="val 26472"/>
              <a:gd name="adj2" fmla="val 17102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962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0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1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CD0A1F-CFF8-FAC4-22D9-B800077F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/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/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/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47316533-B3D9-D34A-4D91-A1B21A01A513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8178799" y="2224701"/>
            <a:ext cx="1718734" cy="185871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74DBA954-29D6-F0B2-F043-A79F007D377A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458071" y="547269"/>
            <a:ext cx="2439463" cy="11413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/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/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/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18+4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8+3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/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/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F4271861-1F5D-A2A7-5648-89203FCEEAA8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458071" y="1333378"/>
            <a:ext cx="2439463" cy="15526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/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391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10445-893D-21D7-0B7E-BEA6EAE4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/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/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2DB6821-D894-037E-C640-4B47B7F6553E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7833516" y="2236137"/>
            <a:ext cx="2165616" cy="184728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178E4027-B01D-CCA0-1A6B-5E9495B62E77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372775" y="369991"/>
            <a:ext cx="2626359" cy="13186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/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/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/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−9+8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8−6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/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/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C04287A6-EA5F-B68B-1A57-1A8543DC731F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372775" y="1303900"/>
            <a:ext cx="2626358" cy="15821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/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977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AB46E25-EEA9-F487-061B-49703BC4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2DAAFE-9582-0B82-C3B4-1A11A51BBBDC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25ABA25-4726-A2D2-ED56-5182D52411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430617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23D0BB2-8B2A-1AD2-0AFF-9C17E4091B3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79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2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07C74D-7D02-18BA-8357-CB60F518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53C6FD-2048-F5B6-7F8C-7912FDCEB81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C2600-3E05-1D86-941A-F7B219E1959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96D5AEF-A38D-6E38-EE20-60490BAFA6F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BC09817-2FB4-131A-51F9-F974D9DD17C3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0010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0D39C89-D881-88B1-BD99-C4376CD06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3110A20-AC0D-4532-3A68-F1736A25DFF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3E02E6-1409-CD84-509D-8CE47E9367F9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2A64F97-0785-D2CE-F678-7507D6791CE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0450B24-CD3F-C1EF-6948-EE6A04695D08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Choose a principal component. In our example, we have two principal components, </a:t>
            </a:r>
            <a:r>
              <a:rPr lang="en-PH" sz="2500" b="1" dirty="0">
                <a:solidFill>
                  <a:srgbClr val="00B050"/>
                </a:solidFill>
              </a:rPr>
              <a:t>PC1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FF0000"/>
                </a:solidFill>
              </a:rPr>
              <a:t>PC2</a:t>
            </a:r>
          </a:p>
        </p:txBody>
      </p:sp>
    </p:spTree>
    <p:extLst>
      <p:ext uri="{BB962C8B-B14F-4D97-AF65-F5344CB8AC3E}">
        <p14:creationId xmlns:p14="http://schemas.microsoft.com/office/powerpoint/2010/main" val="192546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DEDC1A-6AF6-2687-8729-6470FBA1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84CE0B-1D15-547A-BE52-2A46746E928A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0D5241-5982-50B4-431A-409FB55C05B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/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/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16319C2-2D19-3196-FFEB-D3A41AC604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169955"/>
              </p:ext>
            </p:extLst>
          </p:nvPr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1A886A-4C9D-610F-C44B-F8E54309465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PCA, we can choose which principal component to project our data. Let us choose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464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2595B35-0A7F-3CA3-2ACD-1F25BC4C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1BC44C2-AD53-5683-4B43-A83033954F3E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2B80CF3-F434-F015-B6B9-7165B11F74AB}"/>
              </a:ext>
            </a:extLst>
          </p:cNvPr>
          <p:cNvGraphicFramePr/>
          <p:nvPr/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2FD63B-0C92-449D-5EEE-F9BD21455C59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1248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1503D33-2C26-EB2D-4A6D-E4E4113EA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782827-581E-216F-757B-9F9462B20240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98104BA-F8AB-C559-7DA4-68AA5B91231D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7C92441-BA9E-DE66-8709-A9FBC8B0329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325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6A622D-75A0-96CF-0614-669DD9B9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96FEF9-0AAB-8A27-8B08-8AAAAB4D78E2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B08F2D0-365B-A978-22F7-EBC3CAE926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7064895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6B65B7ED-A0EA-FF86-CECC-38F0ECF8972C}"/>
              </a:ext>
            </a:extLst>
          </p:cNvPr>
          <p:cNvSpPr/>
          <p:nvPr/>
        </p:nvSpPr>
        <p:spPr>
          <a:xfrm>
            <a:off x="3741440" y="4104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46A2163-EA5F-D45E-68DB-1DEF4446B486}"/>
              </a:ext>
            </a:extLst>
          </p:cNvPr>
          <p:cNvSpPr/>
          <p:nvPr/>
        </p:nvSpPr>
        <p:spPr>
          <a:xfrm>
            <a:off x="4991120" y="3850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D56770-F051-4370-0D89-B6C44F75767A}"/>
              </a:ext>
            </a:extLst>
          </p:cNvPr>
          <p:cNvSpPr/>
          <p:nvPr/>
        </p:nvSpPr>
        <p:spPr>
          <a:xfrm>
            <a:off x="7029470" y="24025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76F4BC7-3B29-EEE3-3F50-08C1BF0C849B}"/>
              </a:ext>
            </a:extLst>
          </p:cNvPr>
          <p:cNvSpPr/>
          <p:nvPr/>
        </p:nvSpPr>
        <p:spPr>
          <a:xfrm>
            <a:off x="8293120" y="2146195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2E1EE0-3E8D-2689-8C86-C69DAAA49C22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to make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07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D29F635-13D7-A4DD-7459-F51F2556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25DB37C-3DAA-62F2-377C-E2BB8EB8F623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8C8C3DB-F17B-68FA-9252-DBEF0479A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312205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A75C43D-D8C6-8FBF-C6E3-0248E98B8697}"/>
              </a:ext>
            </a:extLst>
          </p:cNvPr>
          <p:cNvSpPr/>
          <p:nvPr/>
        </p:nvSpPr>
        <p:spPr>
          <a:xfrm>
            <a:off x="3731492" y="41033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D48618C-9DA3-D97C-4347-135805057EF4}"/>
              </a:ext>
            </a:extLst>
          </p:cNvPr>
          <p:cNvSpPr/>
          <p:nvPr/>
        </p:nvSpPr>
        <p:spPr>
          <a:xfrm>
            <a:off x="5001915" y="38535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238D5B-B1D1-AE19-6DE5-5C1D6CB402FC}"/>
              </a:ext>
            </a:extLst>
          </p:cNvPr>
          <p:cNvSpPr/>
          <p:nvPr/>
        </p:nvSpPr>
        <p:spPr>
          <a:xfrm>
            <a:off x="7030740" y="23930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10A381F-F9D2-B08C-F06B-A117318086DF}"/>
              </a:ext>
            </a:extLst>
          </p:cNvPr>
          <p:cNvSpPr/>
          <p:nvPr/>
        </p:nvSpPr>
        <p:spPr>
          <a:xfrm>
            <a:off x="8287247" y="2153329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80E1B9-8709-6E51-E1A6-61DEFA680FC6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0AC56E-C366-DC96-EF7A-C13C03F373DF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to make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99501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4B95C18-704D-F2D8-3784-F78708B8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6E9EFD-E77D-9126-5AC0-F1C681BCD37D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2ED86E-2035-06C0-0326-BA4DF523115F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D8DA0E0-430C-F6C9-D364-57770546D817}"/>
              </a:ext>
            </a:extLst>
          </p:cNvPr>
          <p:cNvSpPr/>
          <p:nvPr/>
        </p:nvSpPr>
        <p:spPr>
          <a:xfrm>
            <a:off x="3731492" y="4374252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A7D907-AF31-47EC-8C18-78BF458B28CB}"/>
              </a:ext>
            </a:extLst>
          </p:cNvPr>
          <p:cNvSpPr/>
          <p:nvPr/>
        </p:nvSpPr>
        <p:spPr>
          <a:xfrm>
            <a:off x="5001915" y="36842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13F5FA-FDEE-E29B-1356-C2ABFAF82969}"/>
              </a:ext>
            </a:extLst>
          </p:cNvPr>
          <p:cNvSpPr/>
          <p:nvPr/>
        </p:nvSpPr>
        <p:spPr>
          <a:xfrm>
            <a:off x="7030740" y="256915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7BA7DC-FDD2-31E3-88C6-22E5B353D9CC}"/>
              </a:ext>
            </a:extLst>
          </p:cNvPr>
          <p:cNvSpPr/>
          <p:nvPr/>
        </p:nvSpPr>
        <p:spPr>
          <a:xfrm>
            <a:off x="8287247" y="1881353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E9E174-A5A5-083B-17F5-B9BBA54DA311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299FC1-F3AB-12F7-D8DA-E1FBD6FFE56F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b="1" dirty="0"/>
              <a:t>Step 5</a:t>
            </a:r>
            <a:r>
              <a:rPr lang="en-PH" sz="2500" dirty="0"/>
              <a:t>: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to make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0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F71D81-EB11-9E95-1B2F-C076A34AAC64}"/>
              </a:ext>
            </a:extLst>
          </p:cNvPr>
          <p:cNvSpPr txBox="1">
            <a:spLocks/>
          </p:cNvSpPr>
          <p:nvPr/>
        </p:nvSpPr>
        <p:spPr>
          <a:xfrm>
            <a:off x="2491113" y="2790607"/>
            <a:ext cx="7209773" cy="1276786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0000" dirty="0"/>
              <a:t>In summary…</a:t>
            </a:r>
            <a:endParaRPr lang="en-PH" sz="10000" dirty="0"/>
          </a:p>
        </p:txBody>
      </p:sp>
    </p:spTree>
    <p:extLst>
      <p:ext uri="{BB962C8B-B14F-4D97-AF65-F5344CB8AC3E}">
        <p14:creationId xmlns:p14="http://schemas.microsoft.com/office/powerpoint/2010/main" val="580682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30E63C-416F-0968-9001-2D35C047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5D21C40-3FE3-F5FF-6FC7-A3A6E728F54E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8365DF-FE3E-CC39-C45B-B4E896ED711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D2E9554-0937-87EA-DCD4-5E93466F80DB}"/>
              </a:ext>
            </a:extLst>
          </p:cNvPr>
          <p:cNvGrpSpPr/>
          <p:nvPr/>
        </p:nvGrpSpPr>
        <p:grpSpPr>
          <a:xfrm>
            <a:off x="7794172" y="173087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AC361B5A-55E1-91CA-699A-B227B11DE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9FBD2231-2627-399F-FF7C-2E15B12F6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A9B29572-D1E9-3E01-8FF3-F6390C2B0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6FA234E5-342E-95AE-49F6-5EE551B4D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81CEEE3-018B-C9D6-D7D1-2F73206D1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4C80ED1E-FD2B-53C1-8B57-B464901F8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D35B0F13-2C8A-55E5-AD96-F00834FA7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A82DFD59-CF76-FEC4-9380-2A67C1C92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DE4ACF2A-663B-0D62-FD64-F09132156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06F76C03-B622-D560-CAA1-D130CC3D3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C2C71C5-531A-5C58-C9FC-6248FFA9ADFD}"/>
              </a:ext>
            </a:extLst>
          </p:cNvPr>
          <p:cNvSpPr txBox="1"/>
          <p:nvPr/>
        </p:nvSpPr>
        <p:spPr>
          <a:xfrm>
            <a:off x="613497" y="5283561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1</a:t>
            </a:r>
            <a:r>
              <a:rPr lang="en-PH" sz="2500" dirty="0"/>
              <a:t>: Find the center of the dataset and put the center in the origin</a:t>
            </a:r>
          </a:p>
        </p:txBody>
      </p:sp>
    </p:spTree>
    <p:extLst>
      <p:ext uri="{BB962C8B-B14F-4D97-AF65-F5344CB8AC3E}">
        <p14:creationId xmlns:p14="http://schemas.microsoft.com/office/powerpoint/2010/main" val="49787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89806E-17 3.33333E-6 L -0.2888 0.2439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87" y="1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A970158-FCC5-0F40-2C67-7F8E9E0D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41465F3-974C-3B3E-939D-1A8BECFBAC56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6B2FF77-4099-D631-460C-704F275E5839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252705-D3A2-E295-828E-5A80F5DF1FCB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9BCB47B-845E-16CB-1016-2875F9BD7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FD1CC256-F55D-AD79-8E51-1EDD9170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3943D53-4A45-8F7A-40DF-D13E2C882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FC4DF09-3832-2564-5F8D-2C8B7588B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90B5267C-B67E-33E3-36AB-9C19F976E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77568941-3CF9-DBD6-DE46-D27BEDD6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AC4AECC4-225E-62C3-7895-B5D4E4DD3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3904A933-8A7E-4EBE-25A7-C5D5461AD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ED5E428-756A-2E9B-404B-F7C0442106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9D04CAB1-8410-E153-CF96-B882A59F8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D679BF5-7234-0475-928D-46646063C3F0}"/>
              </a:ext>
            </a:extLst>
          </p:cNvPr>
          <p:cNvSpPr txBox="1"/>
          <p:nvPr/>
        </p:nvSpPr>
        <p:spPr>
          <a:xfrm>
            <a:off x="613497" y="5283561"/>
            <a:ext cx="3784332" cy="861774"/>
          </a:xfrm>
          <a:custGeom>
            <a:avLst/>
            <a:gdLst>
              <a:gd name="connsiteX0" fmla="*/ 0 w 3784332"/>
              <a:gd name="connsiteY0" fmla="*/ 0 h 861774"/>
              <a:gd name="connsiteX1" fmla="*/ 616305 w 3784332"/>
              <a:gd name="connsiteY1" fmla="*/ 0 h 861774"/>
              <a:gd name="connsiteX2" fmla="*/ 1232611 w 3784332"/>
              <a:gd name="connsiteY2" fmla="*/ 0 h 861774"/>
              <a:gd name="connsiteX3" fmla="*/ 1811073 w 3784332"/>
              <a:gd name="connsiteY3" fmla="*/ 0 h 861774"/>
              <a:gd name="connsiteX4" fmla="*/ 2351692 w 3784332"/>
              <a:gd name="connsiteY4" fmla="*/ 0 h 861774"/>
              <a:gd name="connsiteX5" fmla="*/ 2816624 w 3784332"/>
              <a:gd name="connsiteY5" fmla="*/ 0 h 861774"/>
              <a:gd name="connsiteX6" fmla="*/ 3281556 w 3784332"/>
              <a:gd name="connsiteY6" fmla="*/ 0 h 861774"/>
              <a:gd name="connsiteX7" fmla="*/ 3784332 w 3784332"/>
              <a:gd name="connsiteY7" fmla="*/ 0 h 861774"/>
              <a:gd name="connsiteX8" fmla="*/ 3784332 w 3784332"/>
              <a:gd name="connsiteY8" fmla="*/ 448122 h 861774"/>
              <a:gd name="connsiteX9" fmla="*/ 3784332 w 3784332"/>
              <a:gd name="connsiteY9" fmla="*/ 861774 h 861774"/>
              <a:gd name="connsiteX10" fmla="*/ 3357243 w 3784332"/>
              <a:gd name="connsiteY10" fmla="*/ 861774 h 861774"/>
              <a:gd name="connsiteX11" fmla="*/ 2740938 w 3784332"/>
              <a:gd name="connsiteY11" fmla="*/ 861774 h 861774"/>
              <a:gd name="connsiteX12" fmla="*/ 2276005 w 3784332"/>
              <a:gd name="connsiteY12" fmla="*/ 861774 h 861774"/>
              <a:gd name="connsiteX13" fmla="*/ 1659700 w 3784332"/>
              <a:gd name="connsiteY13" fmla="*/ 861774 h 861774"/>
              <a:gd name="connsiteX14" fmla="*/ 1043394 w 3784332"/>
              <a:gd name="connsiteY14" fmla="*/ 861774 h 861774"/>
              <a:gd name="connsiteX15" fmla="*/ 464932 w 3784332"/>
              <a:gd name="connsiteY15" fmla="*/ 861774 h 861774"/>
              <a:gd name="connsiteX16" fmla="*/ 0 w 3784332"/>
              <a:gd name="connsiteY16" fmla="*/ 861774 h 861774"/>
              <a:gd name="connsiteX17" fmla="*/ 0 w 3784332"/>
              <a:gd name="connsiteY17" fmla="*/ 422269 h 861774"/>
              <a:gd name="connsiteX18" fmla="*/ 0 w 3784332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84332" h="861774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785382" y="159120"/>
                  <a:pt x="3764160" y="353239"/>
                  <a:pt x="3784332" y="448122"/>
                </a:cubicBezTo>
                <a:cubicBezTo>
                  <a:pt x="3804504" y="543005"/>
                  <a:pt x="3756998" y="778302"/>
                  <a:pt x="3784332" y="861774"/>
                </a:cubicBezTo>
                <a:cubicBezTo>
                  <a:pt x="3676913" y="879370"/>
                  <a:pt x="3539661" y="826538"/>
                  <a:pt x="3357243" y="861774"/>
                </a:cubicBezTo>
                <a:cubicBezTo>
                  <a:pt x="3174825" y="897010"/>
                  <a:pt x="3033958" y="839695"/>
                  <a:pt x="2740938" y="861774"/>
                </a:cubicBezTo>
                <a:cubicBezTo>
                  <a:pt x="2447918" y="883853"/>
                  <a:pt x="2464942" y="829811"/>
                  <a:pt x="2276005" y="861774"/>
                </a:cubicBezTo>
                <a:cubicBezTo>
                  <a:pt x="2087068" y="893737"/>
                  <a:pt x="1844264" y="804181"/>
                  <a:pt x="1659700" y="861774"/>
                </a:cubicBezTo>
                <a:cubicBezTo>
                  <a:pt x="1475137" y="919367"/>
                  <a:pt x="1172734" y="799634"/>
                  <a:pt x="1043394" y="861774"/>
                </a:cubicBezTo>
                <a:cubicBezTo>
                  <a:pt x="914054" y="923914"/>
                  <a:pt x="610029" y="799759"/>
                  <a:pt x="464932" y="861774"/>
                </a:cubicBezTo>
                <a:cubicBezTo>
                  <a:pt x="319835" y="923789"/>
                  <a:pt x="119991" y="842921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2</a:t>
            </a:r>
            <a:r>
              <a:rPr lang="en-PH" sz="2500" dirty="0"/>
              <a:t>: Calculate the covariance matrix</a:t>
            </a:r>
          </a:p>
        </p:txBody>
      </p:sp>
    </p:spTree>
    <p:extLst>
      <p:ext uri="{BB962C8B-B14F-4D97-AF65-F5344CB8AC3E}">
        <p14:creationId xmlns:p14="http://schemas.microsoft.com/office/powerpoint/2010/main" val="340679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DA39ED-88DE-C6CB-2525-F393792D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65D930B-6BBD-0F7F-B4F2-6BFDEC4E53D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A7F8D6-DEA9-61EC-7FB6-EF60303AA0F1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57AD09-D189-7CF4-C5A1-FF7FBD626EF4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B1F72CF-89A7-0820-2819-65B214C67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6C26477B-F222-220E-2305-7FA5255B1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516D4900-1769-0FC7-4F91-C49FC494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C7364EB8-420E-D259-922E-E8AFB8A4F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4D9D73A7-B443-7326-3AD2-E906EE728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B30FE7AE-7D18-3032-BC4E-CF3A08DA1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22C07E7A-17C2-7725-AA99-1994D97C7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7A0AFAF1-7B93-2C00-02B9-BFBD88C1A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27AAF1F-503E-3E82-740E-FBC3BA308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D26B551-95DE-81DF-3995-E1E008252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03EA7E6-5F99-986C-BB68-E7588419C1B8}"/>
              </a:ext>
            </a:extLst>
          </p:cNvPr>
          <p:cNvSpPr txBox="1"/>
          <p:nvPr/>
        </p:nvSpPr>
        <p:spPr>
          <a:xfrm>
            <a:off x="613496" y="5283561"/>
            <a:ext cx="4222101" cy="861774"/>
          </a:xfrm>
          <a:custGeom>
            <a:avLst/>
            <a:gdLst>
              <a:gd name="connsiteX0" fmla="*/ 0 w 4222101"/>
              <a:gd name="connsiteY0" fmla="*/ 0 h 861774"/>
              <a:gd name="connsiteX1" fmla="*/ 612205 w 4222101"/>
              <a:gd name="connsiteY1" fmla="*/ 0 h 861774"/>
              <a:gd name="connsiteX2" fmla="*/ 1224409 w 4222101"/>
              <a:gd name="connsiteY2" fmla="*/ 0 h 861774"/>
              <a:gd name="connsiteX3" fmla="*/ 1794393 w 4222101"/>
              <a:gd name="connsiteY3" fmla="*/ 0 h 861774"/>
              <a:gd name="connsiteX4" fmla="*/ 2322156 w 4222101"/>
              <a:gd name="connsiteY4" fmla="*/ 0 h 861774"/>
              <a:gd name="connsiteX5" fmla="*/ 2765476 w 4222101"/>
              <a:gd name="connsiteY5" fmla="*/ 0 h 861774"/>
              <a:gd name="connsiteX6" fmla="*/ 3208797 w 4222101"/>
              <a:gd name="connsiteY6" fmla="*/ 0 h 861774"/>
              <a:gd name="connsiteX7" fmla="*/ 3652117 w 4222101"/>
              <a:gd name="connsiteY7" fmla="*/ 0 h 861774"/>
              <a:gd name="connsiteX8" fmla="*/ 4222101 w 4222101"/>
              <a:gd name="connsiteY8" fmla="*/ 0 h 861774"/>
              <a:gd name="connsiteX9" fmla="*/ 4222101 w 4222101"/>
              <a:gd name="connsiteY9" fmla="*/ 448122 h 861774"/>
              <a:gd name="connsiteX10" fmla="*/ 4222101 w 4222101"/>
              <a:gd name="connsiteY10" fmla="*/ 861774 h 861774"/>
              <a:gd name="connsiteX11" fmla="*/ 3821001 w 4222101"/>
              <a:gd name="connsiteY11" fmla="*/ 861774 h 861774"/>
              <a:gd name="connsiteX12" fmla="*/ 3377681 w 4222101"/>
              <a:gd name="connsiteY12" fmla="*/ 861774 h 861774"/>
              <a:gd name="connsiteX13" fmla="*/ 2765476 w 4222101"/>
              <a:gd name="connsiteY13" fmla="*/ 861774 h 861774"/>
              <a:gd name="connsiteX14" fmla="*/ 2153272 w 4222101"/>
              <a:gd name="connsiteY14" fmla="*/ 861774 h 861774"/>
              <a:gd name="connsiteX15" fmla="*/ 1583288 w 4222101"/>
              <a:gd name="connsiteY15" fmla="*/ 861774 h 861774"/>
              <a:gd name="connsiteX16" fmla="*/ 1097746 w 4222101"/>
              <a:gd name="connsiteY16" fmla="*/ 861774 h 861774"/>
              <a:gd name="connsiteX17" fmla="*/ 527763 w 4222101"/>
              <a:gd name="connsiteY17" fmla="*/ 861774 h 861774"/>
              <a:gd name="connsiteX18" fmla="*/ 0 w 4222101"/>
              <a:gd name="connsiteY18" fmla="*/ 861774 h 861774"/>
              <a:gd name="connsiteX19" fmla="*/ 0 w 4222101"/>
              <a:gd name="connsiteY19" fmla="*/ 439505 h 861774"/>
              <a:gd name="connsiteX20" fmla="*/ 0 w 4222101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222101" h="861774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60692" y="221970"/>
                  <a:pt x="4179486" y="347530"/>
                  <a:pt x="4222101" y="448122"/>
                </a:cubicBezTo>
                <a:cubicBezTo>
                  <a:pt x="4264716" y="548714"/>
                  <a:pt x="4176985" y="741709"/>
                  <a:pt x="4222101" y="861774"/>
                </a:cubicBezTo>
                <a:cubicBezTo>
                  <a:pt x="4026180" y="908887"/>
                  <a:pt x="3949563" y="854601"/>
                  <a:pt x="3821001" y="861774"/>
                </a:cubicBezTo>
                <a:cubicBezTo>
                  <a:pt x="3692439" y="868947"/>
                  <a:pt x="3527080" y="820296"/>
                  <a:pt x="3377681" y="861774"/>
                </a:cubicBezTo>
                <a:cubicBezTo>
                  <a:pt x="3228282" y="903252"/>
                  <a:pt x="3009277" y="797622"/>
                  <a:pt x="2765476" y="861774"/>
                </a:cubicBezTo>
                <a:cubicBezTo>
                  <a:pt x="2521675" y="925926"/>
                  <a:pt x="2350227" y="797633"/>
                  <a:pt x="2153272" y="861774"/>
                </a:cubicBezTo>
                <a:cubicBezTo>
                  <a:pt x="1956317" y="925915"/>
                  <a:pt x="1832013" y="861213"/>
                  <a:pt x="1583288" y="861774"/>
                </a:cubicBezTo>
                <a:cubicBezTo>
                  <a:pt x="1334563" y="862335"/>
                  <a:pt x="1241566" y="817560"/>
                  <a:pt x="1097746" y="861774"/>
                </a:cubicBezTo>
                <a:cubicBezTo>
                  <a:pt x="953926" y="905988"/>
                  <a:pt x="707035" y="844341"/>
                  <a:pt x="527763" y="861774"/>
                </a:cubicBezTo>
                <a:cubicBezTo>
                  <a:pt x="348491" y="879207"/>
                  <a:pt x="189093" y="816628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3</a:t>
            </a:r>
            <a:r>
              <a:rPr lang="en-PH" sz="2500" dirty="0"/>
              <a:t>: Get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5FCD17F-682A-88CE-8EB3-5378394BA402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80143-350B-0559-E868-48BF81D8B38F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2D2231-ACAA-7A7A-028B-111F4E934FEF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BE0653-1141-9DFC-D0BB-A4723FAC44C2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28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8" grpId="0"/>
      <p:bldP spid="11" grpId="0"/>
      <p:bldP spid="12" grpId="0" animBg="1"/>
      <p:bldP spid="1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5D1173-9014-26BB-4354-45E13FB1B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B6801F6-ACA3-8B24-9176-6772B7DE152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8E41704-30FB-3C2B-7BBC-4EC223B5C0C0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A3C68F-32E0-6B54-1B57-121137610F0E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06B1C665-F6CE-A1AC-03CC-87A4BE958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7F6381FB-170B-79A8-6824-ECD12840E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47F000A-61C4-7ABE-6369-BD332E0E4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E69D1C5-E241-71F2-D45E-221E8F30C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56FDAE7-81E3-70E9-D9A9-F212E059C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3FEF847C-4678-B7CD-84F6-59F894358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14890F5F-505F-7521-9303-B6B1A58BA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BB2114FA-7C86-1E82-58D1-F8380E8C6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EA0CB6C7-A9D2-4B62-C48A-EDBD439AE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A2E37EC-E4E1-6189-3D92-725945B5A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CCFB5FA-6BC2-5395-157B-4C6A11EB4189}"/>
              </a:ext>
            </a:extLst>
          </p:cNvPr>
          <p:cNvSpPr txBox="1"/>
          <p:nvPr/>
        </p:nvSpPr>
        <p:spPr>
          <a:xfrm>
            <a:off x="613496" y="5283561"/>
            <a:ext cx="4222101" cy="1246495"/>
          </a:xfrm>
          <a:custGeom>
            <a:avLst/>
            <a:gdLst>
              <a:gd name="connsiteX0" fmla="*/ 0 w 4222101"/>
              <a:gd name="connsiteY0" fmla="*/ 0 h 1246495"/>
              <a:gd name="connsiteX1" fmla="*/ 612205 w 4222101"/>
              <a:gd name="connsiteY1" fmla="*/ 0 h 1246495"/>
              <a:gd name="connsiteX2" fmla="*/ 1224409 w 4222101"/>
              <a:gd name="connsiteY2" fmla="*/ 0 h 1246495"/>
              <a:gd name="connsiteX3" fmla="*/ 1794393 w 4222101"/>
              <a:gd name="connsiteY3" fmla="*/ 0 h 1246495"/>
              <a:gd name="connsiteX4" fmla="*/ 2322156 w 4222101"/>
              <a:gd name="connsiteY4" fmla="*/ 0 h 1246495"/>
              <a:gd name="connsiteX5" fmla="*/ 2765476 w 4222101"/>
              <a:gd name="connsiteY5" fmla="*/ 0 h 1246495"/>
              <a:gd name="connsiteX6" fmla="*/ 3208797 w 4222101"/>
              <a:gd name="connsiteY6" fmla="*/ 0 h 1246495"/>
              <a:gd name="connsiteX7" fmla="*/ 3652117 w 4222101"/>
              <a:gd name="connsiteY7" fmla="*/ 0 h 1246495"/>
              <a:gd name="connsiteX8" fmla="*/ 4222101 w 4222101"/>
              <a:gd name="connsiteY8" fmla="*/ 0 h 1246495"/>
              <a:gd name="connsiteX9" fmla="*/ 4222101 w 4222101"/>
              <a:gd name="connsiteY9" fmla="*/ 440428 h 1246495"/>
              <a:gd name="connsiteX10" fmla="*/ 4222101 w 4222101"/>
              <a:gd name="connsiteY10" fmla="*/ 818532 h 1246495"/>
              <a:gd name="connsiteX11" fmla="*/ 4222101 w 4222101"/>
              <a:gd name="connsiteY11" fmla="*/ 1246495 h 1246495"/>
              <a:gd name="connsiteX12" fmla="*/ 3821001 w 4222101"/>
              <a:gd name="connsiteY12" fmla="*/ 1246495 h 1246495"/>
              <a:gd name="connsiteX13" fmla="*/ 3208797 w 4222101"/>
              <a:gd name="connsiteY13" fmla="*/ 1246495 h 1246495"/>
              <a:gd name="connsiteX14" fmla="*/ 2596592 w 4222101"/>
              <a:gd name="connsiteY14" fmla="*/ 1246495 h 1246495"/>
              <a:gd name="connsiteX15" fmla="*/ 2026608 w 4222101"/>
              <a:gd name="connsiteY15" fmla="*/ 1246495 h 1246495"/>
              <a:gd name="connsiteX16" fmla="*/ 1541067 w 4222101"/>
              <a:gd name="connsiteY16" fmla="*/ 1246495 h 1246495"/>
              <a:gd name="connsiteX17" fmla="*/ 971083 w 4222101"/>
              <a:gd name="connsiteY17" fmla="*/ 1246495 h 1246495"/>
              <a:gd name="connsiteX18" fmla="*/ 0 w 4222101"/>
              <a:gd name="connsiteY18" fmla="*/ 1246495 h 1246495"/>
              <a:gd name="connsiteX19" fmla="*/ 0 w 4222101"/>
              <a:gd name="connsiteY19" fmla="*/ 843462 h 1246495"/>
              <a:gd name="connsiteX20" fmla="*/ 0 w 4222101"/>
              <a:gd name="connsiteY20" fmla="*/ 427963 h 1246495"/>
              <a:gd name="connsiteX21" fmla="*/ 0 w 4222101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222101" h="1246495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39465" y="209551"/>
                  <a:pt x="4181880" y="243367"/>
                  <a:pt x="4222101" y="440428"/>
                </a:cubicBezTo>
                <a:cubicBezTo>
                  <a:pt x="4262322" y="637489"/>
                  <a:pt x="4204776" y="689276"/>
                  <a:pt x="4222101" y="818532"/>
                </a:cubicBezTo>
                <a:cubicBezTo>
                  <a:pt x="4239426" y="947788"/>
                  <a:pt x="4219216" y="1129850"/>
                  <a:pt x="4222101" y="1246495"/>
                </a:cubicBezTo>
                <a:cubicBezTo>
                  <a:pt x="4034129" y="1273098"/>
                  <a:pt x="3955442" y="1219050"/>
                  <a:pt x="3821001" y="1246495"/>
                </a:cubicBezTo>
                <a:cubicBezTo>
                  <a:pt x="3686560" y="1273940"/>
                  <a:pt x="3449952" y="1177146"/>
                  <a:pt x="3208797" y="1246495"/>
                </a:cubicBezTo>
                <a:cubicBezTo>
                  <a:pt x="2967642" y="1315844"/>
                  <a:pt x="2795109" y="1186393"/>
                  <a:pt x="2596592" y="1246495"/>
                </a:cubicBezTo>
                <a:cubicBezTo>
                  <a:pt x="2398076" y="1306597"/>
                  <a:pt x="2275333" y="1245934"/>
                  <a:pt x="2026608" y="1246495"/>
                </a:cubicBezTo>
                <a:cubicBezTo>
                  <a:pt x="1777883" y="1247056"/>
                  <a:pt x="1680068" y="1201254"/>
                  <a:pt x="1541067" y="1246495"/>
                </a:cubicBezTo>
                <a:cubicBezTo>
                  <a:pt x="1402066" y="1291736"/>
                  <a:pt x="1155913" y="1235966"/>
                  <a:pt x="971083" y="1246495"/>
                </a:cubicBezTo>
                <a:cubicBezTo>
                  <a:pt x="786253" y="1257024"/>
                  <a:pt x="348340" y="1195833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4</a:t>
            </a:r>
            <a:r>
              <a:rPr lang="en-PH" sz="2500" dirty="0"/>
              <a:t>: Choose the most important </a:t>
            </a:r>
            <a:r>
              <a:rPr lang="en-PH" sz="2500" b="1" dirty="0"/>
              <a:t>eigenvector</a:t>
            </a:r>
            <a:r>
              <a:rPr lang="en-PH" sz="2500" dirty="0"/>
              <a:t> and </a:t>
            </a:r>
            <a:r>
              <a:rPr lang="en-PH" sz="2500" b="1" dirty="0"/>
              <a:t>eigenvalue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1C5FD50-A418-52B1-6124-B6A4DAEB9CBE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332EA-8D2F-57EA-BA04-B408D014B5FB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4D69EC-3C7B-71AF-A666-68D781191868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92A0DA-D0C2-120B-126B-DD87BC2BC1BF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47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1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0EB84A87-DA4A-8B8C-132B-FC7A0BD87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2D62C84-A6D6-1AC3-9B91-5C88C957C235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68103E-8026-4CE1-831B-96A4186D0BCE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48BE51A6-18B2-B9ED-EDCC-D2F31F00F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558166E-447B-9C2B-DFA4-249414562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FC206B63-4523-AD47-3F7B-0385444A4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FA03404D-C72C-3591-C2F9-94647CB93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CCA0C4FD-5EBA-B684-889C-239A0532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C47BDEC7-EF55-451C-3905-CB10064A6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827E02D4-BE83-3778-0CA6-D5180241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DBEDD228-2B58-69F1-899D-4703A297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B01097B-551D-5355-1DB4-DCC716746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7B94A14-9D47-389C-0CEB-A8CEBFD8A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CEC269-C252-6805-D784-A1AB3EA5B35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2B8FC67-78C3-BBA7-2F48-10F40FDB1727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075143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96296E-6 L 2.08333E-7 0.0604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0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-1.11111E-6 L 1.04167E-6 -0.0294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48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-0.00013 -0.041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06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0 L -2.5E-6 0.0745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72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4.07407E-6 L 4.16667E-6 0.08518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25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11111E-6 L -3.33333E-6 -0.1085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44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3.7037E-7 L 2.5E-6 0.0467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38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4.07407E-6 L -2.08333E-7 -0.10162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CAEB2B-B4F2-FE94-C515-AA090D081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6779551-92B3-D431-1B1E-2C802E3AE24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423303-3F56-3212-A988-058F07D2BCB4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69EDA3BB-6F78-0053-620A-B2E0C4599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F800858-7145-1CAB-B462-E9CC7D7BE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A691580-13AA-3CCF-EAF1-0C15D316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E04F09E-73ED-2B55-4963-603A50DD5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99A0F75-2609-7957-6E69-3581186F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D1D6EE6-B65E-5179-F3D6-9F8677746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79BE0DCB-851A-E8FF-3AF0-F56A3FE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56BFB91-1426-DDD9-FA1E-FA87E18BA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1195315-8670-8BC4-5907-87C3A392D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EFAD5A11-44BA-7BA9-CEAE-9205C48B2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9F3801-D1DA-A63B-1B6F-F432968A6402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55D093-63F6-9907-01F7-DCA6CF0D96A8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419577219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0F328E-38B0-6627-FFE0-58038249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4D89100-C28D-FDAB-B634-DECFA14DDBE9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A2F814-1922-1DCE-9287-90A1E43E61D2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1E874E36-55FA-90E7-5DC0-B7317F3AE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78181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2F9494C-32B9-09A9-0B60-8ED18F49E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9D011D70-D2EA-7CED-275C-14771ADA7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8C39DB0-7D24-628F-2F75-FC6B3D411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676457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D5FE9D20-5785-9CB0-D92E-61F488805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244739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BC74F2D-D1C3-203C-7B8B-2C14E61F7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61386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DB375E00-0545-520E-1FA5-2CEDAC76C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27938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0961D34-E02C-3D95-0290-7C6D87652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859262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845FF88-25B3-4A55-5135-48B40EE1F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1985966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DC14BFE-E425-E020-389C-E63F04278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2137716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D0C66D6-CEA6-D586-86DD-0C4E57828D3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71FB489-42ED-D5F3-34F2-317F6BCE360D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516227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4008</TotalTime>
  <Words>1764</Words>
  <Application>Microsoft Office PowerPoint</Application>
  <PresentationFormat>Widescreen</PresentationFormat>
  <Paragraphs>433</Paragraphs>
  <Slides>75</Slides>
  <Notes>4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Aptos</vt:lpstr>
      <vt:lpstr>Aptos Display</vt:lpstr>
      <vt:lpstr>Arial</vt:lpstr>
      <vt:lpstr>Cambria Math</vt:lpstr>
      <vt:lpstr>Wingdings</vt:lpstr>
      <vt:lpstr>Office Theme</vt:lpstr>
      <vt:lpstr>Principal Component Analysis (Math)</vt:lpstr>
      <vt:lpstr>PowerPoint Presentation</vt:lpstr>
      <vt:lpstr>Projecting Data </vt:lpstr>
      <vt:lpstr>Projecting Data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</vt:lpstr>
      <vt:lpstr>PowerPoint Presentation</vt:lpstr>
      <vt:lpstr>Mean</vt:lpstr>
      <vt:lpstr>Variance in One Dimension</vt:lpstr>
      <vt:lpstr>Variance in One Dimension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Covariance Matrix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468</cp:revision>
  <dcterms:created xsi:type="dcterms:W3CDTF">2024-08-08T01:29:50Z</dcterms:created>
  <dcterms:modified xsi:type="dcterms:W3CDTF">2025-12-12T03:49:55Z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