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7" r:id="rId2"/>
    <p:sldId id="263" r:id="rId3"/>
    <p:sldId id="593" r:id="rId4"/>
    <p:sldId id="632" r:id="rId5"/>
    <p:sldId id="633" r:id="rId6"/>
    <p:sldId id="635" r:id="rId7"/>
    <p:sldId id="636" r:id="rId8"/>
    <p:sldId id="637" r:id="rId9"/>
    <p:sldId id="638" r:id="rId10"/>
    <p:sldId id="641" r:id="rId11"/>
    <p:sldId id="639" r:id="rId12"/>
    <p:sldId id="640" r:id="rId13"/>
    <p:sldId id="650" r:id="rId14"/>
    <p:sldId id="649" r:id="rId15"/>
    <p:sldId id="651" r:id="rId16"/>
    <p:sldId id="652" r:id="rId17"/>
    <p:sldId id="653" r:id="rId18"/>
    <p:sldId id="654" r:id="rId19"/>
    <p:sldId id="645" r:id="rId20"/>
    <p:sldId id="644" r:id="rId21"/>
    <p:sldId id="655" r:id="rId22"/>
    <p:sldId id="656" r:id="rId23"/>
    <p:sldId id="657" r:id="rId24"/>
    <p:sldId id="658" r:id="rId25"/>
    <p:sldId id="663" r:id="rId26"/>
    <p:sldId id="659" r:id="rId27"/>
    <p:sldId id="660" r:id="rId28"/>
    <p:sldId id="661" r:id="rId29"/>
    <p:sldId id="662" r:id="rId30"/>
    <p:sldId id="646" r:id="rId31"/>
    <p:sldId id="64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75"/>
    <p:restoredTop sz="94402"/>
  </p:normalViewPr>
  <p:slideViewPr>
    <p:cSldViewPr snapToGrid="0">
      <p:cViewPr varScale="1">
        <p:scale>
          <a:sx n="137" d="100"/>
          <a:sy n="137" d="100"/>
        </p:scale>
        <p:origin x="132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78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52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BC266F-70C8-954B-9EC8-D842168CE9D2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EF18FD-875D-A541-8C07-F37C775C0F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44A6310C-9ACA-9E8A-E2CA-26F04E91C2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57B3786-D5B9-75A5-559A-E2EC02C265F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D6D1DBD1-5126-61E2-6E7E-D0E1598366F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bg1"/>
                </a:solidFill>
              </a:rPr>
              <a:t>CS Department</a:t>
            </a:r>
          </a:p>
        </p:txBody>
      </p: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4BC6280-14D1-A0F9-932F-6AE1D73C10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02E3C40-285E-F2DE-1274-14E9CBC5ACB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2B58354-33DE-CE59-747B-E022E0561795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A9AE51-EE04-4A01-C0E3-CCE3252EAD0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BC266F-70C8-954B-9EC8-D842168CE9D2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EF18FD-875D-A541-8C07-F37C775C0F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6568DCF-55BC-7236-BB25-0F637C24E4BB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EDA2906-65FB-8320-13BA-B7C7D4EDC085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51D332-4008-67FF-B5A9-C1F32F3AAE58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A30DD185-8D3F-19F9-5BF7-20D58C225E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3129C-870A-3273-7913-92DDF9DA6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BC266F-70C8-954B-9EC8-D842168CE9D2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E27BA4-8CD2-1C5E-0259-E54280CF1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E91CF3C-EC4A-0790-D00B-C4F00101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EF18FD-875D-A541-8C07-F37C775C0F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B0FBB04-5353-DB7B-01E2-71E3BDFD8F1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ABCAC3D7-4691-7163-DABA-4CBC4278EF1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70D1EF-004D-A2C9-0277-733EA226CE54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61C02FE8-AFB5-3D47-025B-21C8AA18A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C37AB0D-1BBD-5A3A-3CA1-4ECA587EB783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EB47D81-86A8-F8B6-1809-5D4AC4F9325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323FC8-38FB-3638-BB9E-11EC063A241E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EF39F6B1-29F2-F346-FB52-9807643B7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BC266F-70C8-954B-9EC8-D842168CE9D2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EF18FD-875D-A541-8C07-F37C775C0F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ED0F5F3-8E82-F748-CBF2-B4AEAADB1E47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91D9827-4EC7-992B-9135-C3ADB344C89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987D41-B5EF-6BB9-E1EF-7BAA5FCEDD0A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2DC3653F-DBD7-E648-D2D8-3AC427A76D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BC266F-70C8-954B-9EC8-D842168CE9D2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EF18FD-875D-A541-8C07-F37C775C0F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2B52BAD-D499-DAD0-D01D-C5AB2655603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CDAD829-336E-D4A1-56B6-587A2B16791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35DFD7-1DE0-8284-3EF7-E4B126AC8A34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14D6E90-0CBE-CE41-9669-8AF43373A3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0295BC2-CEA6-F9B0-AB63-F0E86526668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D8FC1D1-AA02-E54D-173A-1393477A0A8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76B4E8-A3BB-3A7B-3276-51DB2F13D06A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E19F05C1-7917-3B62-4B9E-983F13CA46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2460E22-CC6F-6348-5F9B-93073D760FD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0DD3151-D25A-3F4B-82BE-EE23E62C47D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B31877-D26C-E618-23A7-EE36E82F366D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EE1A0-953E-8CBF-58A8-7B772D9022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042FD25-B72A-6B9F-EDF4-F6F3D341A76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21A32D9-EC08-CEA3-008B-9352FE38540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177515-D01E-435D-8C24-1221917A2224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8CA3AF13-6858-5CC0-B6E3-60163F6175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CCADMACL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4BC266F-70C8-954B-9EC8-D842168CE9D2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AEF18FD-875D-A541-8C07-F37C775C0F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40.png"/><Relationship Id="rId7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sv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9.png"/><Relationship Id="rId7" Type="http://schemas.openxmlformats.org/officeDocument/2006/relationships/image" Target="../media/image6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0.png"/><Relationship Id="rId9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png"/><Relationship Id="rId13" Type="http://schemas.openxmlformats.org/officeDocument/2006/relationships/image" Target="../media/image610.png"/><Relationship Id="rId18" Type="http://schemas.openxmlformats.org/officeDocument/2006/relationships/image" Target="../media/image660.png"/><Relationship Id="rId3" Type="http://schemas.openxmlformats.org/officeDocument/2006/relationships/image" Target="../media/image510.png"/><Relationship Id="rId7" Type="http://schemas.openxmlformats.org/officeDocument/2006/relationships/image" Target="../media/image550.png"/><Relationship Id="rId12" Type="http://schemas.openxmlformats.org/officeDocument/2006/relationships/image" Target="../media/image600.png"/><Relationship Id="rId17" Type="http://schemas.openxmlformats.org/officeDocument/2006/relationships/image" Target="../media/image650.png"/><Relationship Id="rId2" Type="http://schemas.openxmlformats.org/officeDocument/2006/relationships/image" Target="../media/image500.png"/><Relationship Id="rId16" Type="http://schemas.openxmlformats.org/officeDocument/2006/relationships/image" Target="../media/image640.png"/><Relationship Id="rId20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0.png"/><Relationship Id="rId11" Type="http://schemas.openxmlformats.org/officeDocument/2006/relationships/image" Target="../media/image590.png"/><Relationship Id="rId5" Type="http://schemas.openxmlformats.org/officeDocument/2006/relationships/image" Target="../media/image53.png"/><Relationship Id="rId15" Type="http://schemas.openxmlformats.org/officeDocument/2006/relationships/image" Target="../media/image630.png"/><Relationship Id="rId10" Type="http://schemas.openxmlformats.org/officeDocument/2006/relationships/image" Target="../media/image580.png"/><Relationship Id="rId19" Type="http://schemas.openxmlformats.org/officeDocument/2006/relationships/image" Target="../media/image52.png"/><Relationship Id="rId4" Type="http://schemas.openxmlformats.org/officeDocument/2006/relationships/image" Target="../media/image520.png"/><Relationship Id="rId9" Type="http://schemas.openxmlformats.org/officeDocument/2006/relationships/image" Target="../media/image570.png"/><Relationship Id="rId14" Type="http://schemas.openxmlformats.org/officeDocument/2006/relationships/image" Target="../media/image6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3.png"/><Relationship Id="rId18" Type="http://schemas.openxmlformats.org/officeDocument/2006/relationships/image" Target="../media/image75.png"/><Relationship Id="rId3" Type="http://schemas.openxmlformats.org/officeDocument/2006/relationships/image" Target="../media/image510.png"/><Relationship Id="rId7" Type="http://schemas.openxmlformats.org/officeDocument/2006/relationships/image" Target="../media/image70.png"/><Relationship Id="rId12" Type="http://schemas.openxmlformats.org/officeDocument/2006/relationships/image" Target="../media/image600.png"/><Relationship Id="rId17" Type="http://schemas.openxmlformats.org/officeDocument/2006/relationships/image" Target="../media/image77.png"/><Relationship Id="rId2" Type="http://schemas.openxmlformats.org/officeDocument/2006/relationships/image" Target="../media/image500.png"/><Relationship Id="rId16" Type="http://schemas.openxmlformats.org/officeDocument/2006/relationships/image" Target="../media/image76.png"/><Relationship Id="rId20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0.png"/><Relationship Id="rId11" Type="http://schemas.openxmlformats.org/officeDocument/2006/relationships/image" Target="../media/image590.png"/><Relationship Id="rId5" Type="http://schemas.openxmlformats.org/officeDocument/2006/relationships/image" Target="../media/image69.png"/><Relationship Id="rId15" Type="http://schemas.openxmlformats.org/officeDocument/2006/relationships/image" Target="../media/image68.png"/><Relationship Id="rId10" Type="http://schemas.openxmlformats.org/officeDocument/2006/relationships/image" Target="../media/image580.png"/><Relationship Id="rId19" Type="http://schemas.openxmlformats.org/officeDocument/2006/relationships/image" Target="../media/image52.png"/><Relationship Id="rId4" Type="http://schemas.openxmlformats.org/officeDocument/2006/relationships/image" Target="../media/image520.png"/><Relationship Id="rId9" Type="http://schemas.openxmlformats.org/officeDocument/2006/relationships/image" Target="../media/image72.png"/><Relationship Id="rId14" Type="http://schemas.openxmlformats.org/officeDocument/2006/relationships/image" Target="../media/image7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53.svg"/><Relationship Id="rId7" Type="http://schemas.openxmlformats.org/officeDocument/2006/relationships/image" Target="../media/image78.pn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80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60.png"/><Relationship Id="rId7" Type="http://schemas.openxmlformats.org/officeDocument/2006/relationships/image" Target="../media/image8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7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5.png"/><Relationship Id="rId7" Type="http://schemas.openxmlformats.org/officeDocument/2006/relationships/image" Target="../media/image9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89.png"/><Relationship Id="rId10" Type="http://schemas.openxmlformats.org/officeDocument/2006/relationships/image" Target="../media/image100.png"/><Relationship Id="rId4" Type="http://schemas.openxmlformats.org/officeDocument/2006/relationships/image" Target="../media/image88.png"/><Relationship Id="rId9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880.png"/><Relationship Id="rId7" Type="http://schemas.openxmlformats.org/officeDocument/2006/relationships/image" Target="../media/image900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0.png"/><Relationship Id="rId5" Type="http://schemas.openxmlformats.org/officeDocument/2006/relationships/image" Target="../media/image820.png"/><Relationship Id="rId10" Type="http://schemas.openxmlformats.org/officeDocument/2006/relationships/image" Target="../media/image930.png"/><Relationship Id="rId4" Type="http://schemas.openxmlformats.org/officeDocument/2006/relationships/image" Target="../media/image810.png"/><Relationship Id="rId9" Type="http://schemas.openxmlformats.org/officeDocument/2006/relationships/image" Target="../media/image92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3" Type="http://schemas.openxmlformats.org/officeDocument/2006/relationships/image" Target="../media/image800.png"/><Relationship Id="rId7" Type="http://schemas.openxmlformats.org/officeDocument/2006/relationships/image" Target="../media/image840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0.png"/><Relationship Id="rId5" Type="http://schemas.openxmlformats.org/officeDocument/2006/relationships/image" Target="../media/image820.png"/><Relationship Id="rId10" Type="http://schemas.openxmlformats.org/officeDocument/2006/relationships/image" Target="../media/image870.png"/><Relationship Id="rId4" Type="http://schemas.openxmlformats.org/officeDocument/2006/relationships/image" Target="../media/image810.png"/><Relationship Id="rId9" Type="http://schemas.openxmlformats.org/officeDocument/2006/relationships/image" Target="../media/image8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0070C0"/>
                </a:solidFill>
                <a:latin typeface="Aptos" panose="020B0004020202020204" pitchFamily="34" charset="0"/>
              </a:rPr>
              <a:t>Covariance Matrix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AB3F01-B55F-9A63-14C3-6FC44C166E39}"/>
              </a:ext>
            </a:extLst>
          </p:cNvPr>
          <p:cNvSpPr txBox="1">
            <a:spLocks/>
          </p:cNvSpPr>
          <p:nvPr/>
        </p:nvSpPr>
        <p:spPr>
          <a:xfrm>
            <a:off x="838200" y="228686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/>
              <a:t>What is a Derivative?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a matrix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040CE-CACD-0DC8-2221-0DE503F00D88}"/>
              </a:ext>
            </a:extLst>
          </p:cNvPr>
          <p:cNvSpPr txBox="1">
            <a:spLocks/>
          </p:cNvSpPr>
          <p:nvPr/>
        </p:nvSpPr>
        <p:spPr>
          <a:xfrm>
            <a:off x="838199" y="826369"/>
            <a:ext cx="1097404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0070C0"/>
                </a:solidFill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61157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D79D0-D2BA-530D-CA2A-A20D8EEE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matrices?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21273-519C-4824-722A-FEE54C9E9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4000" dirty="0"/>
              <a:t>Matrices is a plural form of a matrix, which is a rectangular array or a table where numbers or elements are arranged in </a:t>
            </a:r>
            <a:r>
              <a:rPr lang="en-PH" sz="4000" b="1" dirty="0"/>
              <a:t>rows</a:t>
            </a:r>
            <a:r>
              <a:rPr lang="en-PH" sz="4000" dirty="0"/>
              <a:t> and </a:t>
            </a:r>
            <a:r>
              <a:rPr lang="en-PH" sz="4000" b="1" dirty="0"/>
              <a:t>columns</a:t>
            </a:r>
            <a:r>
              <a:rPr lang="en-PH" sz="4000" dirty="0"/>
              <a:t>. </a:t>
            </a:r>
            <a:endParaRPr lang="en-US" sz="4000" dirty="0"/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1418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498EA-5E7F-9511-809F-15693B23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8DEEE-2B54-73C4-EFC6-7A30C138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matrices?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584BD-843A-5EB5-9D87-EB72A3C54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4000" dirty="0"/>
              <a:t>They can have any number of columns and rows. </a:t>
            </a:r>
          </a:p>
          <a:p>
            <a:pPr marL="0" indent="0">
              <a:buNone/>
            </a:pPr>
            <a:endParaRPr lang="en-PH" sz="4000" dirty="0"/>
          </a:p>
          <a:p>
            <a:pPr marL="0" indent="0">
              <a:buNone/>
            </a:pPr>
            <a:r>
              <a:rPr lang="en-PH" sz="4000" dirty="0"/>
              <a:t>Different operations can be performed on matrices such as addition, scalar multiplication, multiplication, transposition, etc.</a:t>
            </a: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4380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A4A9AF2-5E59-A576-F504-BD165F0A90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8759035"/>
                  </p:ext>
                </p:extLst>
              </p:nvPr>
            </p:nvGraphicFramePr>
            <p:xfrm>
              <a:off x="2032000" y="2316480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90278214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240347224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1120821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Sample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Hours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Score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511192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2846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3291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59132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A4A9AF2-5E59-A576-F504-BD165F0A90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8759035"/>
                  </p:ext>
                </p:extLst>
              </p:nvPr>
            </p:nvGraphicFramePr>
            <p:xfrm>
              <a:off x="2032000" y="2316480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90278214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240347224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1120821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Sample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6667" r="-100935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39" t="-6667" r="-140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11192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2846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3291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591320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014784-743F-D566-BF30-15BEAAD6BAA1}"/>
                  </a:ext>
                </a:extLst>
              </p:cNvPr>
              <p:cNvSpPr txBox="1"/>
              <p:nvPr/>
            </p:nvSpPr>
            <p:spPr>
              <a:xfrm>
                <a:off x="4418445" y="4189303"/>
                <a:ext cx="3355108" cy="1919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5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5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5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014784-743F-D566-BF30-15BEAAD6B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445" y="4189303"/>
                <a:ext cx="3355108" cy="1919885"/>
              </a:xfrm>
              <a:prstGeom prst="rect">
                <a:avLst/>
              </a:prstGeom>
              <a:blipFill>
                <a:blip r:embed="rId3"/>
                <a:stretch>
                  <a:fillRect l="-7576" t="-658" b="-11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551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9FFE4-DEE0-549D-8D58-8BCC70CD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mean of each feature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0E6758-22EE-90DF-5ACC-9ED597DD9952}"/>
                  </a:ext>
                </a:extLst>
              </p:cNvPr>
              <p:cNvSpPr txBox="1"/>
              <p:nvPr/>
            </p:nvSpPr>
            <p:spPr>
              <a:xfrm>
                <a:off x="1007838" y="3945206"/>
                <a:ext cx="4426009" cy="10083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2+4+6</m:t>
                          </m:r>
                        </m:num>
                        <m:den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0E6758-22EE-90DF-5ACC-9ED597DD9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838" y="3945206"/>
                <a:ext cx="4426009" cy="1008353"/>
              </a:xfrm>
              <a:prstGeom prst="rect">
                <a:avLst/>
              </a:prstGeom>
              <a:blipFill>
                <a:blip r:embed="rId2"/>
                <a:stretch>
                  <a:fillRect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BB7D4D-8D8E-3B17-6234-074878A88B37}"/>
                  </a:ext>
                </a:extLst>
              </p:cNvPr>
              <p:cNvSpPr txBox="1"/>
              <p:nvPr/>
            </p:nvSpPr>
            <p:spPr>
              <a:xfrm>
                <a:off x="6095999" y="3945205"/>
                <a:ext cx="4426009" cy="10083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4+6+8</m:t>
                          </m:r>
                        </m:num>
                        <m:den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BB7D4D-8D8E-3B17-6234-074878A88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3945205"/>
                <a:ext cx="4426009" cy="1008353"/>
              </a:xfrm>
              <a:prstGeom prst="rect">
                <a:avLst/>
              </a:prstGeom>
              <a:blipFill>
                <a:blip r:embed="rId3"/>
                <a:stretch>
                  <a:fillRect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88987B-4663-6C4A-5EC1-1D87207CE93D}"/>
                  </a:ext>
                </a:extLst>
              </p:cNvPr>
              <p:cNvSpPr txBox="1"/>
              <p:nvPr/>
            </p:nvSpPr>
            <p:spPr>
              <a:xfrm>
                <a:off x="4795054" y="5344447"/>
                <a:ext cx="2601889" cy="538609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GB" sz="3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GB" sz="3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mr>
                      </m:m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88987B-4663-6C4A-5EC1-1D87207CE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054" y="5344447"/>
                <a:ext cx="2601889" cy="538609"/>
              </a:xfrm>
              <a:prstGeom prst="rect">
                <a:avLst/>
              </a:prstGeom>
              <a:blipFill>
                <a:blip r:embed="rId4"/>
                <a:stretch>
                  <a:fillRect b="-3043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B6F4E9-5612-B658-9086-A560E142E4A9}"/>
                  </a:ext>
                </a:extLst>
              </p:cNvPr>
              <p:cNvSpPr txBox="1"/>
              <p:nvPr/>
            </p:nvSpPr>
            <p:spPr>
              <a:xfrm>
                <a:off x="4418445" y="1828304"/>
                <a:ext cx="3355108" cy="1919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5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5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5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B6F4E9-5612-B658-9086-A560E142E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445" y="1828304"/>
                <a:ext cx="3355108" cy="1919885"/>
              </a:xfrm>
              <a:prstGeom prst="rect">
                <a:avLst/>
              </a:prstGeom>
              <a:blipFill>
                <a:blip r:embed="rId5"/>
                <a:stretch>
                  <a:fillRect l="-7576" t="-1316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6700B96-FF32-7A2F-49CE-A4639F72F52A}"/>
              </a:ext>
            </a:extLst>
          </p:cNvPr>
          <p:cNvSpPr txBox="1"/>
          <p:nvPr/>
        </p:nvSpPr>
        <p:spPr>
          <a:xfrm>
            <a:off x="591031" y="2465080"/>
            <a:ext cx="3529304" cy="64633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Compute the mean of each column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319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98518-1AA6-1F4F-6D5E-A853D910E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Center the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884C52-BBEC-A7BF-4024-198EE602CE12}"/>
                  </a:ext>
                </a:extLst>
              </p:cNvPr>
              <p:cNvSpPr txBox="1"/>
              <p:nvPr/>
            </p:nvSpPr>
            <p:spPr>
              <a:xfrm>
                <a:off x="7117840" y="2956334"/>
                <a:ext cx="2601889" cy="5386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GB" sz="3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GB" sz="3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mr>
                      </m:m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884C52-BBEC-A7BF-4024-198EE602C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840" y="2956334"/>
                <a:ext cx="2601889" cy="538609"/>
              </a:xfrm>
              <a:prstGeom prst="rect">
                <a:avLst/>
              </a:prstGeom>
              <a:blipFill>
                <a:blip r:embed="rId2"/>
                <a:stretch>
                  <a:fillRect b="-3409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6E238-EB45-B6D6-1670-282AADCD2222}"/>
                  </a:ext>
                </a:extLst>
              </p:cNvPr>
              <p:cNvSpPr txBox="1"/>
              <p:nvPr/>
            </p:nvSpPr>
            <p:spPr>
              <a:xfrm>
                <a:off x="2032597" y="2265695"/>
                <a:ext cx="3355108" cy="1919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5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5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5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6E238-EB45-B6D6-1670-282AADCD2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597" y="2265695"/>
                <a:ext cx="3355108" cy="1919885"/>
              </a:xfrm>
              <a:prstGeom prst="rect">
                <a:avLst/>
              </a:prstGeom>
              <a:blipFill>
                <a:blip r:embed="rId3"/>
                <a:stretch>
                  <a:fillRect l="-6767" t="-658" b="-11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C8C7D3-2B9F-E558-7922-389CEB009C08}"/>
                  </a:ext>
                </a:extLst>
              </p:cNvPr>
              <p:cNvSpPr txBox="1"/>
              <p:nvPr/>
            </p:nvSpPr>
            <p:spPr>
              <a:xfrm>
                <a:off x="838200" y="4937108"/>
                <a:ext cx="5662416" cy="13438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4−6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4−4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6−4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6−6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8−6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C8C7D3-2B9F-E558-7922-389CEB009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937108"/>
                <a:ext cx="5662416" cy="1343894"/>
              </a:xfrm>
              <a:prstGeom prst="rect">
                <a:avLst/>
              </a:prstGeom>
              <a:blipFill>
                <a:blip r:embed="rId4"/>
                <a:stretch>
                  <a:fillRect l="-448" b="-1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73CAA2-8BD6-D8EF-7F20-D6757D626002}"/>
                  </a:ext>
                </a:extLst>
              </p:cNvPr>
              <p:cNvSpPr txBox="1"/>
              <p:nvPr/>
            </p:nvSpPr>
            <p:spPr>
              <a:xfrm>
                <a:off x="6829085" y="4940635"/>
                <a:ext cx="4748017" cy="134036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73CAA2-8BD6-D8EF-7F20-D6757D626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085" y="4940635"/>
                <a:ext cx="4748017" cy="1340367"/>
              </a:xfrm>
              <a:prstGeom prst="rect">
                <a:avLst/>
              </a:prstGeom>
              <a:blipFill>
                <a:blip r:embed="rId5"/>
                <a:stretch>
                  <a:fillRect l="-265" b="-9174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C4C7075-4C0A-F68B-E8B9-89DCC429898B}"/>
              </a:ext>
            </a:extLst>
          </p:cNvPr>
          <p:cNvSpPr txBox="1"/>
          <p:nvPr/>
        </p:nvSpPr>
        <p:spPr>
          <a:xfrm>
            <a:off x="4459174" y="4354428"/>
            <a:ext cx="3722139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Subtract the mean for each sample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690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66D39-9BF3-F9D1-8861-5C031AA7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Covariance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A2B260-DD3B-8739-DB9E-45A398AFB0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1695" y="2044987"/>
                <a:ext cx="5908610" cy="1836548"/>
              </a:xfrm>
              <a:ln w="38100">
                <a:solidFill>
                  <a:schemeClr val="bg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</m:oMath>
                  </m:oMathPara>
                </a14:m>
                <a:endParaRPr lang="en-GB" sz="35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500" dirty="0"/>
              </a:p>
              <a:p>
                <a:pPr marL="0" indent="0">
                  <a:buNone/>
                </a:pPr>
                <a:endParaRPr lang="en-US" sz="3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A2B260-DD3B-8739-DB9E-45A398AFB0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1695" y="2044987"/>
                <a:ext cx="5908610" cy="1836548"/>
              </a:xfr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EFB128-1342-1993-BA5E-859CD4CCB172}"/>
                  </a:ext>
                </a:extLst>
              </p:cNvPr>
              <p:cNvSpPr txBox="1"/>
              <p:nvPr/>
            </p:nvSpPr>
            <p:spPr>
              <a:xfrm>
                <a:off x="6605783" y="4250303"/>
                <a:ext cx="4748017" cy="91505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EFB128-1342-1993-BA5E-859CD4CCB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783" y="4250303"/>
                <a:ext cx="4748017" cy="915059"/>
              </a:xfrm>
              <a:prstGeom prst="rect">
                <a:avLst/>
              </a:prstGeom>
              <a:blipFill>
                <a:blip r:embed="rId3"/>
                <a:stretch>
                  <a:fillRect l="-2667" t="-1370" b="-1643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1A63F3-20EB-F445-646E-DB9F387BED6A}"/>
                  </a:ext>
                </a:extLst>
              </p:cNvPr>
              <p:cNvSpPr txBox="1"/>
              <p:nvPr/>
            </p:nvSpPr>
            <p:spPr>
              <a:xfrm>
                <a:off x="1347983" y="4035885"/>
                <a:ext cx="4748017" cy="134036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1A63F3-20EB-F445-646E-DB9F387BE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983" y="4035885"/>
                <a:ext cx="4748017" cy="1340367"/>
              </a:xfrm>
              <a:prstGeom prst="rect">
                <a:avLst/>
              </a:prstGeom>
              <a:blipFill>
                <a:blip r:embed="rId4"/>
                <a:stretch>
                  <a:fillRect l="-800" t="-935" b="-1028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E4AD1D-AA03-6C91-3349-9290928FBD73}"/>
                  </a:ext>
                </a:extLst>
              </p:cNvPr>
              <p:cNvSpPr txBox="1"/>
              <p:nvPr/>
            </p:nvSpPr>
            <p:spPr>
              <a:xfrm>
                <a:off x="4234930" y="5662299"/>
                <a:ext cx="3722139" cy="369332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dirty="0">
                    <a:solidFill>
                      <a:schemeClr val="bg1"/>
                    </a:solidFill>
                  </a:rPr>
                  <a:t>Compute the transpose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𝑐𝑒𝑛𝑡𝑒𝑟𝑒𝑑</m:t>
                        </m:r>
                      </m:sub>
                    </m:sSub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E4AD1D-AA03-6C91-3349-9290928FB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930" y="5662299"/>
                <a:ext cx="3722139" cy="369332"/>
              </a:xfrm>
              <a:prstGeom prst="rect">
                <a:avLst/>
              </a:prstGeom>
              <a:blipFill>
                <a:blip r:embed="rId5"/>
                <a:stretch>
                  <a:fillRect l="-1014" t="-3030" b="-18182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096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D8E05-0FCC-BDFC-2FC9-C1C83576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E20E-0C0D-870F-627D-9932A90B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Covariance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45FBD4-ABC4-C5DB-608D-2DEFA872BC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1695" y="2044987"/>
                <a:ext cx="5908610" cy="1836548"/>
              </a:xfrm>
              <a:ln w="38100">
                <a:solidFill>
                  <a:schemeClr val="bg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</m:oMath>
                  </m:oMathPara>
                </a14:m>
                <a:endParaRPr lang="en-GB" sz="35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500" dirty="0"/>
              </a:p>
              <a:p>
                <a:pPr marL="0" indent="0">
                  <a:buNone/>
                </a:pPr>
                <a:endParaRPr lang="en-US" sz="3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45FBD4-ABC4-C5DB-608D-2DEFA872BC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1695" y="2044987"/>
                <a:ext cx="5908610" cy="1836548"/>
              </a:xfr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8AFF887-6B04-1A07-13FC-F526C08D14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71397" y="4970553"/>
                <a:ext cx="7249206" cy="1325371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Sup>
                        <m:sSubSupPr>
                          <m:ctrlP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8AFF887-6B04-1A07-13FC-F526C08D1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397" y="4970553"/>
                <a:ext cx="7249206" cy="1325371"/>
              </a:xfrm>
              <a:prstGeom prst="rect">
                <a:avLst/>
              </a:prstGeom>
              <a:blipFill>
                <a:blip r:embed="rId3"/>
                <a:stretch>
                  <a:fillRect b="-2095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71249D-97FB-E9FD-9B6F-1D000F093590}"/>
                  </a:ext>
                </a:extLst>
              </p:cNvPr>
              <p:cNvSpPr txBox="1"/>
              <p:nvPr/>
            </p:nvSpPr>
            <p:spPr>
              <a:xfrm>
                <a:off x="6605783" y="4250303"/>
                <a:ext cx="4748017" cy="91505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71249D-97FB-E9FD-9B6F-1D000F093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783" y="4250303"/>
                <a:ext cx="4748017" cy="915059"/>
              </a:xfrm>
              <a:prstGeom prst="rect">
                <a:avLst/>
              </a:prstGeom>
              <a:blipFill>
                <a:blip r:embed="rId4"/>
                <a:stretch>
                  <a:fillRect l="-2667" t="-1370" b="-1643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FB218C-C25D-9684-85F2-2A9E36E1E67A}"/>
                  </a:ext>
                </a:extLst>
              </p:cNvPr>
              <p:cNvSpPr txBox="1"/>
              <p:nvPr/>
            </p:nvSpPr>
            <p:spPr>
              <a:xfrm>
                <a:off x="1347983" y="4035885"/>
                <a:ext cx="4748017" cy="134036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FB218C-C25D-9684-85F2-2A9E36E1E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983" y="4035885"/>
                <a:ext cx="4748017" cy="1340367"/>
              </a:xfrm>
              <a:prstGeom prst="rect">
                <a:avLst/>
              </a:prstGeom>
              <a:blipFill>
                <a:blip r:embed="rId5"/>
                <a:stretch>
                  <a:fillRect l="-800" t="-935" b="-1028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30C408E-AE40-8A00-8EF5-A953A2232A39}"/>
              </a:ext>
            </a:extLst>
          </p:cNvPr>
          <p:cNvSpPr txBox="1"/>
          <p:nvPr/>
        </p:nvSpPr>
        <p:spPr>
          <a:xfrm>
            <a:off x="8979791" y="5708465"/>
            <a:ext cx="2972723" cy="64633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Use the formula by plugging in the matrices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380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D1B42-A234-4825-E4CF-06ABB77E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BDF6-6100-50F1-27F0-9B098D77F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Covariance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62EAC-BE11-FDAB-87BA-D9BF46C80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1695" y="2044987"/>
                <a:ext cx="5908610" cy="1836548"/>
              </a:xfrm>
              <a:ln w="38100">
                <a:solidFill>
                  <a:schemeClr val="bg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</m:oMath>
                  </m:oMathPara>
                </a14:m>
                <a:endParaRPr lang="en-GB" sz="35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500" dirty="0"/>
              </a:p>
              <a:p>
                <a:pPr marL="0" indent="0">
                  <a:buNone/>
                </a:pPr>
                <a:endParaRPr lang="en-US" sz="3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62EAC-BE11-FDAB-87BA-D9BF46C80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1695" y="2044987"/>
                <a:ext cx="5908610" cy="1836548"/>
              </a:xfr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96BA5EB-29CF-A367-706F-3D92D88270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71397" y="4867917"/>
                <a:ext cx="7249206" cy="1325371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96BA5EB-29CF-A367-706F-3D92D882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397" y="4867917"/>
                <a:ext cx="7249206" cy="1325371"/>
              </a:xfrm>
              <a:prstGeom prst="rect">
                <a:avLst/>
              </a:prstGeom>
              <a:blipFill>
                <a:blip r:embed="rId3"/>
                <a:stretch>
                  <a:fillRect b="-4381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1F8DCB-8A8B-27D1-D9F2-AEE146F3DE75}"/>
                  </a:ext>
                </a:extLst>
              </p:cNvPr>
              <p:cNvSpPr txBox="1"/>
              <p:nvPr/>
            </p:nvSpPr>
            <p:spPr>
              <a:xfrm>
                <a:off x="6605783" y="4250303"/>
                <a:ext cx="4748017" cy="91505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1F8DCB-8A8B-27D1-D9F2-AEE146F3D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783" y="4250303"/>
                <a:ext cx="4748017" cy="915059"/>
              </a:xfrm>
              <a:prstGeom prst="rect">
                <a:avLst/>
              </a:prstGeom>
              <a:blipFill>
                <a:blip r:embed="rId4"/>
                <a:stretch>
                  <a:fillRect l="-2667" t="-1370" b="-1643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6964ED-990A-AC51-C162-6E114E0D22E2}"/>
                  </a:ext>
                </a:extLst>
              </p:cNvPr>
              <p:cNvSpPr txBox="1"/>
              <p:nvPr/>
            </p:nvSpPr>
            <p:spPr>
              <a:xfrm>
                <a:off x="1347983" y="4035885"/>
                <a:ext cx="4748017" cy="134036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6964ED-990A-AC51-C162-6E114E0D2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983" y="4035885"/>
                <a:ext cx="4748017" cy="1340367"/>
              </a:xfrm>
              <a:prstGeom prst="rect">
                <a:avLst/>
              </a:prstGeom>
              <a:blipFill>
                <a:blip r:embed="rId5"/>
                <a:stretch>
                  <a:fillRect l="-800" t="-935" b="-1028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779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393A9-5649-3B5C-ED59-3939AFB8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0612-71F4-A304-7EBC-D5A93AD8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Covariance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C44A2E0-7E1F-A304-2775-4901B1BC3C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153206" y="3499427"/>
                <a:ext cx="7249206" cy="1325371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C44A2E0-7E1F-A304-2775-4901B1BC3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53206" y="3499427"/>
                <a:ext cx="7249206" cy="1325371"/>
              </a:xfrm>
              <a:prstGeom prst="rect">
                <a:avLst/>
              </a:prstGeom>
              <a:blipFill>
                <a:blip r:embed="rId2"/>
                <a:stretch>
                  <a:fillRect t="-285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110C168-98C3-20F0-4065-9FF144D821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658" y="4990234"/>
                <a:ext cx="2848897" cy="1041397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110C168-98C3-20F0-4065-9FF144D82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58" y="4990234"/>
                <a:ext cx="2848897" cy="1041397"/>
              </a:xfrm>
              <a:prstGeom prst="rect">
                <a:avLst/>
              </a:prstGeom>
              <a:blipFill>
                <a:blip r:embed="rId3"/>
                <a:stretch>
                  <a:fillRect t="-3659" b="-731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CBA2A6E5-E3EA-AE16-08C4-9829174ED3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9332" y="1570639"/>
                <a:ext cx="7249206" cy="2212762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CBA2A6E5-E3EA-AE16-08C4-9829174ED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32" y="1570639"/>
                <a:ext cx="7249206" cy="2212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7BFFC0F-174B-2750-E874-FB4E58E1F90F}"/>
              </a:ext>
            </a:extLst>
          </p:cNvPr>
          <p:cNvSpPr txBox="1"/>
          <p:nvPr/>
        </p:nvSpPr>
        <p:spPr>
          <a:xfrm>
            <a:off x="8010477" y="2492354"/>
            <a:ext cx="2729058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Multiply the two matrices</a:t>
            </a:r>
            <a:endParaRPr lang="en-US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2E6BDB-A65B-521C-2BF4-457AE4C2A3A7}"/>
                  </a:ext>
                </a:extLst>
              </p:cNvPr>
              <p:cNvSpPr txBox="1"/>
              <p:nvPr/>
            </p:nvSpPr>
            <p:spPr>
              <a:xfrm>
                <a:off x="4929480" y="3934767"/>
                <a:ext cx="5894030" cy="369332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dirty="0">
                    <a:solidFill>
                      <a:schemeClr val="bg1"/>
                    </a:solidFill>
                  </a:rPr>
                  <a:t>Because we have three samples in our dataset,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800" dirty="0">
                    <a:solidFill>
                      <a:schemeClr val="bg1"/>
                    </a:solidFill>
                  </a:rPr>
                  <a:t> will be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2E6BDB-A65B-521C-2BF4-457AE4C2A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480" y="3934767"/>
                <a:ext cx="5894030" cy="369332"/>
              </a:xfrm>
              <a:prstGeom prst="rect">
                <a:avLst/>
              </a:prstGeom>
              <a:blipFill>
                <a:blip r:embed="rId5"/>
                <a:stretch>
                  <a:fillRect l="-427" t="-3030" b="-18182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835140F-45B4-A05B-0C36-6BB886CD5A60}"/>
              </a:ext>
            </a:extLst>
          </p:cNvPr>
          <p:cNvSpPr txBox="1"/>
          <p:nvPr/>
        </p:nvSpPr>
        <p:spPr>
          <a:xfrm>
            <a:off x="3990258" y="5377180"/>
            <a:ext cx="2848897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Now, divide the matrix by 2</a:t>
            </a:r>
            <a:endParaRPr lang="en-US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6B8DCBCB-D6B9-5388-7763-206638874C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01544" y="5045537"/>
                <a:ext cx="3260709" cy="1041397"/>
              </a:xfrm>
              <a:prstGeom prst="rect">
                <a:avLst/>
              </a:prstGeom>
              <a:ln w="38100">
                <a:solidFill>
                  <a:srgbClr val="00B05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6B8DCBCB-D6B9-5388-7763-206638874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544" y="5045537"/>
                <a:ext cx="3260709" cy="1041397"/>
              </a:xfrm>
              <a:prstGeom prst="rect">
                <a:avLst/>
              </a:prstGeom>
              <a:blipFill>
                <a:blip r:embed="rId6"/>
                <a:stretch>
                  <a:fillRect t="-235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4119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5" grpId="0" animBg="1"/>
      <p:bldP spid="16" grpId="0" animBg="1"/>
      <p:bldP spid="1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C225-64E6-2B3D-7C93-E7FC3B61B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825BA4-5EAD-9E5E-D7EC-F23F8964DE7B}"/>
                  </a:ext>
                </a:extLst>
              </p:cNvPr>
              <p:cNvSpPr txBox="1"/>
              <p:nvPr/>
            </p:nvSpPr>
            <p:spPr>
              <a:xfrm>
                <a:off x="838200" y="2541394"/>
                <a:ext cx="4759825" cy="122475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PH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PH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PH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PH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𝑜𝑣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</m:oMath>
                  </m:oMathPara>
                </a14:m>
                <a:endParaRPr lang="en-PH" dirty="0">
                  <a:solidFill>
                    <a:schemeClr val="bg1"/>
                  </a:solidFill>
                </a:endParaRPr>
              </a:p>
              <a:p>
                <a:endParaRPr lang="en-P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825BA4-5EAD-9E5E-D7EC-F23F8964D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41394"/>
                <a:ext cx="4759825" cy="1224759"/>
              </a:xfrm>
              <a:prstGeom prst="rect">
                <a:avLst/>
              </a:prstGeom>
              <a:blipFill>
                <a:blip r:embed="rId3"/>
                <a:stretch>
                  <a:fillRect t="-53465" b="-83168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E834426-BE81-3754-A444-94D90ED229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58271" y="2333600"/>
                <a:ext cx="2633395" cy="1640346"/>
              </a:xfrm>
              <a:prstGeom prst="rect">
                <a:avLst/>
              </a:prstGeom>
              <a:ln w="38100">
                <a:solidFill>
                  <a:srgbClr val="00B05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500" dirty="0"/>
              </a:p>
              <a:p>
                <a:pPr marL="0" indent="0">
                  <a:buNone/>
                </a:pPr>
                <a:endParaRPr lang="en-US" sz="3500" dirty="0"/>
              </a:p>
              <a:p>
                <a:pPr marL="0" indent="0">
                  <a:buNone/>
                </a:pPr>
                <a:endParaRPr lang="en-US" sz="35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E834426-BE81-3754-A444-94D90ED22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271" y="2333600"/>
                <a:ext cx="2633395" cy="16403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FD9139D-B422-BD79-F77B-0D9FE99791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55613"/>
                <a:ext cx="10515600" cy="2482594"/>
              </a:xfrm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§"/>
                </a:pPr>
                <a:r>
                  <a:rPr lang="en-GB" sz="3000" dirty="0"/>
                  <a:t>Variance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000" dirty="0"/>
                  <a:t> is 4</a:t>
                </a:r>
              </a:p>
              <a:p>
                <a:pPr>
                  <a:buFont typeface="Wingdings" pitchFamily="2" charset="2"/>
                  <a:buChar char="§"/>
                </a:pPr>
                <a:r>
                  <a:rPr lang="en-GB" sz="3000" dirty="0"/>
                  <a:t>Variance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is 4</a:t>
                </a:r>
              </a:p>
              <a:p>
                <a:pPr>
                  <a:buFont typeface="Wingdings" pitchFamily="2" charset="2"/>
                  <a:buChar char="§"/>
                </a:pPr>
                <a:r>
                  <a:rPr lang="en-GB" sz="3000" dirty="0"/>
                  <a:t>Covariance is 4</a:t>
                </a:r>
                <a:endParaRPr lang="en-US" sz="30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FD9139D-B422-BD79-F77B-0D9FE99791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55613"/>
                <a:ext cx="10515600" cy="2482594"/>
              </a:xfrm>
              <a:blipFill>
                <a:blip r:embed="rId5"/>
                <a:stretch>
                  <a:fillRect l="-1206" t="-5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418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B6291C-C30E-E317-FFAC-59D7F8E9DFE6}"/>
                  </a:ext>
                </a:extLst>
              </p:cNvPr>
              <p:cNvSpPr txBox="1"/>
              <p:nvPr/>
            </p:nvSpPr>
            <p:spPr>
              <a:xfrm>
                <a:off x="4011990" y="1699041"/>
                <a:ext cx="4168020" cy="1231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8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8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8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8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8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8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B6291C-C30E-E317-FFAC-59D7F8E9D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990" y="1699041"/>
                <a:ext cx="4168020" cy="1231106"/>
              </a:xfrm>
              <a:prstGeom prst="rect">
                <a:avLst/>
              </a:prstGeom>
              <a:blipFill>
                <a:blip r:embed="rId2"/>
                <a:stretch>
                  <a:fillRect l="-4217" t="-6931" r="-1205" b="-3267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A7A4A3-7BF9-694B-502F-C8DD6F55BE55}"/>
                  </a:ext>
                </a:extLst>
              </p:cNvPr>
              <p:cNvSpPr txBox="1"/>
              <p:nvPr/>
            </p:nvSpPr>
            <p:spPr>
              <a:xfrm>
                <a:off x="1628556" y="3429000"/>
                <a:ext cx="9184756" cy="313932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5000" b="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GB" sz="5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GB" sz="5000" b="0" dirty="0">
                    <a:solidFill>
                      <a:schemeClr val="bg1"/>
                    </a:solidFill>
                  </a:rPr>
                  <a:t> is a covariance matrix</a:t>
                </a:r>
              </a:p>
              <a:p>
                <a14:m>
                  <m:oMath xmlns:m="http://schemas.openxmlformats.org/officeDocument/2006/math">
                    <m:r>
                      <a:rPr lang="en-GB" sz="5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GB" sz="5000" b="0" dirty="0">
                    <a:solidFill>
                      <a:schemeClr val="bg1"/>
                    </a:solidFill>
                  </a:rPr>
                  <a:t> is the eigenvector</a:t>
                </a:r>
              </a:p>
              <a:p>
                <a14:m>
                  <m:oMath xmlns:m="http://schemas.openxmlformats.org/officeDocument/2006/math">
                    <m:r>
                      <a:rPr lang="el-GR" sz="5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GB" sz="5000" b="0" dirty="0">
                    <a:solidFill>
                      <a:schemeClr val="bg1"/>
                    </a:solidFill>
                  </a:rPr>
                  <a:t> is the eigenvalue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A7A4A3-7BF9-694B-502F-C8DD6F55B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556" y="3429000"/>
                <a:ext cx="9184756" cy="3139321"/>
              </a:xfrm>
              <a:prstGeom prst="rect">
                <a:avLst/>
              </a:prstGeom>
              <a:blipFill>
                <a:blip r:embed="rId3"/>
                <a:stretch>
                  <a:fillRect l="-4282" t="-6478" b="-1133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338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F12137-CE25-F4EF-DD26-0CFC788A5EAD}"/>
                  </a:ext>
                </a:extLst>
              </p:cNvPr>
              <p:cNvSpPr txBox="1"/>
              <p:nvPr/>
            </p:nvSpPr>
            <p:spPr>
              <a:xfrm>
                <a:off x="622935" y="1957471"/>
                <a:ext cx="3593605" cy="76944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F12137-CE25-F4EF-DD26-0CFC788A5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5" y="1957471"/>
                <a:ext cx="3593605" cy="769441"/>
              </a:xfrm>
              <a:prstGeom prst="rect">
                <a:avLst/>
              </a:prstGeom>
              <a:blipFill>
                <a:blip r:embed="rId2"/>
                <a:stretch>
                  <a:fillRect l="-4912" t="-9836" r="-5263" b="-3606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64F685-5193-2BDC-1EA8-D9D621DF6F99}"/>
                  </a:ext>
                </a:extLst>
              </p:cNvPr>
              <p:cNvSpPr txBox="1"/>
              <p:nvPr/>
            </p:nvSpPr>
            <p:spPr>
              <a:xfrm>
                <a:off x="506529" y="4030523"/>
                <a:ext cx="3826414" cy="769441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64F685-5193-2BDC-1EA8-D9D621DF6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529" y="4030523"/>
                <a:ext cx="3826414" cy="769441"/>
              </a:xfrm>
              <a:prstGeom prst="rect">
                <a:avLst/>
              </a:prstGeom>
              <a:blipFill>
                <a:blip r:embed="rId3"/>
                <a:stretch>
                  <a:fillRect l="-7213" r="-5246" b="-27692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A3E03C-1757-395F-ECA2-9FE3D4279D3A}"/>
                  </a:ext>
                </a:extLst>
              </p:cNvPr>
              <p:cNvSpPr txBox="1"/>
              <p:nvPr/>
            </p:nvSpPr>
            <p:spPr>
              <a:xfrm>
                <a:off x="561563" y="3008811"/>
                <a:ext cx="3716347" cy="76944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5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l-GR" sz="5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A3E03C-1757-395F-ECA2-9FE3D4279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63" y="3008811"/>
                <a:ext cx="3716347" cy="769441"/>
              </a:xfrm>
              <a:prstGeom prst="rect">
                <a:avLst/>
              </a:prstGeom>
              <a:blipFill>
                <a:blip r:embed="rId4"/>
                <a:stretch>
                  <a:fillRect t="-9836" r="-5802" b="-3606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368E41-4D70-2726-0E3D-59E92387090B}"/>
                  </a:ext>
                </a:extLst>
              </p:cNvPr>
              <p:cNvSpPr txBox="1"/>
              <p:nvPr/>
            </p:nvSpPr>
            <p:spPr>
              <a:xfrm>
                <a:off x="561563" y="5081861"/>
                <a:ext cx="4551748" cy="769441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d>
                        <m:dPr>
                          <m:ctrlP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5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l-GR" sz="5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368E41-4D70-2726-0E3D-59E923870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63" y="5081861"/>
                <a:ext cx="4551748" cy="769441"/>
              </a:xfrm>
              <a:prstGeom prst="rect">
                <a:avLst/>
              </a:prstGeom>
              <a:blipFill>
                <a:blip r:embed="rId5"/>
                <a:stretch>
                  <a:fillRect l="-4408" t="-6154" r="-4132" b="-30769"/>
                </a:stretch>
              </a:blipFill>
              <a:ln w="381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 descr="Badge 1 with solid fill">
            <a:extLst>
              <a:ext uri="{FF2B5EF4-FFF2-40B4-BE49-F238E27FC236}">
                <a16:creationId xmlns:a16="http://schemas.microsoft.com/office/drawing/2014/main" id="{CCCC1606-AF22-58BE-C88D-A5B7999787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51815" y="4192104"/>
            <a:ext cx="446277" cy="446277"/>
          </a:xfrm>
          <a:prstGeom prst="rect">
            <a:avLst/>
          </a:prstGeom>
        </p:spPr>
      </p:pic>
      <p:pic>
        <p:nvPicPr>
          <p:cNvPr id="8" name="Graphic 7" descr="Badge with solid fill">
            <a:extLst>
              <a:ext uri="{FF2B5EF4-FFF2-40B4-BE49-F238E27FC236}">
                <a16:creationId xmlns:a16="http://schemas.microsoft.com/office/drawing/2014/main" id="{4C778395-FFF2-21CE-5D5F-6F51F50691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41165" y="5243442"/>
            <a:ext cx="446277" cy="446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EE1F4A-D013-8A7F-9E24-4689DE064FE5}"/>
                  </a:ext>
                </a:extLst>
              </p:cNvPr>
              <p:cNvSpPr txBox="1"/>
              <p:nvPr/>
            </p:nvSpPr>
            <p:spPr>
              <a:xfrm>
                <a:off x="622935" y="906131"/>
                <a:ext cx="3013964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EE1F4A-D013-8A7F-9E24-4689DE064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5" y="906131"/>
                <a:ext cx="3013964" cy="769441"/>
              </a:xfrm>
              <a:prstGeom prst="rect">
                <a:avLst/>
              </a:prstGeom>
              <a:blipFill>
                <a:blip r:embed="rId10"/>
                <a:stretch>
                  <a:fillRect t="-7813" b="-31250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FC1C91-F45B-6CEA-3E22-96466CB9C266}"/>
                  </a:ext>
                </a:extLst>
              </p:cNvPr>
              <p:cNvSpPr txBox="1"/>
              <p:nvPr/>
            </p:nvSpPr>
            <p:spPr>
              <a:xfrm>
                <a:off x="6189306" y="4689188"/>
                <a:ext cx="2972723" cy="554254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PH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is an identity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FC1C91-F45B-6CEA-3E22-96466CB9C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306" y="4689188"/>
                <a:ext cx="2972723" cy="554254"/>
              </a:xfrm>
              <a:prstGeom prst="rect">
                <a:avLst/>
              </a:prstGeom>
              <a:blipFill>
                <a:blip r:embed="rId11"/>
                <a:stretch>
                  <a:fillRect b="-2083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324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889CC-2119-9949-2F35-DB5D0097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DCBE8-9E02-492B-A3F3-BDFDB0E7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determinant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A01D51-B037-9B50-570F-8DD595ABF200}"/>
                  </a:ext>
                </a:extLst>
              </p:cNvPr>
              <p:cNvSpPr txBox="1"/>
              <p:nvPr/>
            </p:nvSpPr>
            <p:spPr>
              <a:xfrm>
                <a:off x="551371" y="3267651"/>
                <a:ext cx="3571163" cy="680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PH" sz="2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A01D51-B037-9B50-570F-8DD595ABF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71" y="3267651"/>
                <a:ext cx="3571163" cy="680314"/>
              </a:xfrm>
              <a:prstGeom prst="rect">
                <a:avLst/>
              </a:prstGeom>
              <a:blipFill>
                <a:blip r:embed="rId2"/>
                <a:stretch>
                  <a:fillRect t="-3636" r="-1064" b="-16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43BB85B-EA53-FB4E-EF4D-50704C554BE3}"/>
                  </a:ext>
                </a:extLst>
              </p:cNvPr>
              <p:cNvSpPr txBox="1"/>
              <p:nvPr/>
            </p:nvSpPr>
            <p:spPr>
              <a:xfrm>
                <a:off x="427934" y="4258601"/>
                <a:ext cx="3410727" cy="69346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PH" sz="2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43BB85B-EA53-FB4E-EF4D-50704C554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34" y="4258601"/>
                <a:ext cx="3410727" cy="693460"/>
              </a:xfrm>
              <a:prstGeom prst="rect">
                <a:avLst/>
              </a:prstGeom>
              <a:blipFill>
                <a:blip r:embed="rId3"/>
                <a:stretch>
                  <a:fillRect t="-3636" b="-16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732F12-D09B-5312-2511-6F22729AF223}"/>
                  </a:ext>
                </a:extLst>
              </p:cNvPr>
              <p:cNvSpPr txBox="1"/>
              <p:nvPr/>
            </p:nvSpPr>
            <p:spPr>
              <a:xfrm>
                <a:off x="551371" y="5267757"/>
                <a:ext cx="2678183" cy="67531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PH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PH" sz="2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l-GR" sz="2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PH" sz="2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PH" sz="2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l-GR" sz="2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732F12-D09B-5312-2511-6F22729AF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71" y="5267757"/>
                <a:ext cx="2678183" cy="675313"/>
              </a:xfrm>
              <a:prstGeom prst="rect">
                <a:avLst/>
              </a:prstGeom>
              <a:blipFill>
                <a:blip r:embed="rId4"/>
                <a:stretch>
                  <a:fillRect r="-3774" b="-1454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5D5F4B-E839-828B-7F41-F57C137CB55C}"/>
                  </a:ext>
                </a:extLst>
              </p:cNvPr>
              <p:cNvSpPr txBox="1"/>
              <p:nvPr/>
            </p:nvSpPr>
            <p:spPr>
              <a:xfrm>
                <a:off x="304498" y="6153221"/>
                <a:ext cx="3064933" cy="4001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PH" sz="2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l-GR" sz="2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lang="en-GB" sz="2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16 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5D5F4B-E839-828B-7F41-F57C137CB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8" y="6153221"/>
                <a:ext cx="3064933" cy="400110"/>
              </a:xfrm>
              <a:prstGeom prst="rect">
                <a:avLst/>
              </a:prstGeom>
              <a:blipFill>
                <a:blip r:embed="rId5"/>
                <a:stretch>
                  <a:fillRect t="-9375" b="-375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9DB7FB-D484-5A41-84AD-36D3FB6D9E3E}"/>
                  </a:ext>
                </a:extLst>
              </p:cNvPr>
              <p:cNvSpPr txBox="1"/>
              <p:nvPr/>
            </p:nvSpPr>
            <p:spPr>
              <a:xfrm>
                <a:off x="505874" y="2182514"/>
                <a:ext cx="2965114" cy="430887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d>
                        <m:dPr>
                          <m:ctrlP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l-GR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9DB7FB-D484-5A41-84AD-36D3FB6D9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74" y="2182514"/>
                <a:ext cx="2965114" cy="430887"/>
              </a:xfrm>
              <a:prstGeom prst="rect">
                <a:avLst/>
              </a:prstGeom>
              <a:blipFill>
                <a:blip r:embed="rId6"/>
                <a:stretch>
                  <a:fillRect t="-5263" b="-28947"/>
                </a:stretch>
              </a:blipFill>
              <a:ln w="381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Graphic 38" descr="Badge with solid fill">
            <a:extLst>
              <a:ext uri="{FF2B5EF4-FFF2-40B4-BE49-F238E27FC236}">
                <a16:creationId xmlns:a16="http://schemas.microsoft.com/office/drawing/2014/main" id="{DAC4FFF7-9267-CBB4-10D7-980B1D4593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76257" y="2182514"/>
            <a:ext cx="446277" cy="446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0DFBE0-AE8C-A229-10D0-FA9F532FA687}"/>
                  </a:ext>
                </a:extLst>
              </p:cNvPr>
              <p:cNvSpPr txBox="1"/>
              <p:nvPr/>
            </p:nvSpPr>
            <p:spPr>
              <a:xfrm>
                <a:off x="5121845" y="2150286"/>
                <a:ext cx="2947623" cy="646331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1800" dirty="0">
                    <a:solidFill>
                      <a:schemeClr val="bg1"/>
                    </a:solidFill>
                  </a:rPr>
                  <a:t>Plug in the identity matrix </a:t>
                </a:r>
                <a14:m>
                  <m:oMath xmlns:m="http://schemas.openxmlformats.org/officeDocument/2006/math">
                    <m:r>
                      <a:rPr lang="en-PH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and covariance matrix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0DFBE0-AE8C-A229-10D0-FA9F532FA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845" y="2150286"/>
                <a:ext cx="2947623" cy="646331"/>
              </a:xfrm>
              <a:prstGeom prst="rect">
                <a:avLst/>
              </a:prstGeom>
              <a:blipFill>
                <a:blip r:embed="rId9"/>
                <a:stretch>
                  <a:fillRect l="-847" t="-1852" b="-11111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3D5FE26-2B2F-05C3-D221-7B4D4F74D32F}"/>
              </a:ext>
            </a:extLst>
          </p:cNvPr>
          <p:cNvSpPr txBox="1"/>
          <p:nvPr/>
        </p:nvSpPr>
        <p:spPr>
          <a:xfrm>
            <a:off x="4834107" y="3417007"/>
            <a:ext cx="3722065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Perform scalar matrix multiplication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1C1A4-A7DB-DEED-30C3-2F4CC5693D6C}"/>
              </a:ext>
            </a:extLst>
          </p:cNvPr>
          <p:cNvSpPr txBox="1"/>
          <p:nvPr/>
        </p:nvSpPr>
        <p:spPr>
          <a:xfrm>
            <a:off x="4834107" y="4336737"/>
            <a:ext cx="1988551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Subtract matrices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563DF4-ED16-A06E-B621-81DC6BA868B7}"/>
              </a:ext>
            </a:extLst>
          </p:cNvPr>
          <p:cNvSpPr txBox="1"/>
          <p:nvPr/>
        </p:nvSpPr>
        <p:spPr>
          <a:xfrm>
            <a:off x="4833020" y="5420747"/>
            <a:ext cx="3545870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Find the determinant of the matrix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473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build="allAtOnce"/>
      <p:bldP spid="30" grpId="0" build="allAtOnce"/>
      <p:bldP spid="3" grpId="0" animBg="1"/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5059-2817-86BF-9D4C-6B0A2CA6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1D21A-0E58-D3C5-400E-89E31200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 for the eigenvalues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1317A2-97E4-3E61-8A0C-EF17767802C6}"/>
                  </a:ext>
                </a:extLst>
              </p:cNvPr>
              <p:cNvSpPr txBox="1"/>
              <p:nvPr/>
            </p:nvSpPr>
            <p:spPr>
              <a:xfrm>
                <a:off x="304498" y="2024281"/>
                <a:ext cx="3064933" cy="4001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PH" sz="2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l-GR" sz="2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lang="en-GB" sz="2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16 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1317A2-97E4-3E61-8A0C-EF1776780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8" y="2024281"/>
                <a:ext cx="3064933" cy="400110"/>
              </a:xfrm>
              <a:prstGeom prst="rect">
                <a:avLst/>
              </a:prstGeom>
              <a:blipFill>
                <a:blip r:embed="rId2"/>
                <a:stretch>
                  <a:fillRect t="-9091" b="-3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B88EF7-CBAF-EFD3-AB2B-A762B5BB657E}"/>
                  </a:ext>
                </a:extLst>
              </p:cNvPr>
              <p:cNvSpPr txBox="1"/>
              <p:nvPr/>
            </p:nvSpPr>
            <p:spPr>
              <a:xfrm>
                <a:off x="376921" y="4060724"/>
                <a:ext cx="1996730" cy="4001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GB" sz="2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B88EF7-CBAF-EFD3-AB2B-A762B5BB6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1" y="4060724"/>
                <a:ext cx="1996730" cy="400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5B8A26-E486-1501-AF72-1B4F61C607DF}"/>
                  </a:ext>
                </a:extLst>
              </p:cNvPr>
              <p:cNvSpPr txBox="1"/>
              <p:nvPr/>
            </p:nvSpPr>
            <p:spPr>
              <a:xfrm>
                <a:off x="376921" y="5935038"/>
                <a:ext cx="1500212" cy="400110"/>
              </a:xfrm>
              <a:prstGeom prst="rect">
                <a:avLst/>
              </a:prstGeom>
              <a:noFill/>
              <a:ln w="38100">
                <a:solidFill>
                  <a:srgbClr val="92D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5B8A26-E486-1501-AF72-1B4F61C60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1" y="5935038"/>
                <a:ext cx="1500212" cy="400110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  <a:ln w="38100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9564E6-F241-3F1A-0CC4-105B91933A48}"/>
                  </a:ext>
                </a:extLst>
              </p:cNvPr>
              <p:cNvSpPr txBox="1"/>
              <p:nvPr/>
            </p:nvSpPr>
            <p:spPr>
              <a:xfrm>
                <a:off x="376922" y="5332963"/>
                <a:ext cx="1500212" cy="40011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9564E6-F241-3F1A-0CC4-105B91933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2" y="5332963"/>
                <a:ext cx="1500212" cy="400110"/>
              </a:xfrm>
              <a:prstGeom prst="rect">
                <a:avLst/>
              </a:prstGeom>
              <a:blipFill>
                <a:blip r:embed="rId5"/>
                <a:stretch>
                  <a:fillRect b="-8571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015264-4FED-8AF4-81FC-CE2C966783E4}"/>
                  </a:ext>
                </a:extLst>
              </p:cNvPr>
              <p:cNvSpPr txBox="1"/>
              <p:nvPr/>
            </p:nvSpPr>
            <p:spPr>
              <a:xfrm>
                <a:off x="376921" y="4645044"/>
                <a:ext cx="2700756" cy="4001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−0)(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8)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015264-4FED-8AF4-81FC-CE2C96678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1" y="4645044"/>
                <a:ext cx="2700756" cy="400110"/>
              </a:xfrm>
              <a:prstGeom prst="rect">
                <a:avLst/>
              </a:prstGeom>
              <a:blipFill>
                <a:blip r:embed="rId6"/>
                <a:stretch>
                  <a:fillRect l="-5140" r="-3738" b="-3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83549B-D2A3-9C67-56F5-F4A66C514894}"/>
                  </a:ext>
                </a:extLst>
              </p:cNvPr>
              <p:cNvSpPr txBox="1"/>
              <p:nvPr/>
            </p:nvSpPr>
            <p:spPr>
              <a:xfrm>
                <a:off x="376921" y="2684886"/>
                <a:ext cx="3657600" cy="4001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)(4−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−16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83549B-D2A3-9C67-56F5-F4A66C514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1" y="2684886"/>
                <a:ext cx="3657600" cy="400110"/>
              </a:xfrm>
              <a:prstGeom prst="rect">
                <a:avLst/>
              </a:prstGeom>
              <a:blipFill>
                <a:blip r:embed="rId7"/>
                <a:stretch>
                  <a:fillRect l="-1038" b="-3437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AD87C9-6E28-C895-BB80-DE719F07F8A7}"/>
                  </a:ext>
                </a:extLst>
              </p:cNvPr>
              <p:cNvSpPr txBox="1"/>
              <p:nvPr/>
            </p:nvSpPr>
            <p:spPr>
              <a:xfrm>
                <a:off x="304498" y="3372805"/>
                <a:ext cx="4344956" cy="4001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6−4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l-GR" sz="2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−16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AD87C9-6E28-C895-BB80-DE719F07F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8" y="3372805"/>
                <a:ext cx="4344956" cy="400110"/>
              </a:xfrm>
              <a:prstGeom prst="rect">
                <a:avLst/>
              </a:prstGeom>
              <a:blipFill>
                <a:blip r:embed="rId8"/>
                <a:stretch>
                  <a:fillRect t="-3030" b="-606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2863369-14E5-A703-25D0-5735BDD89D03}"/>
              </a:ext>
            </a:extLst>
          </p:cNvPr>
          <p:cNvSpPr txBox="1"/>
          <p:nvPr/>
        </p:nvSpPr>
        <p:spPr>
          <a:xfrm>
            <a:off x="4833020" y="2055059"/>
            <a:ext cx="1011599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Simplify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21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  <p:bldP spid="11" grpId="0"/>
      <p:bldP spid="12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1E9A3-0FBC-0197-B241-73656E01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eigenvectors </a:t>
            </a:r>
          </a:p>
        </p:txBody>
      </p:sp>
      <p:pic>
        <p:nvPicPr>
          <p:cNvPr id="5" name="Graphic 4" descr="Badge 1 with solid fill">
            <a:extLst>
              <a:ext uri="{FF2B5EF4-FFF2-40B4-BE49-F238E27FC236}">
                <a16:creationId xmlns:a16="http://schemas.microsoft.com/office/drawing/2014/main" id="{666E9778-B80B-7BE1-D776-5042C8BF7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3738" y="1988033"/>
            <a:ext cx="446277" cy="446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B5B6D1-5A3C-B6B1-405D-BFFEFEFE2C39}"/>
                  </a:ext>
                </a:extLst>
              </p:cNvPr>
              <p:cNvSpPr txBox="1"/>
              <p:nvPr/>
            </p:nvSpPr>
            <p:spPr>
              <a:xfrm>
                <a:off x="838200" y="1981159"/>
                <a:ext cx="2734559" cy="461665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B5B6D1-5A3C-B6B1-405D-BFFEFEFE2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159"/>
                <a:ext cx="2734559" cy="461665"/>
              </a:xfrm>
              <a:prstGeom prst="rect">
                <a:avLst/>
              </a:prstGeom>
              <a:blipFill>
                <a:blip r:embed="rId4"/>
                <a:stretch>
                  <a:fillRect b="-30000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4A8FDB-EDAA-46F9-F036-9722F1CF959F}"/>
                  </a:ext>
                </a:extLst>
              </p:cNvPr>
              <p:cNvSpPr txBox="1"/>
              <p:nvPr/>
            </p:nvSpPr>
            <p:spPr>
              <a:xfrm>
                <a:off x="523852" y="2998945"/>
                <a:ext cx="4357724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4A8FDB-EDAA-46F9-F036-9722F1CF9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52" y="2998945"/>
                <a:ext cx="4357724" cy="615553"/>
              </a:xfrm>
              <a:prstGeom prst="rect">
                <a:avLst/>
              </a:prstGeom>
              <a:blipFill>
                <a:blip r:embed="rId5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D21591-CE21-C0A5-DBD9-6F30AD9B5217}"/>
                  </a:ext>
                </a:extLst>
              </p:cNvPr>
              <p:cNvSpPr txBox="1"/>
              <p:nvPr/>
            </p:nvSpPr>
            <p:spPr>
              <a:xfrm>
                <a:off x="523852" y="3885514"/>
                <a:ext cx="4126162" cy="64767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D21591-CE21-C0A5-DBD9-6F30AD9B5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52" y="3885514"/>
                <a:ext cx="4126162" cy="647678"/>
              </a:xfrm>
              <a:prstGeom prst="rect">
                <a:avLst/>
              </a:prstGeom>
              <a:blipFill>
                <a:blip r:embed="rId6"/>
                <a:stretch>
                  <a:fillRect t="-1887" b="-1320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2C6111-609D-20C7-4226-752CEEACE8C5}"/>
                  </a:ext>
                </a:extLst>
              </p:cNvPr>
              <p:cNvSpPr txBox="1"/>
              <p:nvPr/>
            </p:nvSpPr>
            <p:spPr>
              <a:xfrm>
                <a:off x="278255" y="4712835"/>
                <a:ext cx="4456103" cy="6158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2C6111-609D-20C7-4226-752CEEACE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55" y="4712835"/>
                <a:ext cx="4456103" cy="615810"/>
              </a:xfrm>
              <a:prstGeom prst="rect">
                <a:avLst/>
              </a:prstGeom>
              <a:blipFill>
                <a:blip r:embed="rId7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36EC5D-E220-CFB1-B46F-6C394239D008}"/>
                  </a:ext>
                </a:extLst>
              </p:cNvPr>
              <p:cNvSpPr txBox="1"/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36EC5D-E220-CFB1-B46F-6C394239D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97660-7181-5358-DE44-E888E2D31183}"/>
                  </a:ext>
                </a:extLst>
              </p:cNvPr>
              <p:cNvSpPr txBox="1"/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97660-7181-5358-DE44-E888E2D31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blipFill>
                <a:blip r:embed="rId9"/>
                <a:stretch>
                  <a:fillRect b="-11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A8397D-FF12-F263-10D9-492D28FC4527}"/>
                  </a:ext>
                </a:extLst>
              </p:cNvPr>
              <p:cNvSpPr txBox="1"/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A8397D-FF12-F263-10D9-492D28FC4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blipFill>
                <a:blip r:embed="rId10"/>
                <a:stretch>
                  <a:fillRect b="-149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975897-F7A9-39EF-0809-944E3392BDA7}"/>
                  </a:ext>
                </a:extLst>
              </p:cNvPr>
              <p:cNvSpPr txBox="1"/>
              <p:nvPr/>
            </p:nvSpPr>
            <p:spPr>
              <a:xfrm>
                <a:off x="455673" y="5631529"/>
                <a:ext cx="3281522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975897-F7A9-39EF-0809-944E3392B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73" y="5631529"/>
                <a:ext cx="3281522" cy="615553"/>
              </a:xfrm>
              <a:prstGeom prst="rect">
                <a:avLst/>
              </a:prstGeom>
              <a:blipFill>
                <a:blip r:embed="rId11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88EEF5-BEDB-5C3C-8744-B2A1F8C53664}"/>
                  </a:ext>
                </a:extLst>
              </p:cNvPr>
              <p:cNvSpPr txBox="1"/>
              <p:nvPr/>
            </p:nvSpPr>
            <p:spPr>
              <a:xfrm>
                <a:off x="5254441" y="1910863"/>
                <a:ext cx="2947623" cy="646331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1800" dirty="0">
                    <a:solidFill>
                      <a:schemeClr val="bg1"/>
                    </a:solidFill>
                  </a:rPr>
                  <a:t>Plug in the identity matrix </a:t>
                </a:r>
                <a14:m>
                  <m:oMath xmlns:m="http://schemas.openxmlformats.org/officeDocument/2006/math">
                    <m:r>
                      <a:rPr lang="en-PH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and covariance matrix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88EEF5-BEDB-5C3C-8744-B2A1F8C53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441" y="1910863"/>
                <a:ext cx="2947623" cy="646331"/>
              </a:xfrm>
              <a:prstGeom prst="rect">
                <a:avLst/>
              </a:prstGeom>
              <a:blipFill>
                <a:blip r:embed="rId12"/>
                <a:stretch>
                  <a:fillRect l="-1271" b="-10909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2E0BEE8-7EC6-4B08-2BE8-13B97D07AC76}"/>
              </a:ext>
            </a:extLst>
          </p:cNvPr>
          <p:cNvSpPr txBox="1"/>
          <p:nvPr/>
        </p:nvSpPr>
        <p:spPr>
          <a:xfrm>
            <a:off x="5707887" y="3122055"/>
            <a:ext cx="3722065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Perform scalar matrix multiplication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D13A9C-CCB4-8676-590F-CAC18FD59FA6}"/>
              </a:ext>
            </a:extLst>
          </p:cNvPr>
          <p:cNvSpPr txBox="1"/>
          <p:nvPr/>
        </p:nvSpPr>
        <p:spPr>
          <a:xfrm>
            <a:off x="5240853" y="4876745"/>
            <a:ext cx="1988551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Subtract matrices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EBA378-CCA7-27CB-0E29-A9F3BB79BED5}"/>
              </a:ext>
            </a:extLst>
          </p:cNvPr>
          <p:cNvSpPr txBox="1"/>
          <p:nvPr/>
        </p:nvSpPr>
        <p:spPr>
          <a:xfrm>
            <a:off x="5240852" y="3965184"/>
            <a:ext cx="4189100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Replace lambda with the first eigenvalue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64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8" grpId="0" build="allAtOnce"/>
      <p:bldP spid="19" grpId="0" animBg="1"/>
      <p:bldP spid="20" grpId="0" animBg="1"/>
      <p:bldP spid="21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28E3E-005C-48E3-9CA4-A4E82A4A4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74498-3101-BACB-C619-5BE2C5F1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eigenvectors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A15CF-A6B9-C412-0D4D-1CA966865819}"/>
                  </a:ext>
                </a:extLst>
              </p:cNvPr>
              <p:cNvSpPr txBox="1"/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A15CF-A6B9-C412-0D4D-1CA966865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55E1DA-AF44-60BD-CC9B-CA51A158A16C}"/>
                  </a:ext>
                </a:extLst>
              </p:cNvPr>
              <p:cNvSpPr txBox="1"/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55E1DA-AF44-60BD-CC9B-CA51A158A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blipFill>
                <a:blip r:embed="rId3"/>
                <a:stretch>
                  <a:fillRect b="-11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BF091B-9A47-5111-E30B-385828D3E331}"/>
                  </a:ext>
                </a:extLst>
              </p:cNvPr>
              <p:cNvSpPr txBox="1"/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BF091B-9A47-5111-E30B-385828D3E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56E772-9ACA-423C-4B9D-4CA74E5546E9}"/>
                  </a:ext>
                </a:extLst>
              </p:cNvPr>
              <p:cNvSpPr txBox="1"/>
              <p:nvPr/>
            </p:nvSpPr>
            <p:spPr>
              <a:xfrm>
                <a:off x="455673" y="2111550"/>
                <a:ext cx="3281522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56E772-9ACA-423C-4B9D-4CA74E554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73" y="2111550"/>
                <a:ext cx="3281522" cy="615553"/>
              </a:xfrm>
              <a:prstGeom prst="rect">
                <a:avLst/>
              </a:prstGeom>
              <a:blipFill>
                <a:blip r:embed="rId5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756920-C564-EE94-1EED-FC8B2DE56690}"/>
                  </a:ext>
                </a:extLst>
              </p:cNvPr>
              <p:cNvSpPr txBox="1"/>
              <p:nvPr/>
            </p:nvSpPr>
            <p:spPr>
              <a:xfrm>
                <a:off x="495984" y="3737058"/>
                <a:ext cx="3070275" cy="84112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  <m:r>
                                <m:rPr>
                                  <m:nor/>
                                </m:rPr>
                                <a:rPr lang="en-PH" sz="32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756920-C564-EE94-1EED-FC8B2DE56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84" y="3737058"/>
                <a:ext cx="3070275" cy="841128"/>
              </a:xfrm>
              <a:prstGeom prst="rect">
                <a:avLst/>
              </a:prstGeom>
              <a:blipFill>
                <a:blip r:embed="rId6"/>
                <a:stretch>
                  <a:fillRect t="-4478" b="-2835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6B8E84-BCDA-258B-A7E7-791A997F1C81}"/>
                  </a:ext>
                </a:extLst>
              </p:cNvPr>
              <p:cNvSpPr txBox="1"/>
              <p:nvPr/>
            </p:nvSpPr>
            <p:spPr>
              <a:xfrm>
                <a:off x="10315190" y="3829615"/>
                <a:ext cx="1532467" cy="7057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6B8E84-BCDA-258B-A7E7-791A997F1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5190" y="3829615"/>
                <a:ext cx="1532467" cy="705771"/>
              </a:xfrm>
              <a:prstGeom prst="rect">
                <a:avLst/>
              </a:prstGeom>
              <a:blipFill>
                <a:blip r:embed="rId7"/>
                <a:stretch>
                  <a:fillRect b="-508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7813B82-8436-37E0-F0DA-24240AE8F998}"/>
              </a:ext>
            </a:extLst>
          </p:cNvPr>
          <p:cNvCxnSpPr>
            <a:cxnSpLocks/>
            <a:stCxn id="3" idx="3"/>
            <a:endCxn id="41" idx="0"/>
          </p:cNvCxnSpPr>
          <p:nvPr/>
        </p:nvCxnSpPr>
        <p:spPr>
          <a:xfrm flipV="1">
            <a:off x="3566259" y="3750948"/>
            <a:ext cx="1647509" cy="406674"/>
          </a:xfrm>
          <a:prstGeom prst="curvedConnector4">
            <a:avLst>
              <a:gd name="adj1" fmla="val 16715"/>
              <a:gd name="adj2" fmla="val 15962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524C04B2-59D5-6041-DD33-7D43D5F67CCA}"/>
              </a:ext>
            </a:extLst>
          </p:cNvPr>
          <p:cNvCxnSpPr>
            <a:cxnSpLocks/>
            <a:endCxn id="24" idx="0"/>
          </p:cNvCxnSpPr>
          <p:nvPr/>
        </p:nvCxnSpPr>
        <p:spPr>
          <a:xfrm flipV="1">
            <a:off x="9176262" y="3829615"/>
            <a:ext cx="1905162" cy="298319"/>
          </a:xfrm>
          <a:prstGeom prst="curvedConnector4">
            <a:avLst>
              <a:gd name="adj1" fmla="val 29891"/>
              <a:gd name="adj2" fmla="val 20043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B076B1B-947C-7BF2-0865-325063730D2C}"/>
              </a:ext>
            </a:extLst>
          </p:cNvPr>
          <p:cNvSpPr txBox="1"/>
          <p:nvPr/>
        </p:nvSpPr>
        <p:spPr>
          <a:xfrm>
            <a:off x="4315968" y="2169897"/>
            <a:ext cx="2707106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Multiply the two matrices</a:t>
            </a:r>
            <a:endParaRPr lang="en-US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D4EFBC8-0EE2-674B-B4D4-D80EC207FF69}"/>
                  </a:ext>
                </a:extLst>
              </p:cNvPr>
              <p:cNvSpPr txBox="1"/>
              <p:nvPr/>
            </p:nvSpPr>
            <p:spPr>
              <a:xfrm>
                <a:off x="4117013" y="3750948"/>
                <a:ext cx="2193510" cy="84112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D4EFBC8-0EE2-674B-B4D4-D80EC207F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013" y="3750948"/>
                <a:ext cx="2193510" cy="841128"/>
              </a:xfrm>
              <a:prstGeom prst="rect">
                <a:avLst/>
              </a:prstGeom>
              <a:blipFill>
                <a:blip r:embed="rId8"/>
                <a:stretch>
                  <a:fillRect t="-26866" r="-3468" b="-3283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C563D8B-A4D3-CC7A-49AF-DD8112641D19}"/>
                  </a:ext>
                </a:extLst>
              </p:cNvPr>
              <p:cNvSpPr txBox="1"/>
              <p:nvPr/>
            </p:nvSpPr>
            <p:spPr>
              <a:xfrm>
                <a:off x="7160533" y="3792334"/>
                <a:ext cx="1837947" cy="70352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C563D8B-A4D3-CC7A-49AF-DD8112641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533" y="3792334"/>
                <a:ext cx="1837947" cy="703526"/>
              </a:xfrm>
              <a:prstGeom prst="rect">
                <a:avLst/>
              </a:prstGeom>
              <a:blipFill>
                <a:blip r:embed="rId9"/>
                <a:stretch>
                  <a:fillRect t="-40351" r="-1379" b="-3859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02459D81-8194-BB5C-6331-59BBB0181454}"/>
              </a:ext>
            </a:extLst>
          </p:cNvPr>
          <p:cNvCxnSpPr>
            <a:cxnSpLocks/>
            <a:stCxn id="41" idx="3"/>
            <a:endCxn id="43" idx="2"/>
          </p:cNvCxnSpPr>
          <p:nvPr/>
        </p:nvCxnSpPr>
        <p:spPr>
          <a:xfrm>
            <a:off x="6310523" y="4171512"/>
            <a:ext cx="1768984" cy="324348"/>
          </a:xfrm>
          <a:prstGeom prst="curvedConnector4">
            <a:avLst>
              <a:gd name="adj1" fmla="val 24025"/>
              <a:gd name="adj2" fmla="val 17048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978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 animBg="1"/>
      <p:bldP spid="32" grpId="0" animBg="1"/>
      <p:bldP spid="41" grpId="0"/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9FF52A-D4C6-AD6D-26B3-E96DCE79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5A6F75-F0AB-6163-AE65-9D1CAAC8F2B3}"/>
                  </a:ext>
                </a:extLst>
              </p:cNvPr>
              <p:cNvSpPr txBox="1"/>
              <p:nvPr/>
            </p:nvSpPr>
            <p:spPr>
              <a:xfrm>
                <a:off x="141297" y="880287"/>
                <a:ext cx="3973504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5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l-GR" sz="5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5A6F75-F0AB-6163-AE65-9D1CAAC8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7" y="880287"/>
                <a:ext cx="3973504" cy="769441"/>
              </a:xfrm>
              <a:prstGeom prst="rect">
                <a:avLst/>
              </a:prstGeom>
              <a:blipFill>
                <a:blip r:embed="rId2"/>
                <a:stretch>
                  <a:fillRect t="-6154" r="-4732" b="-30769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7C894A-93A1-6E36-C7AB-FA48D30DF121}"/>
                  </a:ext>
                </a:extLst>
              </p:cNvPr>
              <p:cNvSpPr txBox="1"/>
              <p:nvPr/>
            </p:nvSpPr>
            <p:spPr>
              <a:xfrm>
                <a:off x="141296" y="1953314"/>
                <a:ext cx="4357724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7C894A-93A1-6E36-C7AB-FA48D30DF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6" y="1953314"/>
                <a:ext cx="4357724" cy="615553"/>
              </a:xfrm>
              <a:prstGeom prst="rect">
                <a:avLst/>
              </a:prstGeom>
              <a:blipFill>
                <a:blip r:embed="rId3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AB9058-38F2-C0A7-7646-E888E9154725}"/>
                  </a:ext>
                </a:extLst>
              </p:cNvPr>
              <p:cNvSpPr txBox="1"/>
              <p:nvPr/>
            </p:nvSpPr>
            <p:spPr>
              <a:xfrm>
                <a:off x="141296" y="2839883"/>
                <a:ext cx="4126162" cy="64767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AB9058-38F2-C0A7-7646-E888E9154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6" y="2839883"/>
                <a:ext cx="4126162" cy="647678"/>
              </a:xfrm>
              <a:prstGeom prst="rect">
                <a:avLst/>
              </a:prstGeom>
              <a:blipFill>
                <a:blip r:embed="rId4"/>
                <a:stretch>
                  <a:fillRect t="-1923" b="-1346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5AC33C-91A0-0490-0121-3864FD347189}"/>
                  </a:ext>
                </a:extLst>
              </p:cNvPr>
              <p:cNvSpPr txBox="1"/>
              <p:nvPr/>
            </p:nvSpPr>
            <p:spPr>
              <a:xfrm>
                <a:off x="54457" y="4596831"/>
                <a:ext cx="3281522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5AC33C-91A0-0490-0121-3864FD347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7" y="4596831"/>
                <a:ext cx="3281522" cy="615553"/>
              </a:xfrm>
              <a:prstGeom prst="rect">
                <a:avLst/>
              </a:prstGeom>
              <a:blipFill>
                <a:blip r:embed="rId5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9E03C9-3D09-5D4A-9BC1-40C071A65084}"/>
                  </a:ext>
                </a:extLst>
              </p:cNvPr>
              <p:cNvSpPr txBox="1"/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9E03C9-3D09-5D4A-9BC1-40C071A65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AFBAF3-DE46-6767-C740-ABB8C6A1EE9B}"/>
                  </a:ext>
                </a:extLst>
              </p:cNvPr>
              <p:cNvSpPr txBox="1"/>
              <p:nvPr/>
            </p:nvSpPr>
            <p:spPr>
              <a:xfrm>
                <a:off x="-104301" y="3667204"/>
                <a:ext cx="4456103" cy="6158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AFBAF3-DE46-6767-C740-ABB8C6A1E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4301" y="3667204"/>
                <a:ext cx="4456103" cy="615810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AFE130-3925-D3DD-BFDA-F10B22459C2F}"/>
                  </a:ext>
                </a:extLst>
              </p:cNvPr>
              <p:cNvSpPr txBox="1"/>
              <p:nvPr/>
            </p:nvSpPr>
            <p:spPr>
              <a:xfrm>
                <a:off x="305460" y="5378294"/>
                <a:ext cx="2184075" cy="39087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AFE130-3925-D3DD-BFDA-F10B22459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60" y="5378294"/>
                <a:ext cx="2184075" cy="390876"/>
              </a:xfrm>
              <a:prstGeom prst="rect">
                <a:avLst/>
              </a:prstGeom>
              <a:blipFill>
                <a:blip r:embed="rId8"/>
                <a:stretch>
                  <a:fillRect l="-1163" r="-4070" b="-125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4561A7-C9D0-52E1-9D05-0582736E4C0D}"/>
                  </a:ext>
                </a:extLst>
              </p:cNvPr>
              <p:cNvSpPr txBox="1"/>
              <p:nvPr/>
            </p:nvSpPr>
            <p:spPr>
              <a:xfrm>
                <a:off x="305459" y="5894760"/>
                <a:ext cx="2184075" cy="39087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4561A7-C9D0-52E1-9D05-0582736E4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59" y="5894760"/>
                <a:ext cx="2184075" cy="390876"/>
              </a:xfrm>
              <a:prstGeom prst="rect">
                <a:avLst/>
              </a:prstGeom>
              <a:blipFill>
                <a:blip r:embed="rId9"/>
                <a:stretch>
                  <a:fillRect b="-1612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AFF326-560C-4F4B-4A53-E5DCC317E1DB}"/>
                  </a:ext>
                </a:extLst>
              </p:cNvPr>
              <p:cNvSpPr txBox="1"/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AFF326-560C-4F4B-4A53-E5DCC317E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blipFill>
                <a:blip r:embed="rId10"/>
                <a:stretch>
                  <a:fillRect b="-11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AEC9E8-EEA7-8214-877C-0D402C2FA533}"/>
                  </a:ext>
                </a:extLst>
              </p:cNvPr>
              <p:cNvSpPr txBox="1"/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AEC9E8-EEA7-8214-877C-0D402C2FA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blipFill>
                <a:blip r:embed="rId11"/>
                <a:stretch>
                  <a:fillRect b="-149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F059C3-8CAA-C5B9-AD35-1AE17D24334A}"/>
                  </a:ext>
                </a:extLst>
              </p:cNvPr>
              <p:cNvSpPr txBox="1"/>
              <p:nvPr/>
            </p:nvSpPr>
            <p:spPr>
              <a:xfrm>
                <a:off x="9883746" y="3258544"/>
                <a:ext cx="1383848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F059C3-8CAA-C5B9-AD35-1AE17D243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3258544"/>
                <a:ext cx="1383848" cy="430887"/>
              </a:xfrm>
              <a:prstGeom prst="rect">
                <a:avLst/>
              </a:prstGeom>
              <a:blipFill>
                <a:blip r:embed="rId12"/>
                <a:stretch>
                  <a:fillRect b="-10811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7E2BBC50-4BA3-A485-7966-DE507156A15A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 flipV="1">
            <a:off x="4351802" y="2772637"/>
            <a:ext cx="5531944" cy="1202471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64970966-5FF5-A1D4-AD06-F8A8282CD6A6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rot="10800000" flipV="1">
            <a:off x="4499020" y="1124181"/>
            <a:ext cx="5358816" cy="1136909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13F9C5-8138-8356-86F0-E98E00D3562C}"/>
                  </a:ext>
                </a:extLst>
              </p:cNvPr>
              <p:cNvSpPr txBox="1"/>
              <p:nvPr/>
            </p:nvSpPr>
            <p:spPr>
              <a:xfrm>
                <a:off x="3571929" y="5298506"/>
                <a:ext cx="1559748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13F9C5-8138-8356-86F0-E98E00D35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929" y="5298506"/>
                <a:ext cx="1559748" cy="369332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360285-935F-59D4-230B-000943EC2265}"/>
                  </a:ext>
                </a:extLst>
              </p:cNvPr>
              <p:cNvSpPr txBox="1"/>
              <p:nvPr/>
            </p:nvSpPr>
            <p:spPr>
              <a:xfrm>
                <a:off x="5280897" y="5297978"/>
                <a:ext cx="1390545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360285-935F-59D4-230B-000943EC2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897" y="5297978"/>
                <a:ext cx="1390545" cy="369332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67640C-0967-2008-9A4C-BDC602B7396A}"/>
                  </a:ext>
                </a:extLst>
              </p:cNvPr>
              <p:cNvSpPr txBox="1"/>
              <p:nvPr/>
            </p:nvSpPr>
            <p:spPr>
              <a:xfrm>
                <a:off x="7829656" y="5320050"/>
                <a:ext cx="1101509" cy="7386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PH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67640C-0967-2008-9A4C-BDC602B73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656" y="5320050"/>
                <a:ext cx="1101509" cy="738664"/>
              </a:xfrm>
              <a:prstGeom prst="rect">
                <a:avLst/>
              </a:prstGeom>
              <a:blipFill>
                <a:blip r:embed="rId15"/>
                <a:stretch>
                  <a:fillRect b="-508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BD8D97-D65A-F071-0C12-3A516A4E9E3F}"/>
                  </a:ext>
                </a:extLst>
              </p:cNvPr>
              <p:cNvSpPr txBox="1"/>
              <p:nvPr/>
            </p:nvSpPr>
            <p:spPr>
              <a:xfrm>
                <a:off x="3571928" y="5799249"/>
                <a:ext cx="1559748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BD8D97-D65A-F071-0C12-3A516A4E9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928" y="5799249"/>
                <a:ext cx="1559748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AF28A8-8738-DB87-279C-03E5A849D732}"/>
                  </a:ext>
                </a:extLst>
              </p:cNvPr>
              <p:cNvSpPr txBox="1"/>
              <p:nvPr/>
            </p:nvSpPr>
            <p:spPr>
              <a:xfrm>
                <a:off x="5280897" y="5799249"/>
                <a:ext cx="1390545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AF28A8-8738-DB87-279C-03E5A849D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897" y="5799249"/>
                <a:ext cx="1390545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1B9433-C8A4-AA9B-A79B-A22F4256B82A}"/>
                  </a:ext>
                </a:extLst>
              </p:cNvPr>
              <p:cNvSpPr txBox="1"/>
              <p:nvPr/>
            </p:nvSpPr>
            <p:spPr>
              <a:xfrm>
                <a:off x="10070093" y="5391063"/>
                <a:ext cx="1532467" cy="7057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1B9433-C8A4-AA9B-A79B-A22F4256B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093" y="5391063"/>
                <a:ext cx="1532467" cy="705771"/>
              </a:xfrm>
              <a:prstGeom prst="rect">
                <a:avLst/>
              </a:prstGeom>
              <a:blipFill>
                <a:blip r:embed="rId18"/>
                <a:stretch>
                  <a:fillRect b="-5000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Badge 1 with solid fill">
            <a:extLst>
              <a:ext uri="{FF2B5EF4-FFF2-40B4-BE49-F238E27FC236}">
                <a16:creationId xmlns:a16="http://schemas.microsoft.com/office/drawing/2014/main" id="{E2C7FDFA-B35C-C4FB-FE64-F12C7A59AA2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75882" y="1041868"/>
            <a:ext cx="446277" cy="446277"/>
          </a:xfrm>
          <a:prstGeom prst="rect">
            <a:avLst/>
          </a:prstGeom>
        </p:spPr>
      </p:pic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0D850C86-980A-08D8-5D5C-0833ADC34B90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 flipV="1">
            <a:off x="2489535" y="5298506"/>
            <a:ext cx="1862268" cy="275226"/>
          </a:xfrm>
          <a:prstGeom prst="curvedConnector4">
            <a:avLst>
              <a:gd name="adj1" fmla="val 29061"/>
              <a:gd name="adj2" fmla="val 183059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4D10921B-8E01-C66B-37E7-2DE0845E1512}"/>
              </a:ext>
            </a:extLst>
          </p:cNvPr>
          <p:cNvCxnSpPr>
            <a:cxnSpLocks/>
            <a:stCxn id="10" idx="3"/>
            <a:endCxn id="19" idx="2"/>
          </p:cNvCxnSpPr>
          <p:nvPr/>
        </p:nvCxnSpPr>
        <p:spPr>
          <a:xfrm>
            <a:off x="2489534" y="6090198"/>
            <a:ext cx="1862268" cy="78383"/>
          </a:xfrm>
          <a:prstGeom prst="curvedConnector4">
            <a:avLst>
              <a:gd name="adj1" fmla="val 29061"/>
              <a:gd name="adj2" fmla="val 391645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EF0CDB6B-67D1-4681-E1F7-22649D22B00A}"/>
              </a:ext>
            </a:extLst>
          </p:cNvPr>
          <p:cNvCxnSpPr>
            <a:cxnSpLocks/>
            <a:stCxn id="19" idx="3"/>
            <a:endCxn id="20" idx="2"/>
          </p:cNvCxnSpPr>
          <p:nvPr/>
        </p:nvCxnSpPr>
        <p:spPr>
          <a:xfrm>
            <a:off x="5131676" y="5983915"/>
            <a:ext cx="844494" cy="184666"/>
          </a:xfrm>
          <a:prstGeom prst="curvedConnector4">
            <a:avLst>
              <a:gd name="adj1" fmla="val 8835"/>
              <a:gd name="adj2" fmla="val 22379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60FDDCD2-C80C-B497-37B6-8C555A53B288}"/>
              </a:ext>
            </a:extLst>
          </p:cNvPr>
          <p:cNvCxnSpPr>
            <a:cxnSpLocks/>
            <a:stCxn id="16" idx="3"/>
            <a:endCxn id="17" idx="0"/>
          </p:cNvCxnSpPr>
          <p:nvPr/>
        </p:nvCxnSpPr>
        <p:spPr>
          <a:xfrm flipV="1">
            <a:off x="5131677" y="5297978"/>
            <a:ext cx="844493" cy="185194"/>
          </a:xfrm>
          <a:prstGeom prst="curvedConnector4">
            <a:avLst>
              <a:gd name="adj1" fmla="val 8835"/>
              <a:gd name="adj2" fmla="val 22343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C2F1B133-A8B5-77D3-3111-34BEFF44BC38}"/>
              </a:ext>
            </a:extLst>
          </p:cNvPr>
          <p:cNvCxnSpPr>
            <a:cxnSpLocks/>
            <a:stCxn id="17" idx="3"/>
            <a:endCxn id="18" idx="0"/>
          </p:cNvCxnSpPr>
          <p:nvPr/>
        </p:nvCxnSpPr>
        <p:spPr>
          <a:xfrm flipV="1">
            <a:off x="6671442" y="5320050"/>
            <a:ext cx="1708969" cy="162594"/>
          </a:xfrm>
          <a:prstGeom prst="curvedConnector4">
            <a:avLst>
              <a:gd name="adj1" fmla="val 33886"/>
              <a:gd name="adj2" fmla="val 25417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81A11996-82D6-B840-087D-B4777CE6EFE1}"/>
              </a:ext>
            </a:extLst>
          </p:cNvPr>
          <p:cNvCxnSpPr>
            <a:cxnSpLocks/>
            <a:stCxn id="20" idx="3"/>
            <a:endCxn id="18" idx="2"/>
          </p:cNvCxnSpPr>
          <p:nvPr/>
        </p:nvCxnSpPr>
        <p:spPr>
          <a:xfrm>
            <a:off x="6671442" y="5983915"/>
            <a:ext cx="1708969" cy="74799"/>
          </a:xfrm>
          <a:prstGeom prst="curvedConnector4">
            <a:avLst>
              <a:gd name="adj1" fmla="val 33886"/>
              <a:gd name="adj2" fmla="val 405619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296D5322-CEC9-F685-CD00-189DF0C0CEA9}"/>
              </a:ext>
            </a:extLst>
          </p:cNvPr>
          <p:cNvCxnSpPr>
            <a:cxnSpLocks/>
            <a:stCxn id="18" idx="3"/>
            <a:endCxn id="21" idx="0"/>
          </p:cNvCxnSpPr>
          <p:nvPr/>
        </p:nvCxnSpPr>
        <p:spPr>
          <a:xfrm flipV="1">
            <a:off x="8931165" y="5391063"/>
            <a:ext cx="1905162" cy="298319"/>
          </a:xfrm>
          <a:prstGeom prst="curvedConnector4">
            <a:avLst>
              <a:gd name="adj1" fmla="val 29891"/>
              <a:gd name="adj2" fmla="val 20043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81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6" grpId="0"/>
      <p:bldP spid="17" grpId="0"/>
      <p:bldP spid="18" grpId="0"/>
      <p:bldP spid="19" grpId="0"/>
      <p:bldP spid="20" grpId="0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5BAC33-3B86-8DBD-B722-7E2296CD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528F4B-4F72-F020-C625-2DF442177541}"/>
                  </a:ext>
                </a:extLst>
              </p:cNvPr>
              <p:cNvSpPr txBox="1"/>
              <p:nvPr/>
            </p:nvSpPr>
            <p:spPr>
              <a:xfrm>
                <a:off x="141297" y="880287"/>
                <a:ext cx="3973504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5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l-GR" sz="5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528F4B-4F72-F020-C625-2DF442177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7" y="880287"/>
                <a:ext cx="3973504" cy="769441"/>
              </a:xfrm>
              <a:prstGeom prst="rect">
                <a:avLst/>
              </a:prstGeom>
              <a:blipFill>
                <a:blip r:embed="rId2"/>
                <a:stretch>
                  <a:fillRect t="-6154" r="-4732" b="-30769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F6B558-427C-5A4B-00D9-B0A2B20B0FC0}"/>
                  </a:ext>
                </a:extLst>
              </p:cNvPr>
              <p:cNvSpPr txBox="1"/>
              <p:nvPr/>
            </p:nvSpPr>
            <p:spPr>
              <a:xfrm>
                <a:off x="141296" y="1953314"/>
                <a:ext cx="4357724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F6B558-427C-5A4B-00D9-B0A2B20B0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6" y="1953314"/>
                <a:ext cx="4357724" cy="615553"/>
              </a:xfrm>
              <a:prstGeom prst="rect">
                <a:avLst/>
              </a:prstGeom>
              <a:blipFill>
                <a:blip r:embed="rId3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370420-D1A5-C9C3-ED7A-37E7432C181E}"/>
                  </a:ext>
                </a:extLst>
              </p:cNvPr>
              <p:cNvSpPr txBox="1"/>
              <p:nvPr/>
            </p:nvSpPr>
            <p:spPr>
              <a:xfrm>
                <a:off x="141296" y="2839883"/>
                <a:ext cx="4126162" cy="64767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370420-D1A5-C9C3-ED7A-37E7432C1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6" y="2839883"/>
                <a:ext cx="4126162" cy="647678"/>
              </a:xfrm>
              <a:prstGeom prst="rect">
                <a:avLst/>
              </a:prstGeom>
              <a:blipFill>
                <a:blip r:embed="rId4"/>
                <a:stretch>
                  <a:fillRect t="-1923" b="-1346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70FDA7-94D6-E2C8-CEBE-64CEC0798170}"/>
                  </a:ext>
                </a:extLst>
              </p:cNvPr>
              <p:cNvSpPr txBox="1"/>
              <p:nvPr/>
            </p:nvSpPr>
            <p:spPr>
              <a:xfrm>
                <a:off x="-213267" y="4534311"/>
                <a:ext cx="3281522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70FDA7-94D6-E2C8-CEBE-64CEC0798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3267" y="4534311"/>
                <a:ext cx="3281522" cy="615553"/>
              </a:xfrm>
              <a:prstGeom prst="rect">
                <a:avLst/>
              </a:prstGeom>
              <a:blipFill>
                <a:blip r:embed="rId5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99B49F-B3DF-C98E-4E7B-FFB9A9C4F097}"/>
                  </a:ext>
                </a:extLst>
              </p:cNvPr>
              <p:cNvSpPr txBox="1"/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99B49F-B3DF-C98E-4E7B-FFB9A9C4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DA2273-F2A6-06D8-B626-69BB5AD52940}"/>
                  </a:ext>
                </a:extLst>
              </p:cNvPr>
              <p:cNvSpPr txBox="1"/>
              <p:nvPr/>
            </p:nvSpPr>
            <p:spPr>
              <a:xfrm>
                <a:off x="-100003" y="3667204"/>
                <a:ext cx="4456103" cy="6158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DA2273-F2A6-06D8-B626-69BB5AD5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0003" y="3667204"/>
                <a:ext cx="4456103" cy="615810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779FA-361E-0945-74AD-F63994D28A5C}"/>
                  </a:ext>
                </a:extLst>
              </p:cNvPr>
              <p:cNvSpPr txBox="1"/>
              <p:nvPr/>
            </p:nvSpPr>
            <p:spPr>
              <a:xfrm>
                <a:off x="136083" y="5298506"/>
                <a:ext cx="2184075" cy="39087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779FA-361E-0945-74AD-F63994D28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83" y="5298506"/>
                <a:ext cx="2184075" cy="390876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FAC2B-89C3-63EC-DF5B-85D5A132834A}"/>
                  </a:ext>
                </a:extLst>
              </p:cNvPr>
              <p:cNvSpPr txBox="1"/>
              <p:nvPr/>
            </p:nvSpPr>
            <p:spPr>
              <a:xfrm>
                <a:off x="136082" y="5814972"/>
                <a:ext cx="2184075" cy="39087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FAC2B-89C3-63EC-DF5B-85D5A1328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82" y="5814972"/>
                <a:ext cx="2184075" cy="390876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DE4A1B-BD72-2589-8CCC-C344EA92D64B}"/>
                  </a:ext>
                </a:extLst>
              </p:cNvPr>
              <p:cNvSpPr txBox="1"/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DE4A1B-BD72-2589-8CCC-C344EA92D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blipFill>
                <a:blip r:embed="rId10"/>
                <a:stretch>
                  <a:fillRect b="-11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570F66-39C4-7319-119D-D16C8A926444}"/>
                  </a:ext>
                </a:extLst>
              </p:cNvPr>
              <p:cNvSpPr txBox="1"/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570F66-39C4-7319-119D-D16C8A926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blipFill>
                <a:blip r:embed="rId11"/>
                <a:stretch>
                  <a:fillRect b="-149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634F55-72AC-5B7B-D9DE-20C15E81BE27}"/>
                  </a:ext>
                </a:extLst>
              </p:cNvPr>
              <p:cNvSpPr txBox="1"/>
              <p:nvPr/>
            </p:nvSpPr>
            <p:spPr>
              <a:xfrm>
                <a:off x="9883746" y="3258544"/>
                <a:ext cx="1383848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634F55-72AC-5B7B-D9DE-20C15E81B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3258544"/>
                <a:ext cx="1383848" cy="430887"/>
              </a:xfrm>
              <a:prstGeom prst="rect">
                <a:avLst/>
              </a:prstGeom>
              <a:blipFill>
                <a:blip r:embed="rId12"/>
                <a:stretch>
                  <a:fillRect b="-10811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CC6A9CB7-3368-60D5-EB67-16AFE66B92FF}"/>
              </a:ext>
            </a:extLst>
          </p:cNvPr>
          <p:cNvCxnSpPr>
            <a:cxnSpLocks/>
            <a:stCxn id="13" idx="1"/>
            <a:endCxn id="8" idx="3"/>
          </p:cNvCxnSpPr>
          <p:nvPr/>
        </p:nvCxnSpPr>
        <p:spPr>
          <a:xfrm rot="10800000" flipV="1">
            <a:off x="4356100" y="3473987"/>
            <a:ext cx="5527646" cy="501121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F7448653-245E-46B2-57A4-1D6FBA6F6B81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rot="10800000" flipV="1">
            <a:off x="4499020" y="1124181"/>
            <a:ext cx="5358816" cy="1136909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0C0C44-35A0-B99A-E54A-E68659F9938F}"/>
                  </a:ext>
                </a:extLst>
              </p:cNvPr>
              <p:cNvSpPr txBox="1"/>
              <p:nvPr/>
            </p:nvSpPr>
            <p:spPr>
              <a:xfrm>
                <a:off x="3394118" y="5298506"/>
                <a:ext cx="1802523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=−4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0C0C44-35A0-B99A-E54A-E68659F99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118" y="5298506"/>
                <a:ext cx="1802523" cy="369332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AD38FC-B882-E3E4-46D8-987C43FF3F59}"/>
                  </a:ext>
                </a:extLst>
              </p:cNvPr>
              <p:cNvSpPr txBox="1"/>
              <p:nvPr/>
            </p:nvSpPr>
            <p:spPr>
              <a:xfrm>
                <a:off x="5280897" y="5297978"/>
                <a:ext cx="1390545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AD38FC-B882-E3E4-46D8-987C43FF3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897" y="5297978"/>
                <a:ext cx="1390545" cy="369332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F4326F-BABB-353B-0433-39CFA616240C}"/>
                  </a:ext>
                </a:extLst>
              </p:cNvPr>
              <p:cNvSpPr txBox="1"/>
              <p:nvPr/>
            </p:nvSpPr>
            <p:spPr>
              <a:xfrm>
                <a:off x="7829656" y="5320050"/>
                <a:ext cx="1101509" cy="7386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PH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F4326F-BABB-353B-0433-39CFA6162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656" y="5320050"/>
                <a:ext cx="1101509" cy="738664"/>
              </a:xfrm>
              <a:prstGeom prst="rect">
                <a:avLst/>
              </a:prstGeom>
              <a:blipFill>
                <a:blip r:embed="rId15"/>
                <a:stretch>
                  <a:fillRect l="-5682" r="-7955" b="-508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1D1B47-1EB8-479B-E992-8BFE1E53E3ED}"/>
                  </a:ext>
                </a:extLst>
              </p:cNvPr>
              <p:cNvSpPr txBox="1"/>
              <p:nvPr/>
            </p:nvSpPr>
            <p:spPr>
              <a:xfrm>
                <a:off x="3459085" y="5799249"/>
                <a:ext cx="1672591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=−4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1D1B47-1EB8-479B-E992-8BFE1E53E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085" y="5799249"/>
                <a:ext cx="1672591" cy="369332"/>
              </a:xfrm>
              <a:prstGeom prst="rect">
                <a:avLst/>
              </a:prstGeom>
              <a:blipFill>
                <a:blip r:embed="rId16"/>
                <a:stretch>
                  <a:fillRect l="-3008"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5B51999-065F-54F2-18FD-F4DE3C71E3FD}"/>
                  </a:ext>
                </a:extLst>
              </p:cNvPr>
              <p:cNvSpPr txBox="1"/>
              <p:nvPr/>
            </p:nvSpPr>
            <p:spPr>
              <a:xfrm>
                <a:off x="5280897" y="5799249"/>
                <a:ext cx="1390545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5B51999-065F-54F2-18FD-F4DE3C71E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897" y="5799249"/>
                <a:ext cx="1390545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ED064B9-BE01-5528-783C-C1B9B1EA32B4}"/>
                  </a:ext>
                </a:extLst>
              </p:cNvPr>
              <p:cNvSpPr txBox="1"/>
              <p:nvPr/>
            </p:nvSpPr>
            <p:spPr>
              <a:xfrm>
                <a:off x="10070093" y="5391063"/>
                <a:ext cx="1532467" cy="70577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ED064B9-BE01-5528-783C-C1B9B1EA3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093" y="5391063"/>
                <a:ext cx="1532467" cy="705771"/>
              </a:xfrm>
              <a:prstGeom prst="rect">
                <a:avLst/>
              </a:prstGeom>
              <a:blipFill>
                <a:blip r:embed="rId18"/>
                <a:stretch>
                  <a:fillRect b="-500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Badge 1 with solid fill">
            <a:extLst>
              <a:ext uri="{FF2B5EF4-FFF2-40B4-BE49-F238E27FC236}">
                <a16:creationId xmlns:a16="http://schemas.microsoft.com/office/drawing/2014/main" id="{CD833FED-DC65-34A6-BA6C-7A79CC8CC5B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75882" y="1041868"/>
            <a:ext cx="446277" cy="446277"/>
          </a:xfrm>
          <a:prstGeom prst="rect">
            <a:avLst/>
          </a:prstGeom>
        </p:spPr>
      </p:pic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0CE1F81C-0513-A41E-C413-3795ABDA0C26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 flipV="1">
            <a:off x="2320158" y="5298506"/>
            <a:ext cx="1975222" cy="195438"/>
          </a:xfrm>
          <a:prstGeom prst="curvedConnector4">
            <a:avLst>
              <a:gd name="adj1" fmla="val 27186"/>
              <a:gd name="adj2" fmla="val 21696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8AB3063A-9150-1344-74F8-5A18FA4F3B9E}"/>
              </a:ext>
            </a:extLst>
          </p:cNvPr>
          <p:cNvCxnSpPr>
            <a:cxnSpLocks/>
            <a:stCxn id="10" idx="3"/>
            <a:endCxn id="19" idx="2"/>
          </p:cNvCxnSpPr>
          <p:nvPr/>
        </p:nvCxnSpPr>
        <p:spPr>
          <a:xfrm>
            <a:off x="2320157" y="6010410"/>
            <a:ext cx="1975224" cy="158171"/>
          </a:xfrm>
          <a:prstGeom prst="curvedConnector4">
            <a:avLst>
              <a:gd name="adj1" fmla="val 28830"/>
              <a:gd name="adj2" fmla="val 244527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3734B512-B6E2-A7FD-5998-06E179B48FE3}"/>
              </a:ext>
            </a:extLst>
          </p:cNvPr>
          <p:cNvCxnSpPr>
            <a:cxnSpLocks/>
            <a:stCxn id="19" idx="3"/>
            <a:endCxn id="20" idx="2"/>
          </p:cNvCxnSpPr>
          <p:nvPr/>
        </p:nvCxnSpPr>
        <p:spPr>
          <a:xfrm>
            <a:off x="5131676" y="5983915"/>
            <a:ext cx="844494" cy="184666"/>
          </a:xfrm>
          <a:prstGeom prst="curvedConnector4">
            <a:avLst>
              <a:gd name="adj1" fmla="val 8835"/>
              <a:gd name="adj2" fmla="val 22379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C2D1679D-B2C4-7508-A157-89F30348B97F}"/>
              </a:ext>
            </a:extLst>
          </p:cNvPr>
          <p:cNvCxnSpPr>
            <a:cxnSpLocks/>
            <a:stCxn id="16" idx="3"/>
            <a:endCxn id="17" idx="0"/>
          </p:cNvCxnSpPr>
          <p:nvPr/>
        </p:nvCxnSpPr>
        <p:spPr>
          <a:xfrm flipV="1">
            <a:off x="5196641" y="5297978"/>
            <a:ext cx="779529" cy="185194"/>
          </a:xfrm>
          <a:prstGeom prst="curvedConnector4">
            <a:avLst>
              <a:gd name="adj1" fmla="val 5404"/>
              <a:gd name="adj2" fmla="val 22343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A63A6F6F-10B8-EAFE-685B-F1462D343847}"/>
              </a:ext>
            </a:extLst>
          </p:cNvPr>
          <p:cNvCxnSpPr>
            <a:cxnSpLocks/>
            <a:stCxn id="17" idx="3"/>
            <a:endCxn id="18" idx="0"/>
          </p:cNvCxnSpPr>
          <p:nvPr/>
        </p:nvCxnSpPr>
        <p:spPr>
          <a:xfrm flipV="1">
            <a:off x="6671442" y="5320050"/>
            <a:ext cx="1708969" cy="162594"/>
          </a:xfrm>
          <a:prstGeom prst="curvedConnector4">
            <a:avLst>
              <a:gd name="adj1" fmla="val 33886"/>
              <a:gd name="adj2" fmla="val 25417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9DA846F2-C123-707D-8738-79244709ABC1}"/>
              </a:ext>
            </a:extLst>
          </p:cNvPr>
          <p:cNvCxnSpPr>
            <a:cxnSpLocks/>
            <a:stCxn id="20" idx="3"/>
            <a:endCxn id="18" idx="2"/>
          </p:cNvCxnSpPr>
          <p:nvPr/>
        </p:nvCxnSpPr>
        <p:spPr>
          <a:xfrm>
            <a:off x="6671442" y="5983915"/>
            <a:ext cx="1708969" cy="74799"/>
          </a:xfrm>
          <a:prstGeom prst="curvedConnector4">
            <a:avLst>
              <a:gd name="adj1" fmla="val 33886"/>
              <a:gd name="adj2" fmla="val 405619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E3F8129-F44F-38A8-ACD1-E5543B3A1D35}"/>
              </a:ext>
            </a:extLst>
          </p:cNvPr>
          <p:cNvCxnSpPr>
            <a:cxnSpLocks/>
            <a:stCxn id="18" idx="3"/>
            <a:endCxn id="21" idx="0"/>
          </p:cNvCxnSpPr>
          <p:nvPr/>
        </p:nvCxnSpPr>
        <p:spPr>
          <a:xfrm flipV="1">
            <a:off x="8931165" y="5391063"/>
            <a:ext cx="1905162" cy="298319"/>
          </a:xfrm>
          <a:prstGeom prst="curvedConnector4">
            <a:avLst>
              <a:gd name="adj1" fmla="val 29891"/>
              <a:gd name="adj2" fmla="val 20043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31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6" grpId="0"/>
      <p:bldP spid="17" grpId="0"/>
      <p:bldP spid="18" grpId="0"/>
      <p:bldP spid="19" grpId="0"/>
      <p:bldP spid="20" grpId="0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B428C-BE6F-5496-E87B-B9E33BA0B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1D115-7790-67A6-2D19-A4FED12F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eigenvectors </a:t>
            </a:r>
          </a:p>
        </p:txBody>
      </p:sp>
      <p:pic>
        <p:nvPicPr>
          <p:cNvPr id="5" name="Graphic 4" descr="Badge 1 with solid fill">
            <a:extLst>
              <a:ext uri="{FF2B5EF4-FFF2-40B4-BE49-F238E27FC236}">
                <a16:creationId xmlns:a16="http://schemas.microsoft.com/office/drawing/2014/main" id="{14B139D7-1BC7-BF6A-21F4-2F39CCA80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3738" y="1988033"/>
            <a:ext cx="446277" cy="446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8F70D3-C9E2-F677-4A50-8890234BD3AA}"/>
                  </a:ext>
                </a:extLst>
              </p:cNvPr>
              <p:cNvSpPr txBox="1"/>
              <p:nvPr/>
            </p:nvSpPr>
            <p:spPr>
              <a:xfrm>
                <a:off x="838200" y="1981159"/>
                <a:ext cx="2734559" cy="461665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8F70D3-C9E2-F677-4A50-8890234BD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159"/>
                <a:ext cx="2734559" cy="461665"/>
              </a:xfrm>
              <a:prstGeom prst="rect">
                <a:avLst/>
              </a:prstGeom>
              <a:blipFill>
                <a:blip r:embed="rId4"/>
                <a:stretch>
                  <a:fillRect b="-30000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D119E8-00BD-4DCC-B0AA-E443964C6D9C}"/>
                  </a:ext>
                </a:extLst>
              </p:cNvPr>
              <p:cNvSpPr txBox="1"/>
              <p:nvPr/>
            </p:nvSpPr>
            <p:spPr>
              <a:xfrm>
                <a:off x="523852" y="2998945"/>
                <a:ext cx="4357724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D119E8-00BD-4DCC-B0AA-E443964C6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52" y="2998945"/>
                <a:ext cx="4357724" cy="615553"/>
              </a:xfrm>
              <a:prstGeom prst="rect">
                <a:avLst/>
              </a:prstGeom>
              <a:blipFill>
                <a:blip r:embed="rId5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90C3FC-5DA0-83BC-9CF3-4E01151474ED}"/>
                  </a:ext>
                </a:extLst>
              </p:cNvPr>
              <p:cNvSpPr txBox="1"/>
              <p:nvPr/>
            </p:nvSpPr>
            <p:spPr>
              <a:xfrm>
                <a:off x="523852" y="3885514"/>
                <a:ext cx="4126162" cy="64767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90C3FC-5DA0-83BC-9CF3-4E0115147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52" y="3885514"/>
                <a:ext cx="4126162" cy="647678"/>
              </a:xfrm>
              <a:prstGeom prst="rect">
                <a:avLst/>
              </a:prstGeom>
              <a:blipFill>
                <a:blip r:embed="rId6"/>
                <a:stretch>
                  <a:fillRect t="-1887" b="-1320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37480D-4337-03BB-27DD-37234B1B74BA}"/>
                  </a:ext>
                </a:extLst>
              </p:cNvPr>
              <p:cNvSpPr txBox="1"/>
              <p:nvPr/>
            </p:nvSpPr>
            <p:spPr>
              <a:xfrm>
                <a:off x="278255" y="4712835"/>
                <a:ext cx="4456103" cy="6158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37480D-4337-03BB-27DD-37234B1B7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55" y="4712835"/>
                <a:ext cx="4456103" cy="615810"/>
              </a:xfrm>
              <a:prstGeom prst="rect">
                <a:avLst/>
              </a:prstGeom>
              <a:blipFill>
                <a:blip r:embed="rId7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B2D0AB-5985-D613-CAC6-2B7F4F3E0A65}"/>
                  </a:ext>
                </a:extLst>
              </p:cNvPr>
              <p:cNvSpPr txBox="1"/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B2D0AB-5985-D613-CAC6-2B7F4F3E0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742E5B-DAFA-AC8F-1D99-819A12F92871}"/>
                  </a:ext>
                </a:extLst>
              </p:cNvPr>
              <p:cNvSpPr txBox="1"/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742E5B-DAFA-AC8F-1D99-819A12F92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blipFill>
                <a:blip r:embed="rId9"/>
                <a:stretch>
                  <a:fillRect b="-11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C1E678-AFD3-DDB6-FDBD-1E39B31ED589}"/>
                  </a:ext>
                </a:extLst>
              </p:cNvPr>
              <p:cNvSpPr txBox="1"/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C1E678-AFD3-DDB6-FDBD-1E39B31ED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blipFill>
                <a:blip r:embed="rId10"/>
                <a:stretch>
                  <a:fillRect b="-149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61C8B9-BFC6-D5B7-E1C4-B198C07C9DE1}"/>
                  </a:ext>
                </a:extLst>
              </p:cNvPr>
              <p:cNvSpPr txBox="1"/>
              <p:nvPr/>
            </p:nvSpPr>
            <p:spPr>
              <a:xfrm>
                <a:off x="455673" y="5631529"/>
                <a:ext cx="3281522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61C8B9-BFC6-D5B7-E1C4-B198C07C9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73" y="5631529"/>
                <a:ext cx="3281522" cy="615553"/>
              </a:xfrm>
              <a:prstGeom prst="rect">
                <a:avLst/>
              </a:prstGeom>
              <a:blipFill>
                <a:blip r:embed="rId11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A69228-F161-F4F7-72D1-77797D8178A1}"/>
                  </a:ext>
                </a:extLst>
              </p:cNvPr>
              <p:cNvSpPr txBox="1"/>
              <p:nvPr/>
            </p:nvSpPr>
            <p:spPr>
              <a:xfrm>
                <a:off x="5254441" y="1910863"/>
                <a:ext cx="2947623" cy="646331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1800" dirty="0">
                    <a:solidFill>
                      <a:schemeClr val="bg1"/>
                    </a:solidFill>
                  </a:rPr>
                  <a:t>Plug in the identity matrix </a:t>
                </a:r>
                <a14:m>
                  <m:oMath xmlns:m="http://schemas.openxmlformats.org/officeDocument/2006/math">
                    <m:r>
                      <a:rPr lang="en-PH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and covariance matrix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A69228-F161-F4F7-72D1-77797D817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441" y="1910863"/>
                <a:ext cx="2947623" cy="646331"/>
              </a:xfrm>
              <a:prstGeom prst="rect">
                <a:avLst/>
              </a:prstGeom>
              <a:blipFill>
                <a:blip r:embed="rId12"/>
                <a:stretch>
                  <a:fillRect l="-1271" b="-10909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1BAAF42-DFF9-8E09-E33C-3F972CF8D741}"/>
              </a:ext>
            </a:extLst>
          </p:cNvPr>
          <p:cNvSpPr txBox="1"/>
          <p:nvPr/>
        </p:nvSpPr>
        <p:spPr>
          <a:xfrm>
            <a:off x="5707887" y="3122055"/>
            <a:ext cx="3722065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Perform scalar matrix multiplication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D43A6-E1B3-74B5-89A6-28EE0CD60B5A}"/>
              </a:ext>
            </a:extLst>
          </p:cNvPr>
          <p:cNvSpPr txBox="1"/>
          <p:nvPr/>
        </p:nvSpPr>
        <p:spPr>
          <a:xfrm>
            <a:off x="5240853" y="4876745"/>
            <a:ext cx="1988551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Subtract matrices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B35374-6C1A-9AE4-E151-F18394BBB74D}"/>
              </a:ext>
            </a:extLst>
          </p:cNvPr>
          <p:cNvSpPr txBox="1"/>
          <p:nvPr/>
        </p:nvSpPr>
        <p:spPr>
          <a:xfrm>
            <a:off x="5240852" y="3965184"/>
            <a:ext cx="4189100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Replace lambda with the first eigenvalue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45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8" grpId="0" build="allAtOnce"/>
      <p:bldP spid="19" grpId="0" animBg="1"/>
      <p:bldP spid="20" grpId="0" animBg="1"/>
      <p:bldP spid="21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E3466-B2B4-7E47-F649-E5621546A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F0D9C-073D-1421-7678-82E5B21D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eigenvectors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2D283E-A583-B264-6373-6E7EA8A4BEC7}"/>
                  </a:ext>
                </a:extLst>
              </p:cNvPr>
              <p:cNvSpPr txBox="1"/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2D283E-A583-B264-6373-6E7EA8A4B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blipFill>
                <a:blip r:embed="rId2"/>
                <a:stretch>
                  <a:fillRect b="-11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75A80E-3AD7-276A-695B-581001DDC75B}"/>
                  </a:ext>
                </a:extLst>
              </p:cNvPr>
              <p:cNvSpPr txBox="1"/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75A80E-3AD7-276A-695B-581001DDC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blipFill>
                <a:blip r:embed="rId3"/>
                <a:stretch>
                  <a:fillRect b="-149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B58BDE-6179-DEEE-C88F-CD3B243764C9}"/>
                  </a:ext>
                </a:extLst>
              </p:cNvPr>
              <p:cNvSpPr txBox="1"/>
              <p:nvPr/>
            </p:nvSpPr>
            <p:spPr>
              <a:xfrm>
                <a:off x="455673" y="2111550"/>
                <a:ext cx="3281522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B58BDE-6179-DEEE-C88F-CD3B24376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73" y="2111550"/>
                <a:ext cx="3281522" cy="615553"/>
              </a:xfrm>
              <a:prstGeom prst="rect">
                <a:avLst/>
              </a:prstGeom>
              <a:blipFill>
                <a:blip r:embed="rId4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7A5025-F6C5-B17B-8E54-4CE214967F3D}"/>
                  </a:ext>
                </a:extLst>
              </p:cNvPr>
              <p:cNvSpPr txBox="1"/>
              <p:nvPr/>
            </p:nvSpPr>
            <p:spPr>
              <a:xfrm>
                <a:off x="495984" y="3737058"/>
                <a:ext cx="3070275" cy="84112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  <m:r>
                                <m:rPr>
                                  <m:nor/>
                                </m:rPr>
                                <a:rPr lang="en-PH" sz="32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7A5025-F6C5-B17B-8E54-4CE214967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84" y="3737058"/>
                <a:ext cx="3070275" cy="841128"/>
              </a:xfrm>
              <a:prstGeom prst="rect">
                <a:avLst/>
              </a:prstGeom>
              <a:blipFill>
                <a:blip r:embed="rId5"/>
                <a:stretch>
                  <a:fillRect t="-4478" b="-2835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9E2EFA9-0C44-FF8D-1848-A54D23FB3E24}"/>
                  </a:ext>
                </a:extLst>
              </p:cNvPr>
              <p:cNvSpPr txBox="1"/>
              <p:nvPr/>
            </p:nvSpPr>
            <p:spPr>
              <a:xfrm>
                <a:off x="10315190" y="3829615"/>
                <a:ext cx="1532467" cy="70577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9E2EFA9-0C44-FF8D-1848-A54D23FB3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5190" y="3829615"/>
                <a:ext cx="1532467" cy="705771"/>
              </a:xfrm>
              <a:prstGeom prst="rect">
                <a:avLst/>
              </a:prstGeom>
              <a:blipFill>
                <a:blip r:embed="rId6"/>
                <a:stretch>
                  <a:fillRect b="-508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5FFB7FF5-0218-9774-0ABA-34C9E87CC59E}"/>
              </a:ext>
            </a:extLst>
          </p:cNvPr>
          <p:cNvCxnSpPr>
            <a:cxnSpLocks/>
            <a:stCxn id="3" idx="3"/>
            <a:endCxn id="41" idx="0"/>
          </p:cNvCxnSpPr>
          <p:nvPr/>
        </p:nvCxnSpPr>
        <p:spPr>
          <a:xfrm flipV="1">
            <a:off x="3566259" y="3750948"/>
            <a:ext cx="1860598" cy="406674"/>
          </a:xfrm>
          <a:prstGeom prst="curvedConnector4">
            <a:avLst>
              <a:gd name="adj1" fmla="val 14800"/>
              <a:gd name="adj2" fmla="val 15962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26A1EACA-663A-A10F-3C51-C35D787E2BF1}"/>
              </a:ext>
            </a:extLst>
          </p:cNvPr>
          <p:cNvCxnSpPr>
            <a:cxnSpLocks/>
            <a:endCxn id="24" idx="0"/>
          </p:cNvCxnSpPr>
          <p:nvPr/>
        </p:nvCxnSpPr>
        <p:spPr>
          <a:xfrm flipV="1">
            <a:off x="9176262" y="3829615"/>
            <a:ext cx="1905162" cy="298319"/>
          </a:xfrm>
          <a:prstGeom prst="curvedConnector4">
            <a:avLst>
              <a:gd name="adj1" fmla="val 29891"/>
              <a:gd name="adj2" fmla="val 20043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0E3FF32-6BFB-64F0-ACAD-1295A486EAA5}"/>
              </a:ext>
            </a:extLst>
          </p:cNvPr>
          <p:cNvSpPr txBox="1"/>
          <p:nvPr/>
        </p:nvSpPr>
        <p:spPr>
          <a:xfrm>
            <a:off x="4315968" y="2169897"/>
            <a:ext cx="2707106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Multiply the two matrices</a:t>
            </a:r>
            <a:endParaRPr lang="en-US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023F45A-218F-46C7-852D-CF560BBD5EBB}"/>
                  </a:ext>
                </a:extLst>
              </p:cNvPr>
              <p:cNvSpPr txBox="1"/>
              <p:nvPr/>
            </p:nvSpPr>
            <p:spPr>
              <a:xfrm>
                <a:off x="4117012" y="3750948"/>
                <a:ext cx="2619689" cy="84112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023F45A-218F-46C7-852D-CF560BBD5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012" y="3750948"/>
                <a:ext cx="2619689" cy="841128"/>
              </a:xfrm>
              <a:prstGeom prst="rect">
                <a:avLst/>
              </a:prstGeom>
              <a:blipFill>
                <a:blip r:embed="rId7"/>
                <a:stretch>
                  <a:fillRect t="-26866" r="-483" b="-3283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618C3D2-DC85-23F6-ADBC-2292B94FD9D1}"/>
                  </a:ext>
                </a:extLst>
              </p:cNvPr>
              <p:cNvSpPr txBox="1"/>
              <p:nvPr/>
            </p:nvSpPr>
            <p:spPr>
              <a:xfrm>
                <a:off x="7160533" y="3792334"/>
                <a:ext cx="1837947" cy="70352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618C3D2-DC85-23F6-ADBC-2292B94F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533" y="3792334"/>
                <a:ext cx="1837947" cy="703526"/>
              </a:xfrm>
              <a:prstGeom prst="rect">
                <a:avLst/>
              </a:prstGeom>
              <a:blipFill>
                <a:blip r:embed="rId8"/>
                <a:stretch>
                  <a:fillRect t="-40351" r="-13103" b="-3859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4ED3BBA4-78CD-B25D-C508-719A384D2890}"/>
              </a:ext>
            </a:extLst>
          </p:cNvPr>
          <p:cNvCxnSpPr>
            <a:cxnSpLocks/>
            <a:stCxn id="41" idx="3"/>
            <a:endCxn id="43" idx="2"/>
          </p:cNvCxnSpPr>
          <p:nvPr/>
        </p:nvCxnSpPr>
        <p:spPr>
          <a:xfrm>
            <a:off x="6736701" y="4171512"/>
            <a:ext cx="1342806" cy="324348"/>
          </a:xfrm>
          <a:prstGeom prst="curvedConnector4">
            <a:avLst>
              <a:gd name="adj1" fmla="val 15782"/>
              <a:gd name="adj2" fmla="val 17048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29FCD8-C612-EB71-1ABA-C0D2C16FE46D}"/>
                  </a:ext>
                </a:extLst>
              </p:cNvPr>
              <p:cNvSpPr txBox="1"/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29FCD8-C612-EB71-1ABA-C0D2C16FE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382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 animBg="1"/>
      <p:bldP spid="32" grpId="0" animBg="1"/>
      <p:bldP spid="41" grpId="0"/>
      <p:bldP spid="4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F8D61-B935-B9C3-5115-63E05C37A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if correct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A992DB-E71D-903F-C659-E25EC3986D78}"/>
                  </a:ext>
                </a:extLst>
              </p:cNvPr>
              <p:cNvSpPr txBox="1"/>
              <p:nvPr/>
            </p:nvSpPr>
            <p:spPr>
              <a:xfrm>
                <a:off x="738563" y="2932192"/>
                <a:ext cx="2280171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A992DB-E71D-903F-C659-E25EC3986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63" y="2932192"/>
                <a:ext cx="2280171" cy="614464"/>
              </a:xfrm>
              <a:prstGeom prst="rect">
                <a:avLst/>
              </a:prstGeom>
              <a:blipFill>
                <a:blip r:embed="rId2"/>
                <a:stretch>
                  <a:fillRect t="-2000" b="-14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7B7198-56E1-E65A-61C1-D6505C7D20EE}"/>
                  </a:ext>
                </a:extLst>
              </p:cNvPr>
              <p:cNvSpPr txBox="1"/>
              <p:nvPr/>
            </p:nvSpPr>
            <p:spPr>
              <a:xfrm>
                <a:off x="9810188" y="3783587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7B7198-56E1-E65A-61C1-D6505C7D2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3783587"/>
                <a:ext cx="1532467" cy="430887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6152CE-AF36-3C3B-8E8B-6BCC963DDEF5}"/>
                  </a:ext>
                </a:extLst>
              </p:cNvPr>
              <p:cNvSpPr txBox="1"/>
              <p:nvPr/>
            </p:nvSpPr>
            <p:spPr>
              <a:xfrm>
                <a:off x="9810188" y="2705889"/>
                <a:ext cx="2192867" cy="71692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6152CE-AF36-3C3B-8E8B-6BCC963DD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2705889"/>
                <a:ext cx="2192867" cy="716928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B6ED0F8-5A47-F2EF-B98E-903EBBD217F2}"/>
              </a:ext>
            </a:extLst>
          </p:cNvPr>
          <p:cNvCxnSpPr>
            <a:cxnSpLocks/>
            <a:stCxn id="22" idx="1"/>
            <a:endCxn id="25" idx="3"/>
          </p:cNvCxnSpPr>
          <p:nvPr/>
        </p:nvCxnSpPr>
        <p:spPr>
          <a:xfrm rot="10800000" flipV="1">
            <a:off x="3575563" y="4931268"/>
            <a:ext cx="6234625" cy="100885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4A3584EC-6779-B318-03E8-1343DB5D5FFE}"/>
              </a:ext>
            </a:extLst>
          </p:cNvPr>
          <p:cNvCxnSpPr>
            <a:cxnSpLocks/>
            <a:stCxn id="18" idx="1"/>
            <a:endCxn id="16" idx="3"/>
          </p:cNvCxnSpPr>
          <p:nvPr/>
        </p:nvCxnSpPr>
        <p:spPr>
          <a:xfrm rot="10800000" flipV="1">
            <a:off x="3018734" y="3064352"/>
            <a:ext cx="6791454" cy="175071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BBC8DC-F1D9-6A3D-E297-D4B3EACECFCA}"/>
                  </a:ext>
                </a:extLst>
              </p:cNvPr>
              <p:cNvSpPr txBox="1"/>
              <p:nvPr/>
            </p:nvSpPr>
            <p:spPr>
              <a:xfrm>
                <a:off x="903131" y="1936448"/>
                <a:ext cx="2672431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BBC8DC-F1D9-6A3D-E297-D4B3EACEC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1" y="1936448"/>
                <a:ext cx="2672431" cy="769441"/>
              </a:xfrm>
              <a:prstGeom prst="rect">
                <a:avLst/>
              </a:prstGeom>
              <a:blipFill>
                <a:blip r:embed="rId5"/>
                <a:stretch>
                  <a:fillRect l="-5581" t="-7813" r="-2326" b="-31250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E4F172-585D-1C27-CEF2-469D3A66E196}"/>
                  </a:ext>
                </a:extLst>
              </p:cNvPr>
              <p:cNvSpPr txBox="1"/>
              <p:nvPr/>
            </p:nvSpPr>
            <p:spPr>
              <a:xfrm>
                <a:off x="9810187" y="4578383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E4F172-585D-1C27-CEF2-469D3A66E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7" y="4578383"/>
                <a:ext cx="1606128" cy="705771"/>
              </a:xfrm>
              <a:prstGeom prst="rect">
                <a:avLst/>
              </a:prstGeom>
              <a:blipFill>
                <a:blip r:embed="rId6"/>
                <a:stretch>
                  <a:fillRect b="-508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3C71B4-6F0B-AC61-479C-5D44A8188863}"/>
                  </a:ext>
                </a:extLst>
              </p:cNvPr>
              <p:cNvSpPr txBox="1"/>
              <p:nvPr/>
            </p:nvSpPr>
            <p:spPr>
              <a:xfrm>
                <a:off x="370998" y="5560322"/>
                <a:ext cx="2686639" cy="71846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4+4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4+4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3C71B4-6F0B-AC61-479C-5D44A8188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98" y="5560322"/>
                <a:ext cx="2686639" cy="718466"/>
              </a:xfrm>
              <a:prstGeom prst="rect">
                <a:avLst/>
              </a:prstGeom>
              <a:blipFill>
                <a:blip r:embed="rId7"/>
                <a:stretch>
                  <a:fillRect b="-1551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4769F31-A63B-5A54-6067-C571D8BAAC7D}"/>
                  </a:ext>
                </a:extLst>
              </p:cNvPr>
              <p:cNvSpPr txBox="1"/>
              <p:nvPr/>
            </p:nvSpPr>
            <p:spPr>
              <a:xfrm>
                <a:off x="801531" y="3874806"/>
                <a:ext cx="2154234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4769F31-A63B-5A54-6067-C571D8BAA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31" y="3874806"/>
                <a:ext cx="2154234" cy="614464"/>
              </a:xfrm>
              <a:prstGeom prst="rect">
                <a:avLst/>
              </a:prstGeom>
              <a:blipFill>
                <a:blip r:embed="rId8"/>
                <a:stretch>
                  <a:fillRect t="-4082" b="-1428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E35BAA-4567-CE4D-1C7C-FA2A3F3C24DA}"/>
                  </a:ext>
                </a:extLst>
              </p:cNvPr>
              <p:cNvSpPr txBox="1"/>
              <p:nvPr/>
            </p:nvSpPr>
            <p:spPr>
              <a:xfrm>
                <a:off x="398358" y="4708155"/>
                <a:ext cx="3177204" cy="647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E35BAA-4567-CE4D-1C7C-FA2A3F3C2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58" y="4708155"/>
                <a:ext cx="3177204" cy="647998"/>
              </a:xfrm>
              <a:prstGeom prst="rect">
                <a:avLst/>
              </a:prstGeom>
              <a:blipFill>
                <a:blip r:embed="rId9"/>
                <a:stretch>
                  <a:fillRect b="-1923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3406553E-08B1-F35B-086A-DC5781B87BC4}"/>
              </a:ext>
            </a:extLst>
          </p:cNvPr>
          <p:cNvCxnSpPr>
            <a:cxnSpLocks/>
            <a:stCxn id="17" idx="1"/>
            <a:endCxn id="24" idx="3"/>
          </p:cNvCxnSpPr>
          <p:nvPr/>
        </p:nvCxnSpPr>
        <p:spPr>
          <a:xfrm rot="10800000" flipV="1">
            <a:off x="2955766" y="3999030"/>
            <a:ext cx="6854423" cy="183007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EF2A8E-5BF8-AD94-6602-A7DCC5546E09}"/>
                  </a:ext>
                </a:extLst>
              </p:cNvPr>
              <p:cNvSpPr txBox="1"/>
              <p:nvPr/>
            </p:nvSpPr>
            <p:spPr>
              <a:xfrm>
                <a:off x="3575562" y="5594145"/>
                <a:ext cx="1622374" cy="65081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EF2A8E-5BF8-AD94-6602-A7DCC5546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562" y="5594145"/>
                <a:ext cx="1622374" cy="650819"/>
              </a:xfrm>
              <a:prstGeom prst="rect">
                <a:avLst/>
              </a:prstGeom>
              <a:blipFill>
                <a:blip r:embed="rId10"/>
                <a:stretch>
                  <a:fillRect t="-1852" b="-16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48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4" grpId="0"/>
      <p:bldP spid="25" grpId="0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1FE19-FBF2-3FED-FC8E-FDE8783A6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24D4-FC47-9DB3-C7EA-1ED9BB90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if correct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FECE20-2D0E-6EAC-1AD6-A5D7164FE039}"/>
                  </a:ext>
                </a:extLst>
              </p:cNvPr>
              <p:cNvSpPr txBox="1"/>
              <p:nvPr/>
            </p:nvSpPr>
            <p:spPr>
              <a:xfrm>
                <a:off x="738563" y="2932192"/>
                <a:ext cx="2280171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FECE20-2D0E-6EAC-1AD6-A5D7164FE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63" y="2932192"/>
                <a:ext cx="2280171" cy="614464"/>
              </a:xfrm>
              <a:prstGeom prst="rect">
                <a:avLst/>
              </a:prstGeom>
              <a:blipFill>
                <a:blip r:embed="rId2"/>
                <a:stretch>
                  <a:fillRect t="-2000" b="-14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C3FCDAB-50FC-9C2A-1E65-A24A86BCDE97}"/>
                  </a:ext>
                </a:extLst>
              </p:cNvPr>
              <p:cNvSpPr txBox="1"/>
              <p:nvPr/>
            </p:nvSpPr>
            <p:spPr>
              <a:xfrm>
                <a:off x="9810188" y="3783587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C3FCDAB-50FC-9C2A-1E65-A24A86BCD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3783587"/>
                <a:ext cx="1532467" cy="430887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8E37F9-2201-6277-B820-5C83D0A9EDD3}"/>
                  </a:ext>
                </a:extLst>
              </p:cNvPr>
              <p:cNvSpPr txBox="1"/>
              <p:nvPr/>
            </p:nvSpPr>
            <p:spPr>
              <a:xfrm>
                <a:off x="9810188" y="2705889"/>
                <a:ext cx="2192867" cy="71692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8E37F9-2201-6277-B820-5C83D0A9E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2705889"/>
                <a:ext cx="2192867" cy="716928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29698FD5-0530-1E94-4AF2-76AFA5E2E81A}"/>
              </a:ext>
            </a:extLst>
          </p:cNvPr>
          <p:cNvCxnSpPr>
            <a:cxnSpLocks/>
            <a:stCxn id="22" idx="1"/>
            <a:endCxn id="25" idx="3"/>
          </p:cNvCxnSpPr>
          <p:nvPr/>
        </p:nvCxnSpPr>
        <p:spPr>
          <a:xfrm rot="10800000" flipV="1">
            <a:off x="3978735" y="4931268"/>
            <a:ext cx="5831452" cy="100885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367ECEBA-25D2-9694-1CA1-F572EDC4B7BF}"/>
              </a:ext>
            </a:extLst>
          </p:cNvPr>
          <p:cNvCxnSpPr>
            <a:cxnSpLocks/>
            <a:stCxn id="18" idx="1"/>
            <a:endCxn id="16" idx="3"/>
          </p:cNvCxnSpPr>
          <p:nvPr/>
        </p:nvCxnSpPr>
        <p:spPr>
          <a:xfrm rot="10800000" flipV="1">
            <a:off x="3018734" y="3064352"/>
            <a:ext cx="6791454" cy="175071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E9395D-F654-90C0-CBBF-6526FC22DA39}"/>
                  </a:ext>
                </a:extLst>
              </p:cNvPr>
              <p:cNvSpPr txBox="1"/>
              <p:nvPr/>
            </p:nvSpPr>
            <p:spPr>
              <a:xfrm>
                <a:off x="903131" y="1936448"/>
                <a:ext cx="2672431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E9395D-F654-90C0-CBBF-6526FC22D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1" y="1936448"/>
                <a:ext cx="2672431" cy="769441"/>
              </a:xfrm>
              <a:prstGeom prst="rect">
                <a:avLst/>
              </a:prstGeom>
              <a:blipFill>
                <a:blip r:embed="rId5"/>
                <a:stretch>
                  <a:fillRect l="-5581" t="-7813" r="-2326" b="-31250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D497F0-859D-D680-40CA-11F8EF4A13FA}"/>
                  </a:ext>
                </a:extLst>
              </p:cNvPr>
              <p:cNvSpPr txBox="1"/>
              <p:nvPr/>
            </p:nvSpPr>
            <p:spPr>
              <a:xfrm>
                <a:off x="9810187" y="4578383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D497F0-859D-D680-40CA-11F8EF4A1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7" y="4578383"/>
                <a:ext cx="1606128" cy="705771"/>
              </a:xfrm>
              <a:prstGeom prst="rect">
                <a:avLst/>
              </a:prstGeom>
              <a:blipFill>
                <a:blip r:embed="rId6"/>
                <a:stretch>
                  <a:fillRect b="-508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B507B0-9624-47FD-DB30-145564DD9E52}"/>
                  </a:ext>
                </a:extLst>
              </p:cNvPr>
              <p:cNvSpPr txBox="1"/>
              <p:nvPr/>
            </p:nvSpPr>
            <p:spPr>
              <a:xfrm>
                <a:off x="370998" y="5560322"/>
                <a:ext cx="2686639" cy="72564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4−4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4−4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B507B0-9624-47FD-DB30-145564DD9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98" y="5560322"/>
                <a:ext cx="2686639" cy="725648"/>
              </a:xfrm>
              <a:prstGeom prst="rect">
                <a:avLst/>
              </a:prstGeom>
              <a:blipFill>
                <a:blip r:embed="rId7"/>
                <a:stretch>
                  <a:fillRect t="-1724" b="-1551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D64562-6BAF-8AF2-5879-2DA5578734CE}"/>
                  </a:ext>
                </a:extLst>
              </p:cNvPr>
              <p:cNvSpPr txBox="1"/>
              <p:nvPr/>
            </p:nvSpPr>
            <p:spPr>
              <a:xfrm>
                <a:off x="801531" y="3874806"/>
                <a:ext cx="2154234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D64562-6BAF-8AF2-5879-2DA557873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31" y="3874806"/>
                <a:ext cx="2154234" cy="614464"/>
              </a:xfrm>
              <a:prstGeom prst="rect">
                <a:avLst/>
              </a:prstGeom>
              <a:blipFill>
                <a:blip r:embed="rId8"/>
                <a:stretch>
                  <a:fillRect t="-4082" b="-1428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4E5F5F-D8D5-9F89-A5B7-957EBB95783F}"/>
                  </a:ext>
                </a:extLst>
              </p:cNvPr>
              <p:cNvSpPr txBox="1"/>
              <p:nvPr/>
            </p:nvSpPr>
            <p:spPr>
              <a:xfrm>
                <a:off x="801531" y="4708155"/>
                <a:ext cx="3177204" cy="647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4E5F5F-D8D5-9F89-A5B7-957EBB957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31" y="4708155"/>
                <a:ext cx="3177204" cy="647998"/>
              </a:xfrm>
              <a:prstGeom prst="rect">
                <a:avLst/>
              </a:prstGeom>
              <a:blipFill>
                <a:blip r:embed="rId9"/>
                <a:stretch>
                  <a:fillRect b="-1923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EEBA7588-7286-620E-543A-62588ED88AFE}"/>
              </a:ext>
            </a:extLst>
          </p:cNvPr>
          <p:cNvCxnSpPr>
            <a:cxnSpLocks/>
            <a:stCxn id="17" idx="1"/>
            <a:endCxn id="24" idx="3"/>
          </p:cNvCxnSpPr>
          <p:nvPr/>
        </p:nvCxnSpPr>
        <p:spPr>
          <a:xfrm rot="10800000" flipV="1">
            <a:off x="2955766" y="3999030"/>
            <a:ext cx="6854423" cy="183007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9B0252C-D91E-033E-DCC2-614D0146AFAC}"/>
                  </a:ext>
                </a:extLst>
              </p:cNvPr>
              <p:cNvSpPr txBox="1"/>
              <p:nvPr/>
            </p:nvSpPr>
            <p:spPr>
              <a:xfrm>
                <a:off x="3575562" y="5594145"/>
                <a:ext cx="1622374" cy="615810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9B0252C-D91E-033E-DCC2-614D0146A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562" y="5594145"/>
                <a:ext cx="1622374" cy="615810"/>
              </a:xfrm>
              <a:prstGeom prst="rect">
                <a:avLst/>
              </a:prstGeom>
              <a:blipFill>
                <a:blip r:embed="rId10"/>
                <a:stretch>
                  <a:fillRect b="-11538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286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4" grpId="0"/>
      <p:bldP spid="25" grpId="0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63A9-95A1-4F5F-CD04-4AD5733B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857E-98D0-4920-0742-6453F039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the Data Along the Principal Component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FB1B82-97B7-3329-FDAD-4F9ACD7A3F07}"/>
                  </a:ext>
                </a:extLst>
              </p:cNvPr>
              <p:cNvSpPr txBox="1"/>
              <p:nvPr/>
            </p:nvSpPr>
            <p:spPr>
              <a:xfrm>
                <a:off x="3726628" y="2706805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FB1B82-97B7-3329-FDAD-4F9ACD7A3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628" y="2706805"/>
                <a:ext cx="1532467" cy="430887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AD7B9B-7A38-2EB1-FB14-22EE332EA086}"/>
                  </a:ext>
                </a:extLst>
              </p:cNvPr>
              <p:cNvSpPr txBox="1"/>
              <p:nvPr/>
            </p:nvSpPr>
            <p:spPr>
              <a:xfrm>
                <a:off x="3726627" y="3501601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AD7B9B-7A38-2EB1-FB14-22EE332EA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627" y="3501601"/>
                <a:ext cx="1606128" cy="705771"/>
              </a:xfrm>
              <a:prstGeom prst="rect">
                <a:avLst/>
              </a:prstGeom>
              <a:blipFill>
                <a:blip r:embed="rId3"/>
                <a:stretch>
                  <a:fillRect b="-508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374EF52-84C3-F829-FA83-9C9A1785DC3A}"/>
              </a:ext>
            </a:extLst>
          </p:cNvPr>
          <p:cNvSpPr txBox="1"/>
          <p:nvPr/>
        </p:nvSpPr>
        <p:spPr>
          <a:xfrm>
            <a:off x="2709851" y="4910710"/>
            <a:ext cx="5459791" cy="120032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We can see that our first principal component  has a larger eigenvalue that the second principal component, we will use this because it has the highest maximum variance</a:t>
            </a:r>
            <a:endParaRPr lang="en-US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056142-1391-E2DC-DDFB-FC9B0366575A}"/>
                  </a:ext>
                </a:extLst>
              </p:cNvPr>
              <p:cNvSpPr txBox="1"/>
              <p:nvPr/>
            </p:nvSpPr>
            <p:spPr>
              <a:xfrm>
                <a:off x="7430882" y="2744400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056142-1391-E2DC-DDFB-FC9B0366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882" y="2744400"/>
                <a:ext cx="1532467" cy="430887"/>
              </a:xfrm>
              <a:prstGeom prst="rect">
                <a:avLst/>
              </a:prstGeom>
              <a:blipFill>
                <a:blip r:embed="rId4"/>
                <a:stretch>
                  <a:fillRect b="-789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D5F241-58CE-0482-0C1B-32C77D6759C3}"/>
                  </a:ext>
                </a:extLst>
              </p:cNvPr>
              <p:cNvSpPr txBox="1"/>
              <p:nvPr/>
            </p:nvSpPr>
            <p:spPr>
              <a:xfrm>
                <a:off x="7430882" y="3501601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D5F241-58CE-0482-0C1B-32C77D675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882" y="3501601"/>
                <a:ext cx="1606128" cy="705771"/>
              </a:xfrm>
              <a:prstGeom prst="rect">
                <a:avLst/>
              </a:prstGeom>
              <a:blipFill>
                <a:blip r:embed="rId5"/>
                <a:stretch>
                  <a:fillRect b="-508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809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C7FE-A4E0-C1A3-36C9-1FCB2051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B56E-49B6-78E0-EFF4-8CD9E4204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the Data Along the Principal Component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FC507A-542A-4B10-8A8F-7DB0B8067187}"/>
                  </a:ext>
                </a:extLst>
              </p:cNvPr>
              <p:cNvSpPr txBox="1"/>
              <p:nvPr/>
            </p:nvSpPr>
            <p:spPr>
              <a:xfrm>
                <a:off x="9810188" y="2313513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FC507A-542A-4B10-8A8F-7DB0B8067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2313513"/>
                <a:ext cx="1532467" cy="430887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1B9312-A2C2-2A3E-CC76-705E934EB1BF}"/>
                  </a:ext>
                </a:extLst>
              </p:cNvPr>
              <p:cNvSpPr txBox="1"/>
              <p:nvPr/>
            </p:nvSpPr>
            <p:spPr>
              <a:xfrm>
                <a:off x="9810187" y="3108309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1B9312-A2C2-2A3E-CC76-705E934EB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7" y="3108309"/>
                <a:ext cx="1606128" cy="705771"/>
              </a:xfrm>
              <a:prstGeom prst="rect">
                <a:avLst/>
              </a:prstGeom>
              <a:blipFill>
                <a:blip r:embed="rId3"/>
                <a:stretch>
                  <a:fillRect b="-508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974824-F8AB-C869-1B24-3456A781A830}"/>
                  </a:ext>
                </a:extLst>
              </p:cNvPr>
              <p:cNvSpPr txBox="1"/>
              <p:nvPr/>
            </p:nvSpPr>
            <p:spPr>
              <a:xfrm>
                <a:off x="838200" y="4335366"/>
                <a:ext cx="1919084" cy="855299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974824-F8AB-C869-1B24-3456A781A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35366"/>
                <a:ext cx="1919084" cy="855299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E0671D-891F-2DB0-7924-9884946DF393}"/>
                  </a:ext>
                </a:extLst>
              </p:cNvPr>
              <p:cNvSpPr txBox="1"/>
              <p:nvPr/>
            </p:nvSpPr>
            <p:spPr>
              <a:xfrm>
                <a:off x="838200" y="2555539"/>
                <a:ext cx="1919084" cy="775020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GB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E0671D-891F-2DB0-7924-9884946DF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55539"/>
                <a:ext cx="1919084" cy="7750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581019-E738-A623-A6E4-E2532B09D526}"/>
                  </a:ext>
                </a:extLst>
              </p:cNvPr>
              <p:cNvSpPr txBox="1"/>
              <p:nvPr/>
            </p:nvSpPr>
            <p:spPr>
              <a:xfrm>
                <a:off x="3577893" y="2668166"/>
                <a:ext cx="3588017" cy="54976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581019-E738-A623-A6E4-E2532B09D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893" y="2668166"/>
                <a:ext cx="3588017" cy="5497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7363252-B932-CC79-BBEE-C993EFC6F923}"/>
              </a:ext>
            </a:extLst>
          </p:cNvPr>
          <p:cNvSpPr txBox="1"/>
          <p:nvPr/>
        </p:nvSpPr>
        <p:spPr>
          <a:xfrm>
            <a:off x="3577893" y="4335366"/>
            <a:ext cx="5459791" cy="64633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We need to normalize our eigenvectors so that they only represent directions not magnitude.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375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AE8D5-A3F3-F987-3B9C-3660893F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A405-B7D7-CEDF-8CE3-CF5EBBEB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the Data Along the Principal Component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CDCB29-4490-F821-7AA6-F3BA89442353}"/>
                  </a:ext>
                </a:extLst>
              </p:cNvPr>
              <p:cNvSpPr txBox="1"/>
              <p:nvPr/>
            </p:nvSpPr>
            <p:spPr>
              <a:xfrm>
                <a:off x="1549794" y="3608235"/>
                <a:ext cx="4748017" cy="114890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CDCB29-4490-F821-7AA6-F3BA89442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794" y="3608235"/>
                <a:ext cx="4748017" cy="1148904"/>
              </a:xfrm>
              <a:prstGeom prst="rect">
                <a:avLst/>
              </a:prstGeom>
              <a:blipFill>
                <a:blip r:embed="rId2"/>
                <a:stretch>
                  <a:fillRect b="-109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5E574-E90D-EF39-EFD2-AA63E1EA20EF}"/>
                  </a:ext>
                </a:extLst>
              </p:cNvPr>
              <p:cNvSpPr txBox="1"/>
              <p:nvPr/>
            </p:nvSpPr>
            <p:spPr>
              <a:xfrm>
                <a:off x="7071049" y="3850770"/>
                <a:ext cx="1919084" cy="855299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5E574-E90D-EF39-EFD2-AA63E1EA2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049" y="3850770"/>
                <a:ext cx="1919084" cy="855299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36030B-087E-22D7-9344-7B3BB6D8A11F}"/>
                  </a:ext>
                </a:extLst>
              </p:cNvPr>
              <p:cNvSpPr txBox="1"/>
              <p:nvPr/>
            </p:nvSpPr>
            <p:spPr>
              <a:xfrm>
                <a:off x="3362130" y="2374096"/>
                <a:ext cx="5467739" cy="1154162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:endParaRPr lang="en-GB" sz="25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𝑝𝑟𝑜𝑗𝑒𝑐𝑡𝑖𝑜𝑛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  <a:p>
                <a:pPr/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36030B-087E-22D7-9344-7B3BB6D8A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130" y="2374096"/>
                <a:ext cx="5467739" cy="1154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B2D141-1EB9-48AA-5880-C9FDE8E11EA1}"/>
                  </a:ext>
                </a:extLst>
              </p:cNvPr>
              <p:cNvSpPr txBox="1"/>
              <p:nvPr/>
            </p:nvSpPr>
            <p:spPr>
              <a:xfrm>
                <a:off x="3361778" y="5079651"/>
                <a:ext cx="5872066" cy="111190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𝑝𝑟𝑜𝑗𝑒𝑐𝑡𝑖𝑜𝑛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GB" sz="2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B2D141-1EB9-48AA-5880-C9FDE8E11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778" y="5079651"/>
                <a:ext cx="5872066" cy="1111907"/>
              </a:xfrm>
              <a:prstGeom prst="rect">
                <a:avLst/>
              </a:prstGeom>
              <a:blipFill>
                <a:blip r:embed="rId5"/>
                <a:stretch>
                  <a:fillRect b="-561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2DD684E-AD59-5433-4EDB-09E93CF28FA1}"/>
              </a:ext>
            </a:extLst>
          </p:cNvPr>
          <p:cNvSpPr txBox="1"/>
          <p:nvPr/>
        </p:nvSpPr>
        <p:spPr>
          <a:xfrm>
            <a:off x="9233844" y="2374096"/>
            <a:ext cx="2523843" cy="120032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This is the formula to project our data along the axis of our principal component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799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1CF4E-958D-9C5E-8B8E-6ABA0ED3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EE96-A79F-2F70-9C02-CF00AA51A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the Data Along the Principal Component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0B0A45-58F1-AF36-A7BC-0F9FE44E951D}"/>
                  </a:ext>
                </a:extLst>
              </p:cNvPr>
              <p:cNvSpPr txBox="1"/>
              <p:nvPr/>
            </p:nvSpPr>
            <p:spPr>
              <a:xfrm>
                <a:off x="3361778" y="2439088"/>
                <a:ext cx="5872066" cy="111190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𝑝𝑟𝑜𝑗𝑒𝑐𝑡𝑖𝑜𝑛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GB" sz="2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0B0A45-58F1-AF36-A7BC-0F9FE44E9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778" y="2439088"/>
                <a:ext cx="5872066" cy="1111907"/>
              </a:xfrm>
              <a:prstGeom prst="rect">
                <a:avLst/>
              </a:prstGeom>
              <a:blipFill>
                <a:blip r:embed="rId2"/>
                <a:stretch>
                  <a:fillRect b="-568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3555CE-33C9-5C07-6E1D-02E5090328E7}"/>
                  </a:ext>
                </a:extLst>
              </p:cNvPr>
              <p:cNvSpPr txBox="1"/>
              <p:nvPr/>
            </p:nvSpPr>
            <p:spPr>
              <a:xfrm>
                <a:off x="564678" y="3838151"/>
                <a:ext cx="5872066" cy="85767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𝑓𝑖𝑟𝑠𝑡𝑝𝑜𝑖𝑛𝑡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−2−2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  <m:rad>
                        <m:radPr>
                          <m:degHide m:val="on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3555CE-33C9-5C07-6E1D-02E509032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78" y="3838151"/>
                <a:ext cx="5872066" cy="857671"/>
              </a:xfrm>
              <a:prstGeom prst="rect">
                <a:avLst/>
              </a:prstGeom>
              <a:blipFill>
                <a:blip r:embed="rId3"/>
                <a:stretch>
                  <a:fillRect t="-2941" b="-882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5926DD-AD16-20DE-2229-59D0B6FD812E}"/>
                  </a:ext>
                </a:extLst>
              </p:cNvPr>
              <p:cNvSpPr txBox="1"/>
              <p:nvPr/>
            </p:nvSpPr>
            <p:spPr>
              <a:xfrm>
                <a:off x="838200" y="4846121"/>
                <a:ext cx="2476075" cy="4308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𝑠𝑒𝑐𝑜𝑛𝑑𝑝𝑜𝑖𝑛𝑡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5926DD-AD16-20DE-2229-59D0B6FD8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46121"/>
                <a:ext cx="2476075" cy="430887"/>
              </a:xfrm>
              <a:prstGeom prst="rect">
                <a:avLst/>
              </a:prstGeom>
              <a:blipFill>
                <a:blip r:embed="rId4"/>
                <a:stretch>
                  <a:fillRect l="-3571" r="-2041" b="-2285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F5701-5F21-A373-27E5-712E32EB935B}"/>
                  </a:ext>
                </a:extLst>
              </p:cNvPr>
              <p:cNvSpPr txBox="1"/>
              <p:nvPr/>
            </p:nvSpPr>
            <p:spPr>
              <a:xfrm>
                <a:off x="670425" y="5608239"/>
                <a:ext cx="4833610" cy="77380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𝑡h𝑖𝑟𝑑𝑝𝑜𝑖𝑛𝑡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F5701-5F21-A373-27E5-712E32EB9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25" y="5608239"/>
                <a:ext cx="4833610" cy="773802"/>
              </a:xfrm>
              <a:prstGeom prst="rect">
                <a:avLst/>
              </a:prstGeom>
              <a:blipFill>
                <a:blip r:embed="rId5"/>
                <a:stretch>
                  <a:fillRect b="-967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A2E839-C88F-4E05-EDEA-91FAD6B8829F}"/>
                  </a:ext>
                </a:extLst>
              </p:cNvPr>
              <p:cNvSpPr txBox="1"/>
              <p:nvPr/>
            </p:nvSpPr>
            <p:spPr>
              <a:xfrm>
                <a:off x="7029061" y="4015437"/>
                <a:ext cx="4223657" cy="1581780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𝑝𝑟𝑜𝑗𝑒𝑐𝑡𝑖𝑜𝑛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eqArr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A2E839-C88F-4E05-EDEA-91FAD6B88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061" y="4015437"/>
                <a:ext cx="4223657" cy="15817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6225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8DA49-CCCD-D263-C2AB-6A1B01E3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5F28-4AAE-4CC8-EE22-A122DFF8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the Data Along the Principal Component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9792BA-511E-42B7-2310-9B83B0B9BB69}"/>
                  </a:ext>
                </a:extLst>
              </p:cNvPr>
              <p:cNvSpPr txBox="1"/>
              <p:nvPr/>
            </p:nvSpPr>
            <p:spPr>
              <a:xfrm>
                <a:off x="1444690" y="3090895"/>
                <a:ext cx="3957734" cy="11519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𝑑𝑎𝑡𝑎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2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9792BA-511E-42B7-2310-9B83B0B9B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690" y="3090895"/>
                <a:ext cx="3957734" cy="1151918"/>
              </a:xfrm>
              <a:prstGeom prst="rect">
                <a:avLst/>
              </a:prstGeom>
              <a:blipFill>
                <a:blip r:embed="rId2"/>
                <a:stretch>
                  <a:fillRect t="-1087" b="-9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1004FD1-2779-A09E-00EF-8B55FB7DD0B1}"/>
              </a:ext>
            </a:extLst>
          </p:cNvPr>
          <p:cNvSpPr txBox="1"/>
          <p:nvPr/>
        </p:nvSpPr>
        <p:spPr>
          <a:xfrm>
            <a:off x="3366104" y="5327453"/>
            <a:ext cx="5459791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This is the the 1D representation of our original data</a:t>
            </a:r>
            <a:endParaRPr lang="en-US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E12D0B-5268-D57C-6D2B-95C48284BB69}"/>
                  </a:ext>
                </a:extLst>
              </p:cNvPr>
              <p:cNvSpPr txBox="1"/>
              <p:nvPr/>
            </p:nvSpPr>
            <p:spPr>
              <a:xfrm>
                <a:off x="7029061" y="2875964"/>
                <a:ext cx="4223657" cy="1581780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𝑝𝑟𝑜𝑗𝑒𝑐𝑡𝑖𝑜𝑛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eqArr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E12D0B-5268-D57C-6D2B-95C48284B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061" y="2875964"/>
                <a:ext cx="4223657" cy="15817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6991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862133-BA75-A18C-57C4-64FA3D71F32E}"/>
                  </a:ext>
                </a:extLst>
              </p:cNvPr>
              <p:cNvSpPr txBox="1"/>
              <p:nvPr/>
            </p:nvSpPr>
            <p:spPr>
              <a:xfrm>
                <a:off x="452405" y="1870576"/>
                <a:ext cx="2280171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862133-BA75-A18C-57C4-64FA3D71F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05" y="1870576"/>
                <a:ext cx="2280171" cy="614464"/>
              </a:xfrm>
              <a:prstGeom prst="rect">
                <a:avLst/>
              </a:prstGeom>
              <a:blipFill>
                <a:blip r:embed="rId2"/>
                <a:stretch>
                  <a:fillRect t="-2041" b="-1428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25F7C8-82DC-8ADC-A9B0-42906EA89290}"/>
                  </a:ext>
                </a:extLst>
              </p:cNvPr>
              <p:cNvSpPr txBox="1"/>
              <p:nvPr/>
            </p:nvSpPr>
            <p:spPr>
              <a:xfrm>
                <a:off x="9810188" y="2787285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25F7C8-82DC-8ADC-A9B0-42906EA89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2787285"/>
                <a:ext cx="1532467" cy="430887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4592EF-F721-3A6D-160F-0DA2B25BADE2}"/>
                  </a:ext>
                </a:extLst>
              </p:cNvPr>
              <p:cNvSpPr txBox="1"/>
              <p:nvPr/>
            </p:nvSpPr>
            <p:spPr>
              <a:xfrm>
                <a:off x="9810188" y="1709587"/>
                <a:ext cx="2192867" cy="71692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4592EF-F721-3A6D-160F-0DA2B25BA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1709587"/>
                <a:ext cx="2192867" cy="716928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CF920929-D4CB-E2D5-5C3C-F0F282687EF8}"/>
              </a:ext>
            </a:extLst>
          </p:cNvPr>
          <p:cNvCxnSpPr>
            <a:cxnSpLocks/>
            <a:stCxn id="8" idx="1"/>
            <a:endCxn id="11" idx="3"/>
          </p:cNvCxnSpPr>
          <p:nvPr/>
        </p:nvCxnSpPr>
        <p:spPr>
          <a:xfrm rot="10800000" flipV="1">
            <a:off x="3629609" y="3934966"/>
            <a:ext cx="6180578" cy="30297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038A8E62-6BBA-4D18-F3ED-E087E8FFD7B4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rot="10800000" flipV="1">
            <a:off x="2732576" y="2068050"/>
            <a:ext cx="7077612" cy="109757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B34DB-DBE4-B6D5-336F-4DFB5583F479}"/>
                  </a:ext>
                </a:extLst>
              </p:cNvPr>
              <p:cNvSpPr txBox="1"/>
              <p:nvPr/>
            </p:nvSpPr>
            <p:spPr>
              <a:xfrm>
                <a:off x="4914122" y="770909"/>
                <a:ext cx="2672431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B34DB-DBE4-B6D5-336F-4DFB5583F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122" y="770909"/>
                <a:ext cx="2672431" cy="769441"/>
              </a:xfrm>
              <a:prstGeom prst="rect">
                <a:avLst/>
              </a:prstGeom>
              <a:blipFill>
                <a:blip r:embed="rId5"/>
                <a:stretch>
                  <a:fillRect l="-5581" t="-6250" r="-2326" b="-3281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EB19FE-D0E6-1DD7-6F7A-491F0FB94BCF}"/>
                  </a:ext>
                </a:extLst>
              </p:cNvPr>
              <p:cNvSpPr txBox="1"/>
              <p:nvPr/>
            </p:nvSpPr>
            <p:spPr>
              <a:xfrm>
                <a:off x="9810187" y="3582081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EB19FE-D0E6-1DD7-6F7A-491F0FB94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7" y="3582081"/>
                <a:ext cx="1606128" cy="705771"/>
              </a:xfrm>
              <a:prstGeom prst="rect">
                <a:avLst/>
              </a:prstGeom>
              <a:blipFill>
                <a:blip r:embed="rId6"/>
                <a:stretch>
                  <a:fillRect b="-678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1C8507-6549-3164-A78A-2493EA272A43}"/>
                  </a:ext>
                </a:extLst>
              </p:cNvPr>
              <p:cNvSpPr txBox="1"/>
              <p:nvPr/>
            </p:nvSpPr>
            <p:spPr>
              <a:xfrm>
                <a:off x="84840" y="4498706"/>
                <a:ext cx="2686639" cy="71846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4−4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4−4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1C8507-6549-3164-A78A-2493EA272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0" y="4498706"/>
                <a:ext cx="2686639" cy="718466"/>
              </a:xfrm>
              <a:prstGeom prst="rect">
                <a:avLst/>
              </a:prstGeom>
              <a:blipFill>
                <a:blip r:embed="rId7"/>
                <a:stretch>
                  <a:fillRect t="-1754" b="-1754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AD644B-E8ED-6C2A-77FE-D0327227D865}"/>
                  </a:ext>
                </a:extLst>
              </p:cNvPr>
              <p:cNvSpPr txBox="1"/>
              <p:nvPr/>
            </p:nvSpPr>
            <p:spPr>
              <a:xfrm>
                <a:off x="515373" y="2813190"/>
                <a:ext cx="2154234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AD644B-E8ED-6C2A-77FE-D0327227D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73" y="2813190"/>
                <a:ext cx="2154234" cy="614464"/>
              </a:xfrm>
              <a:prstGeom prst="rect">
                <a:avLst/>
              </a:prstGeom>
              <a:blipFill>
                <a:blip r:embed="rId8"/>
                <a:stretch>
                  <a:fillRect t="-2041" b="-1428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CF5A1-ED68-DCBB-12E3-5438E5E7C54A}"/>
                  </a:ext>
                </a:extLst>
              </p:cNvPr>
              <p:cNvSpPr txBox="1"/>
              <p:nvPr/>
            </p:nvSpPr>
            <p:spPr>
              <a:xfrm>
                <a:off x="452405" y="3639854"/>
                <a:ext cx="3177204" cy="65081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CF5A1-ED68-DCBB-12E3-5438E5E7C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05" y="3639854"/>
                <a:ext cx="3177204" cy="650819"/>
              </a:xfrm>
              <a:prstGeom prst="rect">
                <a:avLst/>
              </a:prstGeom>
              <a:blipFill>
                <a:blip r:embed="rId9"/>
                <a:stretch>
                  <a:fillRect b="-1923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EED8F5CB-9FF4-31C3-78D5-399B24F359BA}"/>
              </a:ext>
            </a:extLst>
          </p:cNvPr>
          <p:cNvCxnSpPr>
            <a:cxnSpLocks/>
            <a:stCxn id="3" idx="1"/>
            <a:endCxn id="10" idx="3"/>
          </p:cNvCxnSpPr>
          <p:nvPr/>
        </p:nvCxnSpPr>
        <p:spPr>
          <a:xfrm rot="10800000" flipV="1">
            <a:off x="2669608" y="3002728"/>
            <a:ext cx="7140581" cy="117693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8B5563-3988-6C1C-528A-549488317AB2}"/>
                  </a:ext>
                </a:extLst>
              </p:cNvPr>
              <p:cNvSpPr txBox="1"/>
              <p:nvPr/>
            </p:nvSpPr>
            <p:spPr>
              <a:xfrm>
                <a:off x="616973" y="5625511"/>
                <a:ext cx="1622374" cy="400110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8B5563-3988-6C1C-528A-549488317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73" y="5625511"/>
                <a:ext cx="1622374" cy="400110"/>
              </a:xfrm>
              <a:prstGeom prst="rect">
                <a:avLst/>
              </a:prstGeom>
              <a:blipFill>
                <a:blip r:embed="rId10"/>
                <a:stretch>
                  <a:fillRect b="-285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57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68C8FB-7233-BABC-1F78-0392B452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8E3303-29E8-0E0D-F47F-5252335687F3}"/>
                  </a:ext>
                </a:extLst>
              </p:cNvPr>
              <p:cNvSpPr txBox="1"/>
              <p:nvPr/>
            </p:nvSpPr>
            <p:spPr>
              <a:xfrm>
                <a:off x="452405" y="1870576"/>
                <a:ext cx="2280171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8E3303-29E8-0E0D-F47F-525233568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05" y="1870576"/>
                <a:ext cx="2280171" cy="614464"/>
              </a:xfrm>
              <a:prstGeom prst="rect">
                <a:avLst/>
              </a:prstGeom>
              <a:blipFill>
                <a:blip r:embed="rId2"/>
                <a:stretch>
                  <a:fillRect t="-2041" b="-1428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3CDE6C-95C8-C9B4-0F94-0CF6729C0299}"/>
                  </a:ext>
                </a:extLst>
              </p:cNvPr>
              <p:cNvSpPr txBox="1"/>
              <p:nvPr/>
            </p:nvSpPr>
            <p:spPr>
              <a:xfrm>
                <a:off x="9810188" y="2787285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3CDE6C-95C8-C9B4-0F94-0CF6729C0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2787285"/>
                <a:ext cx="1532467" cy="430887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FE4AF0-5939-DCED-86CE-327A08CCC340}"/>
                  </a:ext>
                </a:extLst>
              </p:cNvPr>
              <p:cNvSpPr txBox="1"/>
              <p:nvPr/>
            </p:nvSpPr>
            <p:spPr>
              <a:xfrm>
                <a:off x="9810188" y="1709587"/>
                <a:ext cx="2192867" cy="71692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FE4AF0-5939-DCED-86CE-327A08CCC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1709587"/>
                <a:ext cx="2192867" cy="716928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080D1F2D-9F70-E184-ACF8-1B8AE0E3028A}"/>
              </a:ext>
            </a:extLst>
          </p:cNvPr>
          <p:cNvCxnSpPr>
            <a:cxnSpLocks/>
            <a:stCxn id="8" idx="1"/>
            <a:endCxn id="11" idx="3"/>
          </p:cNvCxnSpPr>
          <p:nvPr/>
        </p:nvCxnSpPr>
        <p:spPr>
          <a:xfrm rot="10800000" flipV="1">
            <a:off x="3629609" y="3934967"/>
            <a:ext cx="6180578" cy="28886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25D8EE9C-08B0-41D8-8AE6-0CE1C86CAAF0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rot="10800000" flipV="1">
            <a:off x="2732576" y="2068050"/>
            <a:ext cx="7077612" cy="109757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7504B-0CEB-A930-040D-1C3A96913ABD}"/>
                  </a:ext>
                </a:extLst>
              </p:cNvPr>
              <p:cNvSpPr txBox="1"/>
              <p:nvPr/>
            </p:nvSpPr>
            <p:spPr>
              <a:xfrm>
                <a:off x="4914122" y="770909"/>
                <a:ext cx="2672431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7504B-0CEB-A930-040D-1C3A96913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122" y="770909"/>
                <a:ext cx="2672431" cy="769441"/>
              </a:xfrm>
              <a:prstGeom prst="rect">
                <a:avLst/>
              </a:prstGeom>
              <a:blipFill>
                <a:blip r:embed="rId5"/>
                <a:stretch>
                  <a:fillRect l="-5581" t="-6250" r="-2326" b="-3281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40D009-F59E-70DB-4E00-C402065C83FE}"/>
                  </a:ext>
                </a:extLst>
              </p:cNvPr>
              <p:cNvSpPr txBox="1"/>
              <p:nvPr/>
            </p:nvSpPr>
            <p:spPr>
              <a:xfrm>
                <a:off x="9810187" y="3582081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40D009-F59E-70DB-4E00-C402065C8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7" y="3582081"/>
                <a:ext cx="1606128" cy="705771"/>
              </a:xfrm>
              <a:prstGeom prst="rect">
                <a:avLst/>
              </a:prstGeom>
              <a:blipFill>
                <a:blip r:embed="rId6"/>
                <a:stretch>
                  <a:fillRect b="-6780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91A88C-B548-2772-EDA3-38135C8F9358}"/>
                  </a:ext>
                </a:extLst>
              </p:cNvPr>
              <p:cNvSpPr txBox="1"/>
              <p:nvPr/>
            </p:nvSpPr>
            <p:spPr>
              <a:xfrm>
                <a:off x="84840" y="4498706"/>
                <a:ext cx="2686639" cy="71846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4+4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4+4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91A88C-B548-2772-EDA3-38135C8F9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0" y="4498706"/>
                <a:ext cx="2686639" cy="718466"/>
              </a:xfrm>
              <a:prstGeom prst="rect">
                <a:avLst/>
              </a:prstGeom>
              <a:blipFill>
                <a:blip r:embed="rId7"/>
                <a:stretch>
                  <a:fillRect b="-157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FE81F5-2E5A-4FBD-5C87-F2814017D533}"/>
                  </a:ext>
                </a:extLst>
              </p:cNvPr>
              <p:cNvSpPr txBox="1"/>
              <p:nvPr/>
            </p:nvSpPr>
            <p:spPr>
              <a:xfrm>
                <a:off x="515373" y="2813190"/>
                <a:ext cx="2154234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FE81F5-2E5A-4FBD-5C87-F2814017D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73" y="2813190"/>
                <a:ext cx="2154234" cy="614464"/>
              </a:xfrm>
              <a:prstGeom prst="rect">
                <a:avLst/>
              </a:prstGeom>
              <a:blipFill>
                <a:blip r:embed="rId8"/>
                <a:stretch>
                  <a:fillRect t="-2041" b="-1428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2EF849-2527-6FEC-733E-3DF27C5328DF}"/>
                  </a:ext>
                </a:extLst>
              </p:cNvPr>
              <p:cNvSpPr txBox="1"/>
              <p:nvPr/>
            </p:nvSpPr>
            <p:spPr>
              <a:xfrm>
                <a:off x="452405" y="3639854"/>
                <a:ext cx="3177204" cy="647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2EF849-2527-6FEC-733E-3DF27C532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05" y="3639854"/>
                <a:ext cx="3177204" cy="647998"/>
              </a:xfrm>
              <a:prstGeom prst="rect">
                <a:avLst/>
              </a:prstGeom>
              <a:blipFill>
                <a:blip r:embed="rId9"/>
                <a:stretch>
                  <a:fillRect b="-1923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5034EF26-F3E4-6DEF-FE46-D7FDE80D865D}"/>
              </a:ext>
            </a:extLst>
          </p:cNvPr>
          <p:cNvCxnSpPr>
            <a:cxnSpLocks/>
            <a:stCxn id="3" idx="1"/>
            <a:endCxn id="10" idx="3"/>
          </p:cNvCxnSpPr>
          <p:nvPr/>
        </p:nvCxnSpPr>
        <p:spPr>
          <a:xfrm rot="10800000" flipV="1">
            <a:off x="2669608" y="3002728"/>
            <a:ext cx="7140581" cy="117693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9014F-880A-EA3D-95F8-E6894CF99C04}"/>
                  </a:ext>
                </a:extLst>
              </p:cNvPr>
              <p:cNvSpPr txBox="1"/>
              <p:nvPr/>
            </p:nvSpPr>
            <p:spPr>
              <a:xfrm>
                <a:off x="616973" y="5625511"/>
                <a:ext cx="1622374" cy="65081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9014F-880A-EA3D-95F8-E6894CF99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73" y="5625511"/>
                <a:ext cx="1622374" cy="650819"/>
              </a:xfrm>
              <a:prstGeom prst="rect">
                <a:avLst/>
              </a:prstGeom>
              <a:blipFill>
                <a:blip r:embed="rId10"/>
                <a:stretch>
                  <a:fillRect b="-16364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97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4788</TotalTime>
  <Words>1099</Words>
  <Application>Microsoft Macintosh PowerPoint</Application>
  <PresentationFormat>Widescreen</PresentationFormat>
  <Paragraphs>254</Paragraphs>
  <Slides>31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Wingdings</vt:lpstr>
      <vt:lpstr>Office Theme</vt:lpstr>
      <vt:lpstr>Covariance Matrix</vt:lpstr>
      <vt:lpstr>PowerPoint Presentation</vt:lpstr>
      <vt:lpstr>What are matrices?</vt:lpstr>
      <vt:lpstr>What are matrices?</vt:lpstr>
      <vt:lpstr>PowerPoint Presentation</vt:lpstr>
      <vt:lpstr>Compute the mean of each feature</vt:lpstr>
      <vt:lpstr>Center the Data</vt:lpstr>
      <vt:lpstr>Compute the Covariance Matrix</vt:lpstr>
      <vt:lpstr>Compute the Covariance Matrix</vt:lpstr>
      <vt:lpstr>Compute the Covariance Matrix</vt:lpstr>
      <vt:lpstr>Compute the Covariance Matrix</vt:lpstr>
      <vt:lpstr>PowerPoint Presentation</vt:lpstr>
      <vt:lpstr>PowerPoint Presentation</vt:lpstr>
      <vt:lpstr>PowerPoint Presentation</vt:lpstr>
      <vt:lpstr>Compute the determinant</vt:lpstr>
      <vt:lpstr>Solve for the eigenvalues</vt:lpstr>
      <vt:lpstr>Find the eigenvectors </vt:lpstr>
      <vt:lpstr>Find the eigenvectors </vt:lpstr>
      <vt:lpstr>PowerPoint Presentation</vt:lpstr>
      <vt:lpstr>PowerPoint Presentation</vt:lpstr>
      <vt:lpstr>Find the eigenvectors </vt:lpstr>
      <vt:lpstr>Find the eigenvectors </vt:lpstr>
      <vt:lpstr>Check if correct</vt:lpstr>
      <vt:lpstr>Check if correct</vt:lpstr>
      <vt:lpstr>Project the Data Along the Principal Component</vt:lpstr>
      <vt:lpstr>Project the Data Along the Principal Component</vt:lpstr>
      <vt:lpstr>Project the Data Along the Principal Component</vt:lpstr>
      <vt:lpstr>Project the Data Along the Principal Component</vt:lpstr>
      <vt:lpstr>Project the Data Along the Principal Component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853</cp:revision>
  <dcterms:created xsi:type="dcterms:W3CDTF">2024-08-08T01:29:50Z</dcterms:created>
  <dcterms:modified xsi:type="dcterms:W3CDTF">2026-01-08T01:47:40Z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